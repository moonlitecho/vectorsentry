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presenting VectorSentry's Review II — since Review I, we've moved from a proposal to a built, tested, and evaluated system. Today I'll briefly respond to the feedback from Review I, then walk through the literature, the built architecture, real experimental results, how we tested it, and a live demonstration of the system actually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else, I want to directly answer the three questions the panel raised at Review I, because we took them seriously and they shaped what we prioritized building. On the old papers: these are foundational theory, and we didn't just cite the 1979 knapsack paper — we validated it. Our scheduler, built directly on that formulation, measures a 0.00% mean optimality gap against the exact solver, with a max of 0.14%, on exactly the instance where a naive approach was 88% wrong. On overhead: we now have real numbers. Detection scans the full five-thousand-document benchmark in under 0.6 seconds. Migration only touches the documents actually selected for a fix, not the whole corpus. On complexity: full breakdown is next, with real measured wall-clock times alongside the theoretical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for context, since you saw this in depth at Review I: mixed-generation embedding contamination silently degrades retrieval quality, because cosine similarity isn't comparable across two different embedding-model generations. It's real — documented in OpenAI and Cohere's own update history. It's silent — no exceptions, no alerts. And it's growing — over twenty commercial vector-database systems have launched in the last five years, all exposed to this. The key difference from Review I: we've now built the benchmark and measured this directly, which is what the rest of today's presentation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research-gap logic from Review I, kept because it's still the spine of the project: detection literature finds anomalies but doesn't say what to do next; patching literature fixes cheaply but uniformly, with no per-document decision under a budget. That gap is exactly a Multiple-Choice Knapsack Problem — which is what we've now actually built and measured, not just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sources directly target detecting or repairing embedding contamination. KNN-OOD, Isolation Forest, and LOF detect anomalies but never say what to do once you've found one — we've now built and measured all three as candidate detectors, results ahead. Drift-Adapter and the Backward-Compatible-Embeddings paper both show cheap realignment or avoidance is possible, but each applies one uniform strategy — our Patch action adapts Drift-Adapter's mechanism, gated by our own budget decision. MUSE gives us the underlying alignment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are our foundation layer. HNSW explains exactly why contamination is dangerous — it assumes a consistent index geometry that contamination silently breaks. The two rows the Review I panel specifically asked about are Sinha and Zoltners, 1979, and Breslau and colleagues, 1999. We're not citing them as historical curiosities — our scheduler is a direct implementation of the 1979 formulation, and we've now measured it: 0.00% mean optimality gap, max 0.14%, against the exact solver. The math holds up, today, on our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details, as required. We use BEIR SciFact — a real, peer-reviewed IR benchmark with genuine relevance judgments, not something we invented. Five thousand documents keeps the exact-ILP baseline solvable for direct comparison while remaining meaningful. Contamination is introduced by re-embedding a controlled subset with a second real embedding model — all-MiniLM-L12-v2 standing in for a 'new' provider generation against all-MiniLM-L6-v2 as the 'old' one. We swept five contamination ratios against six budget levels — thirty scenarios per method, all run to completion, with a fixed seed for full reproducibility. Query traffic is modeled as Zipf-distributed, directly grounded in the Breslau et al. 1999 paper from our literature review — not an arbitrary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as built and currently running — not a proposal anymore. A live vector database feeds Detect, which scores documents against a baseline-calibrated threshold. Prioritize is our knapsack scheduler, deciding full re-embed, patch, or defer for every flagged document. Migrate builds the fix as a shadow copy — the live index is never touched directly. Verify is the safety gate: golden-query canary check, automatic rollback on failure, retry or defer as appropriate. And the whole loop runs autonomously and continuously in our 'Live Sentry' module, which I'll demonstrate live, running, later in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four-module design from Review I, now with a status update: every module is implemented, unit-tested, and integrated — this isn't a plan anymore. Detection measures F1 between 0.51 and 0.57 across contamination ratios. Prioritization's frontier-greedy approximation measures a 0.00% mean optimality gap, max 0.14%, against the exact solver. Migration and Verification together correctly aborted 10 of 30 test scenarios where a plan would have regressed production quality. And head-to-head, the full system beats the best Phase-1 baseline in 18 of 30 scenarios. Each of those numbers has its own dedicated results slide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our direct, complete answer to the complexity and overhead questions from Review I. Detection is near-linear with an ANN index — measured at under 0.6 seconds for the full five-thousand-document benchmark, across all three detectors we tested. Prioritization's production path, frontier-greedy, is also near-linear — dominated by a sort. The exact ILP solver IS expensive — NP-hard in general — but we deliberately never run it live; it's an offline validation tool we used on small subsamples to prove the greedy approximation is trustworthy. Migration and Verification both scale with k, the number of documents actually being touched, not N, the corpus size — so the overhead is proportional to how contaminated the corpus actually is, not a fixed tax on every query. Bottom line: the only expensive step is intentionally kept off the live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measured results, all three candidate detectors evaluated across all five contamination ratios. KNN-OOD is our chosen production detector — F1 between 0.51 and 0.57, consistently the strongest performer, and stable across the whole tested range. LOF and Isolation Forest both degrade sharply at low contamination ratios — F1 as low as 0.11 — which is exactly the harder, more realistic early-incident case, and part of why we selected KNN-OOD. And directly answering the overhead question from Review I: every detector scans the full five-thousand-document benchmark in well under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from a deliberately constructed stress test. Our primary configuration makes patch cost dominated by full re-embed, so naive and frontier greedy trivially agree — not an interesting test. We re-tuned the patch-cost parameter to force a genuinely three-way trade-off, then measured both algorithms against the true optimum from an exact ILP solver, on an identical instance. The naive approach — sorting by flat cost-efficiency — is 88 percent wrong on average. Our production frontier-greedy algorithm is within 0.00% on average, 0.14% at worst. This is our direct answer to the Review I question about the 1979 knapsack paper — we didn't just cite forty-five-year-old theory, we implemented it and measured that it still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migration quality versus budget across all five contamination ratios, against the oracle-recovery ceiling and the no-remediation floor. The safety gate is not decorative — it fired for real. In ten of thirty tested scenarios, verification correctly aborted a plan before it could ship, for two distinct, diagnosed reasons: sometimes fixing one document shifted the ranking for an unrelated query; sometimes the gate conservatively protected a small canary set from even a minor regression, at the cost of a larger aggregate improvement going undeployed in that scenario. We're disclosing both honestly — this is exactly the evidence the Review II rubric's Testing and Risk Assessment criteria are looking for: not a system that never fails, but one whose failure modes are found, understood, and safely contained.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 comparison: our scheduler versus both Phase-1 baselines, same benchmark, same budgets. It wins in eighteen of thirty tested scenarios. At the highest contamination ratio we tested — 50% — our scheduler at just 10% of the budget already beats Phase-1's best baseline even when that baseline gets the FULL budget. The honest part: it loses in the other ten, and every single one of those ten is exactly where our own safety gate aborted the plan to protect production quality. We're presenting that as a deliberate, disclosed trade-off — a system willing to sometimes recover less quality in exchange for a hard guarantee against silent regressions is the correct choice for production infrastructure, not a weakness to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genuine destructive testing, not a checkbox. Running the full system at five-thousand-document scale surfaced three real reliability bugs, none of which showed up in smaller smoke tests. First, a shrinking-budget-pool bug that stalled incidents just short of resolution — fixed by sizing budget off a stable reference count. Second, already-fixed documents could be repeatedly rescheduled, starving genuinely contaminated ones — fixed with a monotonic remediated flag. Third, an infinite retry loop when escalating budget couldn't actually fix the real problem — fixed with a hard cap that defers to manual review instead of looping forever. All three are now permanent regression tests, so they can never silently come back — this is exactly the kind of proactive, layered defense the rubric's Risk Assessment and Testing criteria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actual running dashboard now.] This is the real system — Database A is an untouched control, Database B is where we simulate an incident. The only manual control on the whole page is this one button. [Click 'Simulate embedding provider update'.] Everything from here is autonomous — I'm not clicking anything else. Detection fires on its own, the scheduler produces a plan on its own, migration and verification run on their own, and the alert clears itself once Database B is back to its baseline. [Narrate the event log as it updates.] Every line here is the real background thread talking — detection scores, the scheduler's plan, verification's pass or fail, cutover confirmation. This is exactly the same detect-prioritize-migrate-verify loop from our architecture slide, actually running, live, in front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56"/>
          </a:solidFill>
          <a:ln/>
        </p:spPr>
      </p:sp>
      <p:sp>
        <p:nvSpPr>
          <p:cNvPr id="3" name="Shape 1"/>
          <p:cNvSpPr/>
          <p:nvPr/>
        </p:nvSpPr>
        <p:spPr>
          <a:xfrm>
            <a:off x="8778240" y="-2011680"/>
            <a:ext cx="5943600" cy="5943600"/>
          </a:xfrm>
          <a:prstGeom prst="ellipse">
            <a:avLst/>
          </a:prstGeom>
          <a:solidFill>
            <a:srgbClr val="111B38"/>
          </a:solidFill>
          <a:ln/>
        </p:spPr>
      </p:sp>
      <p:sp>
        <p:nvSpPr>
          <p:cNvPr id="4" name="Shape 2"/>
          <p:cNvSpPr/>
          <p:nvPr/>
        </p:nvSpPr>
        <p:spPr>
          <a:xfrm>
            <a:off x="9692640" y="4206240"/>
            <a:ext cx="3840480" cy="3840480"/>
          </a:xfrm>
          <a:prstGeom prst="ellipse">
            <a:avLst/>
          </a:prstGeom>
          <a:solidFill>
            <a:srgbClr val="0E7C7B"/>
          </a:solidFill>
          <a:ln/>
        </p:spPr>
      </p:sp>
      <p:sp>
        <p:nvSpPr>
          <p:cNvPr id="5" name="Text 3"/>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8CA0C8"/>
                </a:solidFill>
                <a:latin typeface="Calibri" pitchFamily="34" charset="0"/>
                <a:ea typeface="Calibri" pitchFamily="34" charset="-122"/>
                <a:cs typeface="Calibri" pitchFamily="34" charset="-120"/>
              </a:rPr>
              <a:t>KUMARAGURU COLLEGE OF TECHNOLOGY  •  KSI</a:t>
            </a:r>
            <a:endParaRPr lang="en-US" sz="1200" dirty="0"/>
          </a:p>
        </p:txBody>
      </p:sp>
      <p:sp>
        <p:nvSpPr>
          <p:cNvPr id="6" name="Text 4"/>
          <p:cNvSpPr txBox="1"/>
          <p:nvPr/>
        </p:nvSpPr>
        <p:spPr>
          <a:xfrm>
            <a:off x="640080" y="2057400"/>
            <a:ext cx="96012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VectorSentry</a:t>
            </a:r>
            <a:endParaRPr lang="en-US" sz="5400" dirty="0"/>
          </a:p>
        </p:txBody>
      </p:sp>
      <p:sp>
        <p:nvSpPr>
          <p:cNvPr id="7" name="Text 5"/>
          <p:cNvSpPr txBox="1"/>
          <p:nvPr/>
        </p:nvSpPr>
        <p:spPr>
          <a:xfrm>
            <a:off x="658368" y="2926080"/>
            <a:ext cx="9418320" cy="457200"/>
          </a:xfrm>
          <a:prstGeom prst="rect">
            <a:avLst/>
          </a:prstGeom>
          <a:noFill/>
          <a:ln/>
        </p:spPr>
        <p:txBody>
          <a:bodyPr wrap="square" lIns="0" tIns="0" rIns="0" bIns="0" rtlCol="0" anchor="ctr"/>
          <a:lstStyle/>
          <a:p>
            <a:pPr indent="0" marL="0">
              <a:lnSpc>
                <a:spcPct val="115000"/>
              </a:lnSpc>
              <a:buNone/>
            </a:pPr>
            <a:r>
              <a:rPr lang="en-US" sz="1900" dirty="0">
                <a:solidFill>
                  <a:srgbClr val="CFE0FA"/>
                </a:solidFill>
                <a:latin typeface="Calibri" pitchFamily="34" charset="0"/>
                <a:ea typeface="Calibri" pitchFamily="34" charset="-122"/>
                <a:cs typeface="Calibri" pitchFamily="34" charset="-120"/>
              </a:rPr>
              <a:t>Budget-Aware Prioritization for Mixed-Generation Embedding Contamination</a:t>
            </a:r>
            <a:endParaRPr lang="en-US" sz="1900" dirty="0"/>
          </a:p>
        </p:txBody>
      </p:sp>
      <p:sp>
        <p:nvSpPr>
          <p:cNvPr id="8" name="Text 6"/>
          <p:cNvSpPr txBox="1"/>
          <p:nvPr/>
        </p:nvSpPr>
        <p:spPr>
          <a:xfrm>
            <a:off x="658368" y="3364992"/>
            <a:ext cx="9418320" cy="411480"/>
          </a:xfrm>
          <a:prstGeom prst="rect">
            <a:avLst/>
          </a:prstGeom>
          <a:noFill/>
          <a:ln/>
        </p:spPr>
        <p:txBody>
          <a:bodyPr wrap="square" lIns="0" tIns="0" rIns="0" bIns="0" rtlCol="0" anchor="ctr"/>
          <a:lstStyle/>
          <a:p>
            <a:pPr indent="0" marL="0">
              <a:buNone/>
            </a:pPr>
            <a:r>
              <a:rPr lang="en-US" sz="1700" b="1" i="1" dirty="0">
                <a:solidFill>
                  <a:srgbClr val="E4F3F2"/>
                </a:solidFill>
                <a:latin typeface="Calibri" pitchFamily="34" charset="0"/>
                <a:ea typeface="Calibri" pitchFamily="34" charset="-122"/>
                <a:cs typeface="Calibri" pitchFamily="34" charset="-120"/>
              </a:rPr>
              <a:t>Review II — Built, Tested, and Evaluated</a:t>
            </a:r>
            <a:endParaRPr lang="en-US" sz="1700" dirty="0"/>
          </a:p>
        </p:txBody>
      </p:sp>
      <p:sp>
        <p:nvSpPr>
          <p:cNvPr id="9" name="Shape 7"/>
          <p:cNvSpPr/>
          <p:nvPr/>
        </p:nvSpPr>
        <p:spPr>
          <a:xfrm>
            <a:off x="640080" y="4206240"/>
            <a:ext cx="7863840" cy="1417320"/>
          </a:xfrm>
          <a:prstGeom prst="roundRect">
            <a:avLst>
              <a:gd name="adj" fmla="val 5161"/>
            </a:avLst>
          </a:prstGeom>
          <a:solidFill>
            <a:srgbClr val="16224A"/>
          </a:solidFill>
          <a:ln/>
        </p:spPr>
      </p:sp>
      <p:sp>
        <p:nvSpPr>
          <p:cNvPr id="10" name="Text 8"/>
          <p:cNvSpPr txBox="1"/>
          <p:nvPr/>
        </p:nvSpPr>
        <p:spPr>
          <a:xfrm>
            <a:off x="868680" y="4389120"/>
            <a:ext cx="7406640" cy="1097280"/>
          </a:xfrm>
          <a:prstGeom prst="rect">
            <a:avLst/>
          </a:prstGeom>
          <a:noFill/>
          <a:ln/>
        </p:spPr>
        <p:txBody>
          <a:bodyPr wrap="square" lIns="0" tIns="0" rIns="0" bIns="0" rtlCol="0" anchor="ctr"/>
          <a:lstStyle/>
          <a:p>
            <a:pPr indent="0" marL="0">
              <a:lnSpc>
                <a:spcPct val="135000"/>
              </a:lnSpc>
              <a:buNone/>
            </a:pPr>
            <a:r>
              <a:rPr lang="en-US" sz="1350" b="1" dirty="0">
                <a:solidFill>
                  <a:srgbClr val="CFE0FA"/>
                </a:solidFill>
                <a:latin typeface="Calibri" pitchFamily="34" charset="0"/>
                <a:ea typeface="Calibri" pitchFamily="34" charset="-122"/>
                <a:cs typeface="Calibri" pitchFamily="34" charset="-120"/>
              </a:rPr>
              <a:t>Team Member(s):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[Full Name — Register No. — Department]  (add one line per member)
</a:t>
            </a:r>
            <a:pPr indent="0" marL="0">
              <a:lnSpc>
                <a:spcPct val="135000"/>
              </a:lnSpc>
              <a:buNone/>
            </a:pPr>
            <a:r>
              <a:rPr lang="en-US" sz="1350" b="1" dirty="0">
                <a:solidFill>
                  <a:srgbClr val="CFE0FA"/>
                </a:solidFill>
                <a:latin typeface="Calibri" pitchFamily="34" charset="0"/>
                <a:ea typeface="Calibri" pitchFamily="34" charset="-122"/>
                <a:cs typeface="Calibri" pitchFamily="34" charset="-120"/>
              </a:rPr>
              <a:t>Guide: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[Guide Name, Designation]
</a:t>
            </a:r>
            <a:pPr indent="0" marL="0">
              <a:lnSpc>
                <a:spcPct val="135000"/>
              </a:lnSpc>
              <a:buNone/>
            </a:pPr>
            <a:r>
              <a:rPr lang="en-US" sz="1350" b="1" dirty="0">
                <a:solidFill>
                  <a:srgbClr val="CFE0FA"/>
                </a:solidFill>
                <a:latin typeface="Calibri" pitchFamily="34" charset="0"/>
                <a:ea typeface="Calibri" pitchFamily="34" charset="-122"/>
                <a:cs typeface="Calibri" pitchFamily="34" charset="-120"/>
              </a:rPr>
              <a:t>Review Date: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[Confirm exact review date]   |   UG Capstone Projects (2026-27) — Phase I, Review II</a:t>
            </a:r>
            <a:endParaRPr lang="en-US" sz="1350" dirty="0"/>
          </a:p>
        </p:txBody>
      </p:sp>
      <p:sp>
        <p:nvSpPr>
          <p:cNvPr id="11" name="Text 9"/>
          <p:cNvSpPr txBox="1"/>
          <p:nvPr/>
        </p:nvSpPr>
        <p:spPr>
          <a:xfrm>
            <a:off x="640080" y="5760720"/>
            <a:ext cx="7955280" cy="365760"/>
          </a:xfrm>
          <a:prstGeom prst="rect">
            <a:avLst/>
          </a:prstGeom>
          <a:noFill/>
          <a:ln/>
        </p:spPr>
        <p:txBody>
          <a:bodyPr wrap="square" lIns="0" tIns="0" rIns="0" bIns="0" rtlCol="0" anchor="ctr"/>
          <a:lstStyle/>
          <a:p>
            <a:pPr indent="0" marL="0">
              <a:buNone/>
            </a:pPr>
            <a:r>
              <a:rPr lang="en-US" sz="1050" i="1" dirty="0">
                <a:solidFill>
                  <a:srgbClr val="C97A22"/>
                </a:solidFill>
                <a:latin typeface="Calibri" pitchFamily="34" charset="0"/>
                <a:ea typeface="Calibri" pitchFamily="34" charset="-122"/>
                <a:cs typeface="Calibri" pitchFamily="34" charset="-120"/>
              </a:rPr>
              <a:t>Fields in brackets, and the guide-approval proof required by the review circular, must be completed before presenting.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RESPONSE TO REVIEW I FEEDBACK</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Addressing the Panel's Questions</a:t>
            </a:r>
            <a:endParaRPr lang="en-US" sz="3200" dirty="0"/>
          </a:p>
        </p:txBody>
      </p:sp>
      <p:sp>
        <p:nvSpPr>
          <p:cNvPr id="4" name="Text 2"/>
          <p:cNvSpPr txBox="1"/>
          <p:nvPr/>
        </p:nvSpPr>
        <p:spPr>
          <a:xfrm>
            <a:off x="548640" y="1298448"/>
            <a:ext cx="10972800" cy="274320"/>
          </a:xfrm>
          <a:prstGeom prst="rect">
            <a:avLst/>
          </a:prstGeom>
          <a:noFill/>
          <a:ln/>
        </p:spPr>
        <p:txBody>
          <a:bodyPr wrap="square" lIns="0" tIns="0" rIns="0" bIns="0" rtlCol="0" anchor="ctr"/>
          <a:lstStyle/>
          <a:p>
            <a:pPr indent="0" marL="0">
              <a:buNone/>
            </a:pPr>
            <a:r>
              <a:rPr lang="en-US" sz="1100" i="1" dirty="0">
                <a:solidFill>
                  <a:srgbClr val="5A6472"/>
                </a:solidFill>
                <a:latin typeface="Calibri" pitchFamily="34" charset="0"/>
                <a:ea typeface="Calibri" pitchFamily="34" charset="-122"/>
                <a:cs typeface="Calibri" pitchFamily="34" charset="-120"/>
              </a:rPr>
              <a:t>Three questions from Review I, answered directly — with evidence, not just argument.</a:t>
            </a:r>
            <a:endParaRPr lang="en-US" sz="1100" dirty="0"/>
          </a:p>
        </p:txBody>
      </p:sp>
      <p:sp>
        <p:nvSpPr>
          <p:cNvPr id="5" name="Shape 3"/>
          <p:cNvSpPr/>
          <p:nvPr/>
        </p:nvSpPr>
        <p:spPr>
          <a:xfrm>
            <a:off x="548640" y="1691640"/>
            <a:ext cx="11109960" cy="1417320"/>
          </a:xfrm>
          <a:prstGeom prst="roundRect">
            <a:avLst>
              <a:gd name="adj" fmla="val 5161"/>
            </a:avLst>
          </a:prstGeom>
          <a:solidFill>
            <a:srgbClr val="1B2A56"/>
          </a:solidFill>
          <a:ln/>
        </p:spPr>
      </p:sp>
      <p:sp>
        <p:nvSpPr>
          <p:cNvPr id="6" name="Shape 4"/>
          <p:cNvSpPr/>
          <p:nvPr/>
        </p:nvSpPr>
        <p:spPr>
          <a:xfrm>
            <a:off x="777240" y="1874520"/>
            <a:ext cx="502920" cy="502920"/>
          </a:xfrm>
          <a:prstGeom prst="ellipse">
            <a:avLst/>
          </a:prstGeom>
          <a:solidFill>
            <a:srgbClr val="0E7C7B"/>
          </a:solidFill>
          <a:ln/>
        </p:spPr>
      </p:sp>
      <p:sp>
        <p:nvSpPr>
          <p:cNvPr id="7" name="Text 5"/>
          <p:cNvSpPr txBox="1"/>
          <p:nvPr/>
        </p:nvSpPr>
        <p:spPr>
          <a:xfrm>
            <a:off x="777240" y="18745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txBox="1"/>
          <p:nvPr/>
        </p:nvSpPr>
        <p:spPr>
          <a:xfrm>
            <a:off x="1508760" y="1828800"/>
            <a:ext cx="9966960" cy="365760"/>
          </a:xfrm>
          <a:prstGeom prst="rect">
            <a:avLst/>
          </a:prstGeom>
          <a:noFill/>
          <a:ln/>
        </p:spPr>
        <p:txBody>
          <a:bodyPr wrap="square" lIns="0" tIns="0" rIns="0" bIns="0" rtlCol="0" anchor="ctr"/>
          <a:lstStyle/>
          <a:p>
            <a:pPr indent="0" marL="0">
              <a:buNone/>
            </a:pPr>
            <a:r>
              <a:rPr lang="en-US" sz="1350" b="1" dirty="0">
                <a:solidFill>
                  <a:srgbClr val="E4F3F2"/>
                </a:solidFill>
                <a:latin typeface="Calibri" pitchFamily="34" charset="0"/>
                <a:ea typeface="Calibri" pitchFamily="34" charset="-122"/>
                <a:cs typeface="Calibri" pitchFamily="34" charset="-120"/>
              </a:rPr>
              <a:t>“Why is there a paper from the 1900s?”</a:t>
            </a:r>
            <a:endParaRPr lang="en-US" sz="1350" dirty="0"/>
          </a:p>
        </p:txBody>
      </p:sp>
      <p:sp>
        <p:nvSpPr>
          <p:cNvPr id="9" name="Text 7"/>
          <p:cNvSpPr txBox="1"/>
          <p:nvPr/>
        </p:nvSpPr>
        <p:spPr>
          <a:xfrm>
            <a:off x="1508760" y="2194560"/>
            <a:ext cx="9966960" cy="841248"/>
          </a:xfrm>
          <a:prstGeom prst="rect">
            <a:avLst/>
          </a:prstGeom>
          <a:noFill/>
          <a:ln/>
        </p:spPr>
        <p:txBody>
          <a:bodyPr wrap="square" lIns="0" tIns="0" rIns="0" bIns="0" rtlCol="0" anchor="ctr"/>
          <a:lstStyle/>
          <a:p>
            <a:pPr indent="0" marL="0">
              <a:lnSpc>
                <a:spcPct val="118000"/>
              </a:lnSpc>
              <a:buNone/>
            </a:pPr>
            <a:r>
              <a:rPr lang="en-US" sz="1050" dirty="0">
                <a:solidFill>
                  <a:srgbClr val="FFFFFF"/>
                </a:solidFill>
                <a:latin typeface="Calibri" pitchFamily="34" charset="0"/>
                <a:ea typeface="Calibri" pitchFamily="34" charset="-122"/>
                <a:cs typeface="Calibri" pitchFamily="34" charset="-120"/>
              </a:rPr>
              <a:t>Sinha &amp; Zoltners (1979) and Breslau et al. (1999) are foundational theory, not stale trivia — the way citing Dijkstra (1959) for shortest-path algorithms wouldn't be “old.” We don't just cite the 1979 knapsack formulation — our scheduler is a direct implementation of it, and we measured it: 0.00% mean optimality gap (max 0.14%) against the exact solver, on the exact instance where a naive approach was 88% wrong. The 45-year-old math holds up empirically, today, on our own data.</a:t>
            </a:r>
            <a:endParaRPr lang="en-US" sz="1050" dirty="0"/>
          </a:p>
        </p:txBody>
      </p:sp>
      <p:sp>
        <p:nvSpPr>
          <p:cNvPr id="10" name="Shape 8"/>
          <p:cNvSpPr/>
          <p:nvPr/>
        </p:nvSpPr>
        <p:spPr>
          <a:xfrm>
            <a:off x="548640" y="3227832"/>
            <a:ext cx="11109960" cy="1417320"/>
          </a:xfrm>
          <a:prstGeom prst="roundRect">
            <a:avLst>
              <a:gd name="adj" fmla="val 5161"/>
            </a:avLst>
          </a:prstGeom>
          <a:solidFill>
            <a:srgbClr val="1B2A56"/>
          </a:solidFill>
          <a:ln/>
        </p:spPr>
      </p:sp>
      <p:sp>
        <p:nvSpPr>
          <p:cNvPr id="11" name="Shape 9"/>
          <p:cNvSpPr/>
          <p:nvPr/>
        </p:nvSpPr>
        <p:spPr>
          <a:xfrm>
            <a:off x="777240" y="3410712"/>
            <a:ext cx="502920" cy="502920"/>
          </a:xfrm>
          <a:prstGeom prst="ellipse">
            <a:avLst/>
          </a:prstGeom>
          <a:solidFill>
            <a:srgbClr val="0E7C7B"/>
          </a:solidFill>
          <a:ln/>
        </p:spPr>
      </p:sp>
      <p:sp>
        <p:nvSpPr>
          <p:cNvPr id="12" name="Text 10"/>
          <p:cNvSpPr txBox="1"/>
          <p:nvPr/>
        </p:nvSpPr>
        <p:spPr>
          <a:xfrm>
            <a:off x="777240" y="341071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1508760" y="3364992"/>
            <a:ext cx="9966960" cy="365760"/>
          </a:xfrm>
          <a:prstGeom prst="rect">
            <a:avLst/>
          </a:prstGeom>
          <a:noFill/>
          <a:ln/>
        </p:spPr>
        <p:txBody>
          <a:bodyPr wrap="square" lIns="0" tIns="0" rIns="0" bIns="0" rtlCol="0" anchor="ctr"/>
          <a:lstStyle/>
          <a:p>
            <a:pPr indent="0" marL="0">
              <a:buNone/>
            </a:pPr>
            <a:r>
              <a:rPr lang="en-US" sz="1350" b="1" dirty="0">
                <a:solidFill>
                  <a:srgbClr val="E4F3F2"/>
                </a:solidFill>
                <a:latin typeface="Calibri" pitchFamily="34" charset="0"/>
                <a:ea typeface="Calibri" pitchFamily="34" charset="-122"/>
                <a:cs typeface="Calibri" pitchFamily="34" charset="-120"/>
              </a:rPr>
              <a:t>“Doesn't this need a lot of overhead?”</a:t>
            </a:r>
            <a:endParaRPr lang="en-US" sz="1350" dirty="0"/>
          </a:p>
        </p:txBody>
      </p:sp>
      <p:sp>
        <p:nvSpPr>
          <p:cNvPr id="14" name="Text 12"/>
          <p:cNvSpPr txBox="1"/>
          <p:nvPr/>
        </p:nvSpPr>
        <p:spPr>
          <a:xfrm>
            <a:off x="1508760" y="3730752"/>
            <a:ext cx="9966960" cy="841248"/>
          </a:xfrm>
          <a:prstGeom prst="rect">
            <a:avLst/>
          </a:prstGeom>
          <a:noFill/>
          <a:ln/>
        </p:spPr>
        <p:txBody>
          <a:bodyPr wrap="square" lIns="0" tIns="0" rIns="0" bIns="0" rtlCol="0" anchor="ctr"/>
          <a:lstStyle/>
          <a:p>
            <a:pPr indent="0" marL="0">
              <a:lnSpc>
                <a:spcPct val="118000"/>
              </a:lnSpc>
              <a:buNone/>
            </a:pPr>
            <a:r>
              <a:rPr lang="en-US" sz="1050" dirty="0">
                <a:solidFill>
                  <a:srgbClr val="FFFFFF"/>
                </a:solidFill>
                <a:latin typeface="Calibri" pitchFamily="34" charset="0"/>
                <a:ea typeface="Calibri" pitchFamily="34" charset="-122"/>
                <a:cs typeface="Calibri" pitchFamily="34" charset="-120"/>
              </a:rPr>
              <a:t>Measured, not assumed: Detection scans the full 5,000-document benchmark in under 0.6 seconds (real measured runtime, all three detectors). Migration only shadow-builds the documents actually selected for a fix — not the whole corpus. Verification re-scores a small curated golden-query set, not the full query load. Full breakdown on the Complexity slide next.</a:t>
            </a:r>
            <a:endParaRPr lang="en-US" sz="1050" dirty="0"/>
          </a:p>
        </p:txBody>
      </p:sp>
      <p:sp>
        <p:nvSpPr>
          <p:cNvPr id="15" name="Shape 13"/>
          <p:cNvSpPr/>
          <p:nvPr/>
        </p:nvSpPr>
        <p:spPr>
          <a:xfrm>
            <a:off x="548640" y="4764024"/>
            <a:ext cx="11109960" cy="1417320"/>
          </a:xfrm>
          <a:prstGeom prst="roundRect">
            <a:avLst>
              <a:gd name="adj" fmla="val 5161"/>
            </a:avLst>
          </a:prstGeom>
          <a:solidFill>
            <a:srgbClr val="1B2A56"/>
          </a:solidFill>
          <a:ln/>
        </p:spPr>
      </p:sp>
      <p:sp>
        <p:nvSpPr>
          <p:cNvPr id="16" name="Shape 14"/>
          <p:cNvSpPr/>
          <p:nvPr/>
        </p:nvSpPr>
        <p:spPr>
          <a:xfrm>
            <a:off x="777240" y="4946904"/>
            <a:ext cx="502920" cy="502920"/>
          </a:xfrm>
          <a:prstGeom prst="ellipse">
            <a:avLst/>
          </a:prstGeom>
          <a:solidFill>
            <a:srgbClr val="0E7C7B"/>
          </a:solidFill>
          <a:ln/>
        </p:spPr>
      </p:sp>
      <p:sp>
        <p:nvSpPr>
          <p:cNvPr id="17" name="Text 15"/>
          <p:cNvSpPr txBox="1"/>
          <p:nvPr/>
        </p:nvSpPr>
        <p:spPr>
          <a:xfrm>
            <a:off x="777240" y="494690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txBox="1"/>
          <p:nvPr/>
        </p:nvSpPr>
        <p:spPr>
          <a:xfrm>
            <a:off x="1508760" y="4901184"/>
            <a:ext cx="9966960" cy="365760"/>
          </a:xfrm>
          <a:prstGeom prst="rect">
            <a:avLst/>
          </a:prstGeom>
          <a:noFill/>
          <a:ln/>
        </p:spPr>
        <p:txBody>
          <a:bodyPr wrap="square" lIns="0" tIns="0" rIns="0" bIns="0" rtlCol="0" anchor="ctr"/>
          <a:lstStyle/>
          <a:p>
            <a:pPr indent="0" marL="0">
              <a:buNone/>
            </a:pPr>
            <a:r>
              <a:rPr lang="en-US" sz="1350" b="1" dirty="0">
                <a:solidFill>
                  <a:srgbClr val="E4F3F2"/>
                </a:solidFill>
                <a:latin typeface="Calibri" pitchFamily="34" charset="0"/>
                <a:ea typeface="Calibri" pitchFamily="34" charset="-122"/>
                <a:cs typeface="Calibri" pitchFamily="34" charset="-120"/>
              </a:rPr>
              <a:t>“What's the space and time complexity?”</a:t>
            </a:r>
            <a:endParaRPr lang="en-US" sz="1350" dirty="0"/>
          </a:p>
        </p:txBody>
      </p:sp>
      <p:sp>
        <p:nvSpPr>
          <p:cNvPr id="19" name="Text 17"/>
          <p:cNvSpPr txBox="1"/>
          <p:nvPr/>
        </p:nvSpPr>
        <p:spPr>
          <a:xfrm>
            <a:off x="1508760" y="5266944"/>
            <a:ext cx="9966960" cy="841248"/>
          </a:xfrm>
          <a:prstGeom prst="rect">
            <a:avLst/>
          </a:prstGeom>
          <a:noFill/>
          <a:ln/>
        </p:spPr>
        <p:txBody>
          <a:bodyPr wrap="square" lIns="0" tIns="0" rIns="0" bIns="0" rtlCol="0" anchor="ctr"/>
          <a:lstStyle/>
          <a:p>
            <a:pPr indent="0" marL="0">
              <a:lnSpc>
                <a:spcPct val="118000"/>
              </a:lnSpc>
              <a:buNone/>
            </a:pPr>
            <a:r>
              <a:rPr lang="en-US" sz="1050" dirty="0">
                <a:solidFill>
                  <a:srgbClr val="FFFFFF"/>
                </a:solidFill>
                <a:latin typeface="Calibri" pitchFamily="34" charset="0"/>
                <a:ea typeface="Calibri" pitchFamily="34" charset="-122"/>
                <a:cs typeface="Calibri" pitchFamily="34" charset="-120"/>
              </a:rPr>
              <a:t>Detection: O(N log N) with an ANN index. Prioritization: O(N log N) for production (frontier-greedy); the exact ILP solver is intentionally kept off the live path, used only for small-scale validation. Migration/Verification: bounded by k (flagged documents), not N (corpus size). Full table, with real measured wall-clock numbers, on the next slide.</a:t>
            </a:r>
            <a:endParaRPr lang="en-US" sz="1050" dirty="0"/>
          </a:p>
        </p:txBody>
      </p:sp>
      <p:sp>
        <p:nvSpPr>
          <p:cNvPr id="20" name="Text 18"/>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21" name="Text 19"/>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RECAP — PROBLEM STATEMENT</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The Problem, Briefly Revisited</a:t>
            </a:r>
            <a:endParaRPr lang="en-US" sz="3200" dirty="0"/>
          </a:p>
        </p:txBody>
      </p:sp>
      <p:sp>
        <p:nvSpPr>
          <p:cNvPr id="4" name="Text 2"/>
          <p:cNvSpPr txBox="1"/>
          <p:nvPr/>
        </p:nvSpPr>
        <p:spPr>
          <a:xfrm>
            <a:off x="548640" y="1508760"/>
            <a:ext cx="11109960" cy="1097280"/>
          </a:xfrm>
          <a:prstGeom prst="rect">
            <a:avLst/>
          </a:prstGeom>
          <a:noFill/>
          <a:ln/>
        </p:spPr>
        <p:txBody>
          <a:bodyPr wrap="square" lIns="0" tIns="0" rIns="0" bIns="0" rtlCol="0" anchor="ctr"/>
          <a:lstStyle/>
          <a:p>
            <a:pPr indent="0" marL="0">
              <a:lnSpc>
                <a:spcPct val="130000"/>
              </a:lnSpc>
              <a:buNone/>
            </a:pPr>
            <a:r>
              <a:rPr lang="en-US" sz="1400" dirty="0">
                <a:solidFill>
                  <a:srgbClr val="20242E"/>
                </a:solidFill>
                <a:latin typeface="Calibri" pitchFamily="34" charset="0"/>
                <a:ea typeface="Calibri" pitchFamily="34" charset="-122"/>
                <a:cs typeface="Calibri" pitchFamily="34" charset="-120"/>
              </a:rPr>
              <a:t>Production vector databases silently degrade in retrieval quality when a subset of documents is embedded by a different generation of the embedding model than the rest of the corpus. Cosine similarity is not comparable across generations, so the database keeps returning results — just quietly worse ones, with no exception ever thrown.</a:t>
            </a:r>
            <a:endParaRPr lang="en-US" sz="1400" dirty="0"/>
          </a:p>
        </p:txBody>
      </p:sp>
      <p:sp>
        <p:nvSpPr>
          <p:cNvPr id="5" name="Shape 3"/>
          <p:cNvSpPr/>
          <p:nvPr/>
        </p:nvSpPr>
        <p:spPr>
          <a:xfrm>
            <a:off x="548640" y="2834640"/>
            <a:ext cx="3639312" cy="1828800"/>
          </a:xfrm>
          <a:prstGeom prst="roundRect">
            <a:avLst>
              <a:gd name="adj" fmla="val 4000"/>
            </a:avLst>
          </a:prstGeom>
          <a:solidFill>
            <a:srgbClr val="F4F7FC"/>
          </a:solidFill>
          <a:ln/>
          <a:effectLst>
            <a:outerShdw sx="100000" sy="100000" kx="0" ky="0" algn="bl" rotWithShape="0" blurRad="101600" dist="38100" dir="5400000">
              <a:srgbClr val="1B2A56">
                <a:alpha val="12000"/>
              </a:srgbClr>
            </a:outerShdw>
          </a:effectLst>
        </p:spPr>
      </p:sp>
      <p:sp>
        <p:nvSpPr>
          <p:cNvPr id="6" name="Text 4"/>
          <p:cNvSpPr txBox="1"/>
          <p:nvPr/>
        </p:nvSpPr>
        <p:spPr>
          <a:xfrm>
            <a:off x="777240" y="3017520"/>
            <a:ext cx="3182112" cy="365760"/>
          </a:xfrm>
          <a:prstGeom prst="rect">
            <a:avLst/>
          </a:prstGeom>
          <a:noFill/>
          <a:ln/>
        </p:spPr>
        <p:txBody>
          <a:bodyPr wrap="square" lIns="0" tIns="0" rIns="0" bIns="0" rtlCol="0" anchor="ctr"/>
          <a:lstStyle/>
          <a:p>
            <a:pPr indent="0" marL="0">
              <a:buNone/>
            </a:pPr>
            <a:r>
              <a:rPr lang="en-US" sz="1500" b="1" dirty="0">
                <a:solidFill>
                  <a:srgbClr val="0E7C7B"/>
                </a:solidFill>
                <a:latin typeface="Calibri" pitchFamily="34" charset="0"/>
                <a:ea typeface="Calibri" pitchFamily="34" charset="-122"/>
                <a:cs typeface="Calibri" pitchFamily="34" charset="-120"/>
              </a:rPr>
              <a:t>Real</a:t>
            </a:r>
            <a:endParaRPr lang="en-US" sz="1500" dirty="0"/>
          </a:p>
        </p:txBody>
      </p:sp>
      <p:sp>
        <p:nvSpPr>
          <p:cNvPr id="7" name="Text 5"/>
          <p:cNvSpPr txBox="1"/>
          <p:nvPr/>
        </p:nvSpPr>
        <p:spPr>
          <a:xfrm>
            <a:off x="777240" y="3383280"/>
            <a:ext cx="3182112" cy="1143000"/>
          </a:xfrm>
          <a:prstGeom prst="rect">
            <a:avLst/>
          </a:prstGeom>
          <a:noFill/>
          <a:ln/>
        </p:spPr>
        <p:txBody>
          <a:bodyPr wrap="square" lIns="0" tIns="0" rIns="0" bIns="0" rtlCol="0" anchor="ctr"/>
          <a:lstStyle/>
          <a:p>
            <a:pPr indent="0" marL="0">
              <a:lnSpc>
                <a:spcPct val="120000"/>
              </a:lnSpc>
              <a:buNone/>
            </a:pPr>
            <a:r>
              <a:rPr lang="en-US" sz="1050" dirty="0">
                <a:solidFill>
                  <a:srgbClr val="20242E"/>
                </a:solidFill>
                <a:latin typeface="Calibri" pitchFamily="34" charset="0"/>
                <a:ea typeface="Calibri" pitchFamily="34" charset="-122"/>
                <a:cs typeface="Calibri" pitchFamily="34" charset="-120"/>
              </a:rPr>
              <a:t>OpenAI and Cohere have both shipped embedding updates that change internal geometry; teams re-embedding piecemeal create exactly this mix.</a:t>
            </a:r>
            <a:endParaRPr lang="en-US" sz="1050" dirty="0"/>
          </a:p>
        </p:txBody>
      </p:sp>
      <p:sp>
        <p:nvSpPr>
          <p:cNvPr id="8" name="Shape 6"/>
          <p:cNvSpPr/>
          <p:nvPr/>
        </p:nvSpPr>
        <p:spPr>
          <a:xfrm>
            <a:off x="4361688" y="2834640"/>
            <a:ext cx="3639312" cy="1828800"/>
          </a:xfrm>
          <a:prstGeom prst="roundRect">
            <a:avLst>
              <a:gd name="adj" fmla="val 4000"/>
            </a:avLst>
          </a:prstGeom>
          <a:solidFill>
            <a:srgbClr val="F4F7FC"/>
          </a:solidFill>
          <a:ln/>
          <a:effectLst>
            <a:outerShdw sx="100000" sy="100000" kx="0" ky="0" algn="bl" rotWithShape="0" blurRad="101600" dist="38100" dir="5400000">
              <a:srgbClr val="1B2A56">
                <a:alpha val="12000"/>
              </a:srgbClr>
            </a:outerShdw>
          </a:effectLst>
        </p:spPr>
      </p:sp>
      <p:sp>
        <p:nvSpPr>
          <p:cNvPr id="9" name="Text 7"/>
          <p:cNvSpPr txBox="1"/>
          <p:nvPr/>
        </p:nvSpPr>
        <p:spPr>
          <a:xfrm>
            <a:off x="4590288" y="3017520"/>
            <a:ext cx="3182112" cy="365760"/>
          </a:xfrm>
          <a:prstGeom prst="rect">
            <a:avLst/>
          </a:prstGeom>
          <a:noFill/>
          <a:ln/>
        </p:spPr>
        <p:txBody>
          <a:bodyPr wrap="square" lIns="0" tIns="0" rIns="0" bIns="0" rtlCol="0" anchor="ctr"/>
          <a:lstStyle/>
          <a:p>
            <a:pPr indent="0" marL="0">
              <a:buNone/>
            </a:pPr>
            <a:r>
              <a:rPr lang="en-US" sz="1500" b="1" dirty="0">
                <a:solidFill>
                  <a:srgbClr val="0E7C7B"/>
                </a:solidFill>
                <a:latin typeface="Calibri" pitchFamily="34" charset="0"/>
                <a:ea typeface="Calibri" pitchFamily="34" charset="-122"/>
                <a:cs typeface="Calibri" pitchFamily="34" charset="-120"/>
              </a:rPr>
              <a:t>Silent</a:t>
            </a:r>
            <a:endParaRPr lang="en-US" sz="1500" dirty="0"/>
          </a:p>
        </p:txBody>
      </p:sp>
      <p:sp>
        <p:nvSpPr>
          <p:cNvPr id="10" name="Text 8"/>
          <p:cNvSpPr txBox="1"/>
          <p:nvPr/>
        </p:nvSpPr>
        <p:spPr>
          <a:xfrm>
            <a:off x="4590288" y="3383280"/>
            <a:ext cx="3182112" cy="1143000"/>
          </a:xfrm>
          <a:prstGeom prst="rect">
            <a:avLst/>
          </a:prstGeom>
          <a:noFill/>
          <a:ln/>
        </p:spPr>
        <p:txBody>
          <a:bodyPr wrap="square" lIns="0" tIns="0" rIns="0" bIns="0" rtlCol="0" anchor="ctr"/>
          <a:lstStyle/>
          <a:p>
            <a:pPr indent="0" marL="0">
              <a:lnSpc>
                <a:spcPct val="120000"/>
              </a:lnSpc>
              <a:buNone/>
            </a:pPr>
            <a:r>
              <a:rPr lang="en-US" sz="1050" dirty="0">
                <a:solidFill>
                  <a:srgbClr val="20242E"/>
                </a:solidFill>
                <a:latin typeface="Calibri" pitchFamily="34" charset="0"/>
                <a:ea typeface="Calibri" pitchFamily="34" charset="-122"/>
                <a:cs typeface="Calibri" pitchFamily="34" charset="-120"/>
              </a:rPr>
              <a:t>No exceptions, no alerts, no crash logs — the system looks healthy while quietly serving worse results.</a:t>
            </a:r>
            <a:endParaRPr lang="en-US" sz="1050" dirty="0"/>
          </a:p>
        </p:txBody>
      </p:sp>
      <p:sp>
        <p:nvSpPr>
          <p:cNvPr id="11" name="Shape 9"/>
          <p:cNvSpPr/>
          <p:nvPr/>
        </p:nvSpPr>
        <p:spPr>
          <a:xfrm>
            <a:off x="8174736" y="2834640"/>
            <a:ext cx="3639312" cy="1828800"/>
          </a:xfrm>
          <a:prstGeom prst="roundRect">
            <a:avLst>
              <a:gd name="adj" fmla="val 4000"/>
            </a:avLst>
          </a:prstGeom>
          <a:solidFill>
            <a:srgbClr val="F4F7FC"/>
          </a:solidFill>
          <a:ln/>
          <a:effectLst>
            <a:outerShdw sx="100000" sy="100000" kx="0" ky="0" algn="bl" rotWithShape="0" blurRad="101600" dist="38100" dir="5400000">
              <a:srgbClr val="1B2A56">
                <a:alpha val="12000"/>
              </a:srgbClr>
            </a:outerShdw>
          </a:effectLst>
        </p:spPr>
      </p:sp>
      <p:sp>
        <p:nvSpPr>
          <p:cNvPr id="12" name="Text 10"/>
          <p:cNvSpPr txBox="1"/>
          <p:nvPr/>
        </p:nvSpPr>
        <p:spPr>
          <a:xfrm>
            <a:off x="8403336" y="3017520"/>
            <a:ext cx="3182112" cy="365760"/>
          </a:xfrm>
          <a:prstGeom prst="rect">
            <a:avLst/>
          </a:prstGeom>
          <a:noFill/>
          <a:ln/>
        </p:spPr>
        <p:txBody>
          <a:bodyPr wrap="square" lIns="0" tIns="0" rIns="0" bIns="0" rtlCol="0" anchor="ctr"/>
          <a:lstStyle/>
          <a:p>
            <a:pPr indent="0" marL="0">
              <a:buNone/>
            </a:pPr>
            <a:r>
              <a:rPr lang="en-US" sz="1500" b="1" dirty="0">
                <a:solidFill>
                  <a:srgbClr val="0E7C7B"/>
                </a:solidFill>
                <a:latin typeface="Calibri" pitchFamily="34" charset="0"/>
                <a:ea typeface="Calibri" pitchFamily="34" charset="-122"/>
                <a:cs typeface="Calibri" pitchFamily="34" charset="-120"/>
              </a:rPr>
              <a:t>Growing</a:t>
            </a:r>
            <a:endParaRPr lang="en-US" sz="1500" dirty="0"/>
          </a:p>
        </p:txBody>
      </p:sp>
      <p:sp>
        <p:nvSpPr>
          <p:cNvPr id="13" name="Text 11"/>
          <p:cNvSpPr txBox="1"/>
          <p:nvPr/>
        </p:nvSpPr>
        <p:spPr>
          <a:xfrm>
            <a:off x="8403336" y="3383280"/>
            <a:ext cx="3182112" cy="1143000"/>
          </a:xfrm>
          <a:prstGeom prst="rect">
            <a:avLst/>
          </a:prstGeom>
          <a:noFill/>
          <a:ln/>
        </p:spPr>
        <p:txBody>
          <a:bodyPr wrap="square" lIns="0" tIns="0" rIns="0" bIns="0" rtlCol="0" anchor="ctr"/>
          <a:lstStyle/>
          <a:p>
            <a:pPr indent="0" marL="0">
              <a:lnSpc>
                <a:spcPct val="120000"/>
              </a:lnSpc>
              <a:buNone/>
            </a:pPr>
            <a:r>
              <a:rPr lang="en-US" sz="1050" dirty="0">
                <a:solidFill>
                  <a:srgbClr val="20242E"/>
                </a:solidFill>
                <a:latin typeface="Calibri" pitchFamily="34" charset="0"/>
                <a:ea typeface="Calibri" pitchFamily="34" charset="-122"/>
                <a:cs typeface="Calibri" pitchFamily="34" charset="-120"/>
              </a:rPr>
              <a:t>20+ commercial vector-database systems have launched in the past five years (Pan et al., 2024) — every one exposed to this failure mode.</a:t>
            </a:r>
            <a:endParaRPr lang="en-US" sz="1050" dirty="0"/>
          </a:p>
        </p:txBody>
      </p:sp>
      <p:sp>
        <p:nvSpPr>
          <p:cNvPr id="14" name="Shape 12"/>
          <p:cNvSpPr/>
          <p:nvPr/>
        </p:nvSpPr>
        <p:spPr>
          <a:xfrm>
            <a:off x="548640" y="4892040"/>
            <a:ext cx="11109960" cy="1188720"/>
          </a:xfrm>
          <a:prstGeom prst="roundRect">
            <a:avLst>
              <a:gd name="adj" fmla="val 6154"/>
            </a:avLst>
          </a:prstGeom>
          <a:solidFill>
            <a:srgbClr val="1B2A56"/>
          </a:solidFill>
          <a:ln/>
        </p:spPr>
      </p:sp>
      <p:sp>
        <p:nvSpPr>
          <p:cNvPr id="15" name="Text 13"/>
          <p:cNvSpPr txBox="1"/>
          <p:nvPr/>
        </p:nvSpPr>
        <p:spPr>
          <a:xfrm>
            <a:off x="822960" y="5029200"/>
            <a:ext cx="10515600" cy="914400"/>
          </a:xfrm>
          <a:prstGeom prst="rect">
            <a:avLst/>
          </a:prstGeom>
          <a:noFill/>
          <a:ln/>
        </p:spPr>
        <p:txBody>
          <a:bodyPr wrap="square" lIns="0" tIns="0" rIns="0" bIns="0" rtlCol="0" anchor="ctr"/>
          <a:lstStyle/>
          <a:p>
            <a:pPr indent="0" marL="0">
              <a:lnSpc>
                <a:spcPct val="125000"/>
              </a:lnSpc>
              <a:buNone/>
            </a:pPr>
            <a:r>
              <a:rPr lang="en-US" sz="1200" b="1" dirty="0">
                <a:solidFill>
                  <a:srgbClr val="E4F3F2"/>
                </a:solidFill>
                <a:latin typeface="Calibri" pitchFamily="34" charset="0"/>
                <a:ea typeface="Calibri" pitchFamily="34" charset="-122"/>
                <a:cs typeface="Calibri" pitchFamily="34" charset="-120"/>
              </a:rPr>
              <a:t>Since Review I:  </a:t>
            </a:r>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we've moved from arguing this problem to measuring it. Our own 5,000-document benchmark (detailed ahead) now quantifies exactly how retrieval quality degrades as contamination rises — real data, not projection.</a:t>
            </a:r>
            <a:endParaRPr lang="en-US" sz="1200" dirty="0"/>
          </a:p>
        </p:txBody>
      </p:sp>
      <p:sp>
        <p:nvSpPr>
          <p:cNvPr id="16" name="Text 1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7" name="Text 15"/>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RESEARCH GAP IDENTIFICATION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From Literature to Research Gap</a:t>
            </a:r>
            <a:endParaRPr lang="en-US" sz="3200" dirty="0"/>
          </a:p>
        </p:txBody>
      </p:sp>
      <p:sp>
        <p:nvSpPr>
          <p:cNvPr id="4" name="Shape 2"/>
          <p:cNvSpPr/>
          <p:nvPr/>
        </p:nvSpPr>
        <p:spPr>
          <a:xfrm>
            <a:off x="548640" y="1554480"/>
            <a:ext cx="7772400" cy="868680"/>
          </a:xfrm>
          <a:prstGeom prst="roundRect">
            <a:avLst>
              <a:gd name="adj" fmla="val 8421"/>
            </a:avLst>
          </a:prstGeom>
          <a:solidFill>
            <a:srgbClr val="F4F7FC"/>
          </a:solidFill>
          <a:ln/>
          <a:effectLst>
            <a:outerShdw sx="100000" sy="100000" kx="0" ky="0" algn="bl" rotWithShape="0" blurRad="101600" dist="38100" dir="5400000">
              <a:srgbClr val="1B2A56">
                <a:alpha val="12000"/>
              </a:srgbClr>
            </a:outerShdw>
          </a:effectLst>
        </p:spPr>
      </p:sp>
      <p:sp>
        <p:nvSpPr>
          <p:cNvPr id="5" name="Shape 3"/>
          <p:cNvSpPr/>
          <p:nvPr/>
        </p:nvSpPr>
        <p:spPr>
          <a:xfrm>
            <a:off x="777240" y="1796796"/>
            <a:ext cx="384048" cy="384048"/>
          </a:xfrm>
          <a:prstGeom prst="ellipse">
            <a:avLst/>
          </a:prstGeom>
          <a:solidFill>
            <a:srgbClr val="0E7C7B"/>
          </a:solidFill>
          <a:ln/>
        </p:spPr>
      </p:sp>
      <p:sp>
        <p:nvSpPr>
          <p:cNvPr id="6" name="Text 4"/>
          <p:cNvSpPr txBox="1"/>
          <p:nvPr/>
        </p:nvSpPr>
        <p:spPr>
          <a:xfrm>
            <a:off x="777240" y="17967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71600" y="1645920"/>
            <a:ext cx="1920240" cy="685800"/>
          </a:xfrm>
          <a:prstGeom prst="rect">
            <a:avLst/>
          </a:prstGeom>
          <a:noFill/>
          <a:ln/>
        </p:spPr>
        <p:txBody>
          <a:bodyPr wrap="square" lIns="0" tIns="0" rIns="0" bIns="0" rtlCol="0" anchor="ctr"/>
          <a:lstStyle/>
          <a:p>
            <a:pPr indent="0" marL="0">
              <a:buNone/>
            </a:pPr>
            <a:r>
              <a:rPr lang="en-US" sz="1250" b="1" dirty="0">
                <a:solidFill>
                  <a:srgbClr val="1B2A56"/>
                </a:solidFill>
                <a:latin typeface="Calibri" pitchFamily="34" charset="0"/>
                <a:ea typeface="Calibri" pitchFamily="34" charset="-122"/>
                <a:cs typeface="Calibri" pitchFamily="34" charset="-120"/>
              </a:rPr>
              <a:t>Existing research</a:t>
            </a:r>
            <a:endParaRPr lang="en-US" sz="1250" dirty="0"/>
          </a:p>
        </p:txBody>
      </p:sp>
      <p:sp>
        <p:nvSpPr>
          <p:cNvPr id="8" name="Text 6"/>
          <p:cNvSpPr txBox="1"/>
          <p:nvPr/>
        </p:nvSpPr>
        <p:spPr>
          <a:xfrm>
            <a:off x="3383280" y="1627632"/>
            <a:ext cx="4846320" cy="722376"/>
          </a:xfrm>
          <a:prstGeom prst="rect">
            <a:avLst/>
          </a:prstGeom>
          <a:noFill/>
          <a:ln/>
        </p:spPr>
        <p:txBody>
          <a:bodyPr wrap="square" lIns="0" tIns="0" rIns="0" bIns="0" rtlCol="0" anchor="ctr"/>
          <a:lstStyle/>
          <a:p>
            <a:pPr indent="0" marL="0">
              <a:lnSpc>
                <a:spcPct val="115000"/>
              </a:lnSpc>
              <a:buNone/>
            </a:pPr>
            <a:r>
              <a:rPr lang="en-US" sz="1100" dirty="0">
                <a:solidFill>
                  <a:srgbClr val="20242E"/>
                </a:solidFill>
                <a:latin typeface="Calibri" pitchFamily="34" charset="0"/>
                <a:ea typeface="Calibri" pitchFamily="34" charset="-122"/>
                <a:cs typeface="Calibri" pitchFamily="34" charset="-120"/>
              </a:rPr>
              <a:t>Two mature, separate bodies of work: OOD/anomaly detection and cheap embedding realignment.</a:t>
            </a:r>
            <a:endParaRPr lang="en-US" sz="1100" dirty="0"/>
          </a:p>
        </p:txBody>
      </p:sp>
      <p:sp>
        <p:nvSpPr>
          <p:cNvPr id="9" name="Text 7"/>
          <p:cNvSpPr txBox="1"/>
          <p:nvPr/>
        </p:nvSpPr>
        <p:spPr>
          <a:xfrm>
            <a:off x="548640" y="2377440"/>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548640" y="2569464"/>
            <a:ext cx="7772400" cy="868680"/>
          </a:xfrm>
          <a:prstGeom prst="roundRect">
            <a:avLst>
              <a:gd name="adj" fmla="val 8421"/>
            </a:avLst>
          </a:prstGeom>
          <a:solidFill>
            <a:srgbClr val="F4F7FC"/>
          </a:solidFill>
          <a:ln/>
          <a:effectLst>
            <a:outerShdw sx="100000" sy="100000" kx="0" ky="0" algn="bl" rotWithShape="0" blurRad="101600" dist="38100" dir="5400000">
              <a:srgbClr val="1B2A56">
                <a:alpha val="12000"/>
              </a:srgbClr>
            </a:outerShdw>
          </a:effectLst>
        </p:spPr>
      </p:sp>
      <p:sp>
        <p:nvSpPr>
          <p:cNvPr id="11" name="Shape 9"/>
          <p:cNvSpPr/>
          <p:nvPr/>
        </p:nvSpPr>
        <p:spPr>
          <a:xfrm>
            <a:off x="777240" y="2811780"/>
            <a:ext cx="384048" cy="384048"/>
          </a:xfrm>
          <a:prstGeom prst="ellipse">
            <a:avLst/>
          </a:prstGeom>
          <a:solidFill>
            <a:srgbClr val="0E7C7B"/>
          </a:solidFill>
          <a:ln/>
        </p:spPr>
      </p:sp>
      <p:sp>
        <p:nvSpPr>
          <p:cNvPr id="12" name="Text 10"/>
          <p:cNvSpPr txBox="1"/>
          <p:nvPr/>
        </p:nvSpPr>
        <p:spPr>
          <a:xfrm>
            <a:off x="777240" y="28117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371600" y="2660904"/>
            <a:ext cx="1920240" cy="685800"/>
          </a:xfrm>
          <a:prstGeom prst="rect">
            <a:avLst/>
          </a:prstGeom>
          <a:noFill/>
          <a:ln/>
        </p:spPr>
        <p:txBody>
          <a:bodyPr wrap="square" lIns="0" tIns="0" rIns="0" bIns="0" rtlCol="0" anchor="ctr"/>
          <a:lstStyle/>
          <a:p>
            <a:pPr indent="0" marL="0">
              <a:buNone/>
            </a:pPr>
            <a:r>
              <a:rPr lang="en-US" sz="1250" b="1" dirty="0">
                <a:solidFill>
                  <a:srgbClr val="1B2A56"/>
                </a:solidFill>
                <a:latin typeface="Calibri" pitchFamily="34" charset="0"/>
                <a:ea typeface="Calibri" pitchFamily="34" charset="-122"/>
                <a:cs typeface="Calibri" pitchFamily="34" charset="-120"/>
              </a:rPr>
              <a:t>Common approach</a:t>
            </a:r>
            <a:endParaRPr lang="en-US" sz="1250" dirty="0"/>
          </a:p>
        </p:txBody>
      </p:sp>
      <p:sp>
        <p:nvSpPr>
          <p:cNvPr id="14" name="Text 12"/>
          <p:cNvSpPr txBox="1"/>
          <p:nvPr/>
        </p:nvSpPr>
        <p:spPr>
          <a:xfrm>
            <a:off x="3383280" y="2642616"/>
            <a:ext cx="4846320" cy="722376"/>
          </a:xfrm>
          <a:prstGeom prst="rect">
            <a:avLst/>
          </a:prstGeom>
          <a:noFill/>
          <a:ln/>
        </p:spPr>
        <p:txBody>
          <a:bodyPr wrap="square" lIns="0" tIns="0" rIns="0" bIns="0" rtlCol="0" anchor="ctr"/>
          <a:lstStyle/>
          <a:p>
            <a:pPr indent="0" marL="0">
              <a:lnSpc>
                <a:spcPct val="115000"/>
              </a:lnSpc>
              <a:buNone/>
            </a:pPr>
            <a:r>
              <a:rPr lang="en-US" sz="1100" dirty="0">
                <a:solidFill>
                  <a:srgbClr val="20242E"/>
                </a:solidFill>
                <a:latin typeface="Calibri" pitchFamily="34" charset="0"/>
                <a:ea typeface="Calibri" pitchFamily="34" charset="-122"/>
                <a:cs typeface="Calibri" pitchFamily="34" charset="-120"/>
              </a:rPr>
              <a:t>Detect anomalous vectors → apply ONE fix (full re-embed or one uniform patch) to everyone flagged.</a:t>
            </a:r>
            <a:endParaRPr lang="en-US" sz="1100" dirty="0"/>
          </a:p>
        </p:txBody>
      </p:sp>
      <p:sp>
        <p:nvSpPr>
          <p:cNvPr id="15" name="Text 13"/>
          <p:cNvSpPr txBox="1"/>
          <p:nvPr/>
        </p:nvSpPr>
        <p:spPr>
          <a:xfrm>
            <a:off x="548640" y="3392424"/>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548640" y="3584448"/>
            <a:ext cx="7772400" cy="868680"/>
          </a:xfrm>
          <a:prstGeom prst="roundRect">
            <a:avLst>
              <a:gd name="adj" fmla="val 8421"/>
            </a:avLst>
          </a:prstGeom>
          <a:solidFill>
            <a:srgbClr val="F4F7FC"/>
          </a:solidFill>
          <a:ln/>
          <a:effectLst>
            <a:outerShdw sx="100000" sy="100000" kx="0" ky="0" algn="bl" rotWithShape="0" blurRad="101600" dist="38100" dir="5400000">
              <a:srgbClr val="1B2A56">
                <a:alpha val="12000"/>
              </a:srgbClr>
            </a:outerShdw>
          </a:effectLst>
        </p:spPr>
      </p:sp>
      <p:sp>
        <p:nvSpPr>
          <p:cNvPr id="17" name="Shape 15"/>
          <p:cNvSpPr/>
          <p:nvPr/>
        </p:nvSpPr>
        <p:spPr>
          <a:xfrm>
            <a:off x="777240" y="3826764"/>
            <a:ext cx="384048" cy="384048"/>
          </a:xfrm>
          <a:prstGeom prst="ellipse">
            <a:avLst/>
          </a:prstGeom>
          <a:solidFill>
            <a:srgbClr val="0E7C7B"/>
          </a:solidFill>
          <a:ln/>
        </p:spPr>
      </p:sp>
      <p:sp>
        <p:nvSpPr>
          <p:cNvPr id="18" name="Text 16"/>
          <p:cNvSpPr txBox="1"/>
          <p:nvPr/>
        </p:nvSpPr>
        <p:spPr>
          <a:xfrm>
            <a:off x="777240" y="38267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371600" y="3675888"/>
            <a:ext cx="1920240" cy="685800"/>
          </a:xfrm>
          <a:prstGeom prst="rect">
            <a:avLst/>
          </a:prstGeom>
          <a:noFill/>
          <a:ln/>
        </p:spPr>
        <p:txBody>
          <a:bodyPr wrap="square" lIns="0" tIns="0" rIns="0" bIns="0" rtlCol="0" anchor="ctr"/>
          <a:lstStyle/>
          <a:p>
            <a:pPr indent="0" marL="0">
              <a:buNone/>
            </a:pPr>
            <a:r>
              <a:rPr lang="en-US" sz="1250" b="1" dirty="0">
                <a:solidFill>
                  <a:srgbClr val="1B2A56"/>
                </a:solidFill>
                <a:latin typeface="Calibri" pitchFamily="34" charset="0"/>
                <a:ea typeface="Calibri" pitchFamily="34" charset="-122"/>
                <a:cs typeface="Calibri" pitchFamily="34" charset="-120"/>
              </a:rPr>
              <a:t>Limitation</a:t>
            </a:r>
            <a:endParaRPr lang="en-US" sz="1250" dirty="0"/>
          </a:p>
        </p:txBody>
      </p:sp>
      <p:sp>
        <p:nvSpPr>
          <p:cNvPr id="20" name="Text 18"/>
          <p:cNvSpPr txBox="1"/>
          <p:nvPr/>
        </p:nvSpPr>
        <p:spPr>
          <a:xfrm>
            <a:off x="3383280" y="3657600"/>
            <a:ext cx="4846320" cy="722376"/>
          </a:xfrm>
          <a:prstGeom prst="rect">
            <a:avLst/>
          </a:prstGeom>
          <a:noFill/>
          <a:ln/>
        </p:spPr>
        <p:txBody>
          <a:bodyPr wrap="square" lIns="0" tIns="0" rIns="0" bIns="0" rtlCol="0" anchor="ctr"/>
          <a:lstStyle/>
          <a:p>
            <a:pPr indent="0" marL="0">
              <a:lnSpc>
                <a:spcPct val="115000"/>
              </a:lnSpc>
              <a:buNone/>
            </a:pPr>
            <a:r>
              <a:rPr lang="en-US" sz="1100" dirty="0">
                <a:solidFill>
                  <a:srgbClr val="20242E"/>
                </a:solidFill>
                <a:latin typeface="Calibri" pitchFamily="34" charset="0"/>
                <a:ea typeface="Calibri" pitchFamily="34" charset="-122"/>
                <a:cs typeface="Calibri" pitchFamily="34" charset="-120"/>
              </a:rPr>
              <a:t>Every reviewed fix mechanism is corpus-wide and uniform — none reasons about WHICH document to fix first under a real budget.</a:t>
            </a:r>
            <a:endParaRPr lang="en-US" sz="1100" dirty="0"/>
          </a:p>
        </p:txBody>
      </p:sp>
      <p:sp>
        <p:nvSpPr>
          <p:cNvPr id="21" name="Text 19"/>
          <p:cNvSpPr txBox="1"/>
          <p:nvPr/>
        </p:nvSpPr>
        <p:spPr>
          <a:xfrm>
            <a:off x="548640" y="4407408"/>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48640" y="4599432"/>
            <a:ext cx="7772400" cy="868680"/>
          </a:xfrm>
          <a:prstGeom prst="roundRect">
            <a:avLst>
              <a:gd name="adj" fmla="val 8421"/>
            </a:avLst>
          </a:prstGeom>
          <a:solidFill>
            <a:srgbClr val="1B2A56"/>
          </a:solidFill>
          <a:ln/>
        </p:spPr>
      </p:sp>
      <p:sp>
        <p:nvSpPr>
          <p:cNvPr id="23" name="Shape 21"/>
          <p:cNvSpPr/>
          <p:nvPr/>
        </p:nvSpPr>
        <p:spPr>
          <a:xfrm>
            <a:off x="777240" y="4841748"/>
            <a:ext cx="384048" cy="384048"/>
          </a:xfrm>
          <a:prstGeom prst="ellipse">
            <a:avLst/>
          </a:prstGeom>
          <a:solidFill>
            <a:srgbClr val="0E7C7B"/>
          </a:solidFill>
          <a:ln/>
        </p:spPr>
      </p:sp>
      <p:sp>
        <p:nvSpPr>
          <p:cNvPr id="24" name="Text 22"/>
          <p:cNvSpPr txBox="1"/>
          <p:nvPr/>
        </p:nvSpPr>
        <p:spPr>
          <a:xfrm>
            <a:off x="777240" y="48417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1371600" y="4690872"/>
            <a:ext cx="1920240" cy="6858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Research gap</a:t>
            </a:r>
            <a:endParaRPr lang="en-US" sz="1250" dirty="0"/>
          </a:p>
        </p:txBody>
      </p:sp>
      <p:sp>
        <p:nvSpPr>
          <p:cNvPr id="26" name="Text 24"/>
          <p:cNvSpPr txBox="1"/>
          <p:nvPr/>
        </p:nvSpPr>
        <p:spPr>
          <a:xfrm>
            <a:off x="3383280" y="4672584"/>
            <a:ext cx="4846320" cy="722376"/>
          </a:xfrm>
          <a:prstGeom prst="rect">
            <a:avLst/>
          </a:prstGeom>
          <a:noFill/>
          <a:ln/>
        </p:spPr>
        <p:txBody>
          <a:bodyPr wrap="square" lIns="0" tIns="0" rIns="0" bIns="0" rtlCol="0" anchor="ctr"/>
          <a:lstStyle/>
          <a:p>
            <a:pPr indent="0" marL="0">
              <a:lnSpc>
                <a:spcPct val="115000"/>
              </a:lnSpc>
              <a:buNone/>
            </a:pPr>
            <a:r>
              <a:rPr lang="en-US" sz="1100" dirty="0">
                <a:solidFill>
                  <a:srgbClr val="CFE0FA"/>
                </a:solidFill>
                <a:latin typeface="Calibri" pitchFamily="34" charset="0"/>
                <a:ea typeface="Calibri" pitchFamily="34" charset="-122"/>
                <a:cs typeface="Calibri" pitchFamily="34" charset="-120"/>
              </a:rPr>
              <a:t>No budget-aware, traffic-informed, per-document prioritization layer exists between 'detect' and 'fix' — and no safety gate ensures a chosen plan doesn't regress production quality before it ships.</a:t>
            </a:r>
            <a:endParaRPr lang="en-US" sz="1100" dirty="0"/>
          </a:p>
        </p:txBody>
      </p:sp>
      <p:sp>
        <p:nvSpPr>
          <p:cNvPr id="27" name="Shape 25"/>
          <p:cNvSpPr/>
          <p:nvPr/>
        </p:nvSpPr>
        <p:spPr>
          <a:xfrm>
            <a:off x="8503920" y="1554480"/>
            <a:ext cx="3154680" cy="4434840"/>
          </a:xfrm>
          <a:prstGeom prst="roundRect">
            <a:avLst>
              <a:gd name="adj" fmla="val 2319"/>
            </a:avLst>
          </a:prstGeom>
          <a:solidFill>
            <a:srgbClr val="E4F3F2"/>
          </a:solidFill>
          <a:ln/>
          <a:effectLst>
            <a:outerShdw sx="100000" sy="100000" kx="0" ky="0" algn="bl" rotWithShape="0" blurRad="101600" dist="38100" dir="5400000">
              <a:srgbClr val="1B2A56">
                <a:alpha val="12000"/>
              </a:srgbClr>
            </a:outerShdw>
          </a:effectLst>
        </p:spPr>
      </p:sp>
      <p:sp>
        <p:nvSpPr>
          <p:cNvPr id="28" name="Text 26"/>
          <p:cNvSpPr txBox="1"/>
          <p:nvPr/>
        </p:nvSpPr>
        <p:spPr>
          <a:xfrm>
            <a:off x="8732520" y="1737360"/>
            <a:ext cx="2743200" cy="274320"/>
          </a:xfrm>
          <a:prstGeom prst="rect">
            <a:avLst/>
          </a:prstGeom>
          <a:noFill/>
          <a:ln/>
        </p:spPr>
        <p:txBody>
          <a:bodyPr wrap="square" lIns="0" tIns="0" rIns="0" bIns="0" rtlCol="0" anchor="ctr"/>
          <a:lstStyle/>
          <a:p>
            <a:pPr indent="0" marL="0">
              <a:buNone/>
            </a:pPr>
            <a:r>
              <a:rPr lang="en-US" sz="1100" b="1" spc="150" kern="0" dirty="0">
                <a:solidFill>
                  <a:srgbClr val="0E7C7B"/>
                </a:solidFill>
                <a:latin typeface="Calibri" pitchFamily="34" charset="0"/>
                <a:ea typeface="Calibri" pitchFamily="34" charset="-122"/>
                <a:cs typeface="Calibri" pitchFamily="34" charset="-120"/>
              </a:rPr>
              <a:t>OUR CONTRIBUTION</a:t>
            </a:r>
            <a:endParaRPr lang="en-US" sz="1100" dirty="0"/>
          </a:p>
        </p:txBody>
      </p:sp>
      <p:sp>
        <p:nvSpPr>
          <p:cNvPr id="29" name="Text 27"/>
          <p:cNvSpPr txBox="1"/>
          <p:nvPr/>
        </p:nvSpPr>
        <p:spPr>
          <a:xfrm>
            <a:off x="8732520" y="2103120"/>
            <a:ext cx="2743200" cy="1737360"/>
          </a:xfrm>
          <a:prstGeom prst="rect">
            <a:avLst/>
          </a:prstGeom>
          <a:noFill/>
          <a:ln/>
        </p:spPr>
        <p:txBody>
          <a:bodyPr wrap="square" lIns="0" tIns="0" rIns="0" bIns="0" rtlCol="0" anchor="ctr"/>
          <a:lstStyle/>
          <a:p>
            <a:pPr indent="0" marL="0">
              <a:lnSpc>
                <a:spcPct val="125000"/>
              </a:lnSpc>
              <a:buNone/>
            </a:pPr>
            <a:r>
              <a:rPr lang="en-US" sz="1100" dirty="0">
                <a:solidFill>
                  <a:srgbClr val="1B2A56"/>
                </a:solidFill>
                <a:latin typeface="Calibri" pitchFamily="34" charset="0"/>
                <a:ea typeface="Calibri" pitchFamily="34" charset="-122"/>
                <a:cs typeface="Calibri" pitchFamily="34" charset="-120"/>
              </a:rPr>
              <a:t>A Multiple-Choice Knapsack formulation — {Full Re-embed, Patch, Defer} per document, one shared budget — solved exactly (ILP) and approximately (greedy), gated by automated shadow-build + verification.</a:t>
            </a:r>
            <a:endParaRPr lang="en-US" sz="1100" dirty="0"/>
          </a:p>
        </p:txBody>
      </p:sp>
      <p:sp>
        <p:nvSpPr>
          <p:cNvPr id="30" name="Shape 28"/>
          <p:cNvSpPr/>
          <p:nvPr/>
        </p:nvSpPr>
        <p:spPr>
          <a:xfrm>
            <a:off x="8732520" y="3977640"/>
            <a:ext cx="1719072" cy="292608"/>
          </a:xfrm>
          <a:prstGeom prst="roundRect">
            <a:avLst>
              <a:gd name="adj" fmla="val 50000"/>
            </a:avLst>
          </a:prstGeom>
          <a:solidFill>
            <a:srgbClr val="1E824C"/>
          </a:solidFill>
          <a:ln/>
        </p:spPr>
      </p:sp>
      <p:sp>
        <p:nvSpPr>
          <p:cNvPr id="31" name="Text 29"/>
          <p:cNvSpPr txBox="1"/>
          <p:nvPr/>
        </p:nvSpPr>
        <p:spPr>
          <a:xfrm>
            <a:off x="8732520" y="3977640"/>
            <a:ext cx="171907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NOW BUILT &amp; MEASURED</a:t>
            </a:r>
            <a:endParaRPr lang="en-US" sz="900" dirty="0"/>
          </a:p>
        </p:txBody>
      </p:sp>
      <p:sp>
        <p:nvSpPr>
          <p:cNvPr id="32" name="Text 30"/>
          <p:cNvSpPr txBox="1"/>
          <p:nvPr/>
        </p:nvSpPr>
        <p:spPr>
          <a:xfrm>
            <a:off x="8732520" y="4434840"/>
            <a:ext cx="2743200" cy="1463040"/>
          </a:xfrm>
          <a:prstGeom prst="rect">
            <a:avLst/>
          </a:prstGeom>
          <a:noFill/>
          <a:ln/>
        </p:spPr>
        <p:txBody>
          <a:bodyPr wrap="square" lIns="0" tIns="0" rIns="0" bIns="0" rtlCol="0" anchor="ctr"/>
          <a:lstStyle/>
          <a:p>
            <a:pPr indent="0" marL="0">
              <a:lnSpc>
                <a:spcPct val="120000"/>
              </a:lnSpc>
              <a:buNone/>
            </a:pPr>
            <a:r>
              <a:rPr lang="en-US" sz="950" i="1" dirty="0">
                <a:solidFill>
                  <a:srgbClr val="5A6472"/>
                </a:solidFill>
                <a:latin typeface="Calibri" pitchFamily="34" charset="0"/>
                <a:ea typeface="Calibri" pitchFamily="34" charset="-122"/>
                <a:cs typeface="Calibri" pitchFamily="34" charset="-120"/>
              </a:rPr>
              <a:t>Every claim on this slide is now backed by a real experiment, not just a design argument — see the results section ahead.</a:t>
            </a:r>
            <a:endParaRPr lang="en-US" sz="950" dirty="0"/>
          </a:p>
        </p:txBody>
      </p:sp>
      <p:sp>
        <p:nvSpPr>
          <p:cNvPr id="33" name="Text 3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34" name="Text 3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DETAILED LITERATURE REVIEW — 1 OF 2</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Literature Review — Detection &amp; Patching</a:t>
            </a:r>
            <a:endParaRPr lang="en-US" sz="3200" dirty="0"/>
          </a:p>
        </p:txBody>
      </p:sp>
      <p:sp>
        <p:nvSpPr>
          <p:cNvPr id="4" name="Text 2"/>
          <p:cNvSpPr txBox="1"/>
          <p:nvPr/>
        </p:nvSpPr>
        <p:spPr>
          <a:xfrm>
            <a:off x="548640" y="1280160"/>
            <a:ext cx="10972800"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7 of 15 sources — the papers directly targeting detection or repair of embedding contamination.</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4709160"/>
        </p:xfrm>
        <a:graphic>
          <a:graphicData uri="http://schemas.openxmlformats.org/drawingml/2006/table">
            <a:tbl>
              <a:tblPr/>
              <a:tblGrid>
                <a:gridCol w="1691640"/>
                <a:gridCol w="2788920"/>
                <a:gridCol w="2788920"/>
                <a:gridCol w="3840480"/>
              </a:tblGrid>
              <a:tr h="588645">
                <a:tc>
                  <a:txBody>
                    <a:bodyPr/>
                    <a:lstStyle/>
                    <a:p>
                      <a:pPr indent="0" marL="0">
                        <a:buNone/>
                      </a:pPr>
                      <a:r>
                        <a:rPr lang="en-US" sz="950" b="1" dirty="0">
                          <a:solidFill>
                            <a:srgbClr val="FFFFFF"/>
                          </a:solidFill>
                        </a:rPr>
                        <a:t>Source</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Core Concept</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Gap</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How We Address It</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r>
              <a:tr h="588645">
                <a:tc>
                  <a:txBody>
                    <a:bodyPr/>
                    <a:lstStyle/>
                    <a:p>
                      <a:pPr indent="0" marL="0">
                        <a:buNone/>
                      </a:pPr>
                      <a:r>
                        <a:rPr lang="en-US" sz="810" dirty="0">
                          <a:solidFill>
                            <a:srgbClr val="20242E"/>
                          </a:solidFill>
                        </a:rPr>
                        <a:t>Sun et al., 2022</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Non-parametric OOD detection via k-NN distance in embedding space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Detects anomalies only — doesn't decide what to do next</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Adapted as our Detection module's core scoring method — now built and measured (see Complexity slide)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10" dirty="0">
                          <a:solidFill>
                            <a:srgbClr val="20242E"/>
                          </a:solidFill>
                        </a:rPr>
                        <a:t>Lu et al., 2024</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Taxonomy of OOD-detection methods across ML domains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No treatment of embedding-generation-drift-specific detection</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Confirms KNN-OOD as a mature, well-grounded detector choice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10" dirty="0">
                          <a:solidFill>
                            <a:srgbClr val="20242E"/>
                          </a:solidFill>
                        </a:rPr>
                        <a:t>Liu et al., 2008</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Isolation Forest — isolates anomalies via random feature-space splits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General-purpose; untested on embedding-space anisotropy</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Evaluated as an alternative detector — real F1 comparison ahead</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10" dirty="0">
                          <a:solidFill>
                            <a:srgbClr val="20242E"/>
                          </a:solidFill>
                        </a:rPr>
                        <a:t>Breunig et al., 2000</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LOF — density-relative local outlier scoring</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Same generality gap; heavier compute than KNN-OOD</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Second alternative detector — real F1 comparison ahead</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10" dirty="0">
                          <a:solidFill>
                            <a:srgbClr val="20242E"/>
                          </a:solidFill>
                        </a:rPr>
                        <a:t>Vejendla, 2025</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Drift-Adapter — lightweight learned adapter cheaply realigns embeddings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One uniform fix for the whole corpus — no per-document choice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Adapted as our Patch action, gated by a budget decision</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10" dirty="0">
                          <a:solidFill>
                            <a:srgbClr val="20242E"/>
                          </a:solidFill>
                        </a:rPr>
                        <a:t>Hu et al., 2022</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Trains new models to stay backward-compatible with old embeddings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Needs control of model training — unusable with third-party APIs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Discussed as a complementary, prevention-side alternative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10" dirty="0">
                          <a:solidFill>
                            <a:srgbClr val="20242E"/>
                          </a:solidFill>
                        </a:rPr>
                        <a:t>Lample et al., 2018</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MUSE — orthogonal Procrustes alignment between spaces, no parallel data</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Built for cross-lingual spaces; assumes no budget constraint</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Theoretical foundation for our Patch action's alignment transform</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bl>
          </a:graphicData>
        </a:graphic>
      </p:graphicFrame>
      <p:sp>
        <p:nvSpPr>
          <p:cNvPr id="6"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7" name="Text 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DETAILED LITERATURE REVIEW — 2 OF 2</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Literature Review — Foundational Work</a:t>
            </a:r>
            <a:endParaRPr lang="en-US" sz="3200" dirty="0"/>
          </a:p>
        </p:txBody>
      </p:sp>
      <p:sp>
        <p:nvSpPr>
          <p:cNvPr id="4" name="Text 2"/>
          <p:cNvSpPr txBox="1"/>
          <p:nvPr/>
        </p:nvSpPr>
        <p:spPr>
          <a:xfrm>
            <a:off x="548640" y="1280160"/>
            <a:ext cx="10972800"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8 of 15 sources — systems, benchmarking, and Operations-Research foundations our design is built on.</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4160520"/>
        </p:xfrm>
        <a:graphic>
          <a:graphicData uri="http://schemas.openxmlformats.org/drawingml/2006/table">
            <a:tbl>
              <a:tblPr/>
              <a:tblGrid>
                <a:gridCol w="1691640"/>
                <a:gridCol w="2788920"/>
                <a:gridCol w="2788920"/>
                <a:gridCol w="3840480"/>
              </a:tblGrid>
              <a:tr h="462280">
                <a:tc>
                  <a:txBody>
                    <a:bodyPr/>
                    <a:lstStyle/>
                    <a:p>
                      <a:pPr indent="0" marL="0">
                        <a:buNone/>
                      </a:pPr>
                      <a:r>
                        <a:rPr lang="en-US" sz="950" b="1" dirty="0">
                          <a:solidFill>
                            <a:srgbClr val="FFFFFF"/>
                          </a:solidFill>
                        </a:rPr>
                        <a:t>Source</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Core Concept</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Gap</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How We Address It</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r>
              <a:tr h="462280">
                <a:tc>
                  <a:txBody>
                    <a:bodyPr/>
                    <a:lstStyle/>
                    <a:p>
                      <a:pPr indent="0" marL="0">
                        <a:buNone/>
                      </a:pPr>
                      <a:r>
                        <a:rPr lang="en-US" sz="770" dirty="0">
                          <a:solidFill>
                            <a:srgbClr val="20242E"/>
                          </a:solidFill>
                        </a:rPr>
                        <a:t>Malkov &amp; Yashunin, 2020</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HNSW — graph index for fast approximate nearest-neighbor search</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Assumes a geometrically consistent index — silently broken by contamination</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Names exactly why contamination is dangerous for the indexes we target</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Pan et al., 2024</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Survey of 20+ vector-database system architectures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No treatment of post-deployment embedding integrity</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Evidences real-world scale and relevance of the problem</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Muennighoff et al., 2023</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MTEB — unified benchmark for comparing embedding models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Static snapshot; doesn't test mixed-generation drift scenarios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Explains why models churn often — the practical trigger for our problem</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Wu et al., 2024</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Quantifies how retrieval quality affects RAG faithfulness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Doesn't address the retrieval-quality-degradation cause itself</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Motivates why contamination matters beyond raw metrics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Fuster Baggetto &amp; Fresno, 2022</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Tests whether embedding anisotropy actually harms retrieval</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Studied within one generation, not across mixed generations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Motivated our own mixed-generation anisotropy stress test (built — see results)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Sinha &amp; Zoltners, 1979</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Exact formulation for one-choice-per-group allocation under budget</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Purely theoretical — never applied to embedding remediation</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Mathematical core of Prioritization — now measured at 0.00% mean gap (max 0.14%)</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Breslau et al., 1999</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Real web traffic follows a Zipf (highly skewed) distribution</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About web objects, not vector-DB query traffic specifically</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Grounds the traffic-weighted benefit function used in our built scheduler</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Karval &amp; Singh, 2023</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Names 'silent failure' as a distinct, under-monitored ML risk category</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General MLOps treatment — not specific to vector databases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Provides the framing our Problem Statement applies directly</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bl>
          </a:graphicData>
        </a:graphic>
      </p:graphicFrame>
      <p:sp>
        <p:nvSpPr>
          <p:cNvPr id="6" name="Shape 3"/>
          <p:cNvSpPr/>
          <p:nvPr/>
        </p:nvSpPr>
        <p:spPr>
          <a:xfrm>
            <a:off x="548640" y="5943600"/>
            <a:ext cx="11109960" cy="594360"/>
          </a:xfrm>
          <a:prstGeom prst="roundRect">
            <a:avLst>
              <a:gd name="adj" fmla="val 12308"/>
            </a:avLst>
          </a:prstGeom>
          <a:solidFill>
            <a:srgbClr val="1B2A56"/>
          </a:solidFill>
          <a:ln/>
        </p:spPr>
      </p:sp>
      <p:sp>
        <p:nvSpPr>
          <p:cNvPr id="7" name="Text 4"/>
          <p:cNvSpPr txBox="1"/>
          <p:nvPr/>
        </p:nvSpPr>
        <p:spPr>
          <a:xfrm>
            <a:off x="777240" y="5943600"/>
            <a:ext cx="10652760" cy="594360"/>
          </a:xfrm>
          <a:prstGeom prst="rect">
            <a:avLst/>
          </a:prstGeom>
          <a:noFill/>
          <a:ln/>
        </p:spPr>
        <p:txBody>
          <a:bodyPr wrap="square" lIns="0" tIns="0" rIns="0" bIns="0" rtlCol="0" anchor="ctr"/>
          <a:lstStyle/>
          <a:p>
            <a:pPr indent="0" marL="0">
              <a:lnSpc>
                <a:spcPct val="115000"/>
              </a:lnSpc>
              <a:buNone/>
            </a:pPr>
            <a:r>
              <a:rPr lang="en-US" sz="1000" b="1" dirty="0">
                <a:solidFill>
                  <a:srgbClr val="E4F3F2"/>
                </a:solidFill>
                <a:latin typeface="Calibri" pitchFamily="34" charset="0"/>
                <a:ea typeface="Calibri" pitchFamily="34" charset="-122"/>
                <a:cs typeface="Calibri" pitchFamily="34" charset="-120"/>
              </a:rPr>
              <a:t>On the two highlighted rows above (1979, 1999): </a:t>
            </a:r>
            <a:pPr indent="0" marL="0">
              <a:lnSpc>
                <a:spcPct val="115000"/>
              </a:lnSpc>
              <a:buNone/>
            </a:pPr>
            <a:r>
              <a:rPr lang="en-US" sz="1000" dirty="0">
                <a:solidFill>
                  <a:srgbClr val="FFFFFF"/>
                </a:solidFill>
                <a:latin typeface="Calibri" pitchFamily="34" charset="0"/>
                <a:ea typeface="Calibri" pitchFamily="34" charset="-122"/>
                <a:cs typeface="Calibri" pitchFamily="34" charset="-120"/>
              </a:rPr>
              <a:t>foundational theorems don't expire. We cite them because we implement them — and Sinha &amp; Zoltners' 45-year-old formulation now measures at 0.00% mean optimality gap in our own built scheduler.</a:t>
            </a:r>
            <a:endParaRPr lang="en-US" sz="1000" dirty="0"/>
          </a:p>
        </p:txBody>
      </p:sp>
      <p:sp>
        <p:nvSpPr>
          <p:cNvPr id="8" name="Text 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9" name="Text 6"/>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DATASET DETAILS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Dataset &amp; Benchmark Construction</a:t>
            </a:r>
            <a:endParaRPr lang="en-US" sz="3200" dirty="0"/>
          </a:p>
        </p:txBody>
      </p:sp>
      <p:sp>
        <p:nvSpPr>
          <p:cNvPr id="4" name="Shape 2"/>
          <p:cNvSpPr/>
          <p:nvPr/>
        </p:nvSpPr>
        <p:spPr>
          <a:xfrm>
            <a:off x="548640" y="1554480"/>
            <a:ext cx="603504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5" name="Text 3"/>
          <p:cNvSpPr txBox="1"/>
          <p:nvPr/>
        </p:nvSpPr>
        <p:spPr>
          <a:xfrm>
            <a:off x="777240" y="1664208"/>
            <a:ext cx="557784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Corpus</a:t>
            </a:r>
            <a:endParaRPr lang="en-US" sz="1250" dirty="0"/>
          </a:p>
        </p:txBody>
      </p:sp>
      <p:sp>
        <p:nvSpPr>
          <p:cNvPr id="6" name="Text 4"/>
          <p:cNvSpPr txBox="1"/>
          <p:nvPr/>
        </p:nvSpPr>
        <p:spPr>
          <a:xfrm>
            <a:off x="777240" y="1975104"/>
            <a:ext cx="5577840" cy="685800"/>
          </a:xfrm>
          <a:prstGeom prst="rect">
            <a:avLst/>
          </a:prstGeom>
          <a:noFill/>
          <a:ln/>
        </p:spPr>
        <p:txBody>
          <a:bodyPr wrap="square" lIns="0" tIns="0" rIns="0" bIns="0" rtlCol="0" anchor="ctr"/>
          <a:lstStyle/>
          <a:p>
            <a:pPr indent="0" marL="0">
              <a:lnSpc>
                <a:spcPct val="118000"/>
              </a:lnSpc>
              <a:buNone/>
            </a:pPr>
            <a:r>
              <a:rPr lang="en-US" sz="1000" dirty="0">
                <a:solidFill>
                  <a:srgbClr val="20242E"/>
                </a:solidFill>
                <a:latin typeface="Calibri" pitchFamily="34" charset="0"/>
                <a:ea typeface="Calibri" pitchFamily="34" charset="-122"/>
                <a:cs typeface="Calibri" pitchFamily="34" charset="-120"/>
              </a:rPr>
              <a:t>BEIR SciFact — a real, peer-reviewed IR benchmark with genuine relevance judgments (qrels), not synthetic labels.</a:t>
            </a:r>
            <a:endParaRPr lang="en-US" sz="1000" dirty="0"/>
          </a:p>
        </p:txBody>
      </p:sp>
      <p:sp>
        <p:nvSpPr>
          <p:cNvPr id="7" name="Shape 5"/>
          <p:cNvSpPr/>
          <p:nvPr/>
        </p:nvSpPr>
        <p:spPr>
          <a:xfrm>
            <a:off x="548640" y="2852928"/>
            <a:ext cx="603504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8" name="Text 6"/>
          <p:cNvSpPr txBox="1"/>
          <p:nvPr/>
        </p:nvSpPr>
        <p:spPr>
          <a:xfrm>
            <a:off x="777240" y="2962656"/>
            <a:ext cx="557784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Scale</a:t>
            </a:r>
            <a:endParaRPr lang="en-US" sz="1250" dirty="0"/>
          </a:p>
        </p:txBody>
      </p:sp>
      <p:sp>
        <p:nvSpPr>
          <p:cNvPr id="9" name="Text 7"/>
          <p:cNvSpPr txBox="1"/>
          <p:nvPr/>
        </p:nvSpPr>
        <p:spPr>
          <a:xfrm>
            <a:off x="777240" y="3273552"/>
            <a:ext cx="5577840" cy="685800"/>
          </a:xfrm>
          <a:prstGeom prst="rect">
            <a:avLst/>
          </a:prstGeom>
          <a:noFill/>
          <a:ln/>
        </p:spPr>
        <p:txBody>
          <a:bodyPr wrap="square" lIns="0" tIns="0" rIns="0" bIns="0" rtlCol="0" anchor="ctr"/>
          <a:lstStyle/>
          <a:p>
            <a:pPr indent="0" marL="0">
              <a:lnSpc>
                <a:spcPct val="118000"/>
              </a:lnSpc>
              <a:buNone/>
            </a:pPr>
            <a:r>
              <a:rPr lang="en-US" sz="1000" dirty="0">
                <a:solidFill>
                  <a:srgbClr val="20242E"/>
                </a:solidFill>
                <a:latin typeface="Calibri" pitchFamily="34" charset="0"/>
                <a:ea typeface="Calibri" pitchFamily="34" charset="-122"/>
                <a:cs typeface="Calibri" pitchFamily="34" charset="-120"/>
              </a:rPr>
              <a:t>5,000 documents — a deliberate subsample that keeps the exact-ILP baseline solvable for direct optimality comparison, while remaining a meaningful evaluation.</a:t>
            </a:r>
            <a:endParaRPr lang="en-US" sz="1000" dirty="0"/>
          </a:p>
        </p:txBody>
      </p:sp>
      <p:sp>
        <p:nvSpPr>
          <p:cNvPr id="10" name="Shape 8"/>
          <p:cNvSpPr/>
          <p:nvPr/>
        </p:nvSpPr>
        <p:spPr>
          <a:xfrm>
            <a:off x="548640" y="4151376"/>
            <a:ext cx="603504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11" name="Text 9"/>
          <p:cNvSpPr txBox="1"/>
          <p:nvPr/>
        </p:nvSpPr>
        <p:spPr>
          <a:xfrm>
            <a:off x="777240" y="4261104"/>
            <a:ext cx="557784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Embedding generations</a:t>
            </a:r>
            <a:endParaRPr lang="en-US" sz="1250" dirty="0"/>
          </a:p>
        </p:txBody>
      </p:sp>
      <p:sp>
        <p:nvSpPr>
          <p:cNvPr id="12" name="Text 10"/>
          <p:cNvSpPr txBox="1"/>
          <p:nvPr/>
        </p:nvSpPr>
        <p:spPr>
          <a:xfrm>
            <a:off x="777240" y="4572000"/>
            <a:ext cx="5577840" cy="685800"/>
          </a:xfrm>
          <a:prstGeom prst="rect">
            <a:avLst/>
          </a:prstGeom>
          <a:noFill/>
          <a:ln/>
        </p:spPr>
        <p:txBody>
          <a:bodyPr wrap="square" lIns="0" tIns="0" rIns="0" bIns="0" rtlCol="0" anchor="ctr"/>
          <a:lstStyle/>
          <a:p>
            <a:pPr indent="0" marL="0">
              <a:lnSpc>
                <a:spcPct val="118000"/>
              </a:lnSpc>
              <a:buNone/>
            </a:pPr>
            <a:r>
              <a:rPr lang="en-US" sz="1000" dirty="0">
                <a:solidFill>
                  <a:srgbClr val="20242E"/>
                </a:solidFill>
                <a:latin typeface="Calibri" pitchFamily="34" charset="0"/>
                <a:ea typeface="Calibri" pitchFamily="34" charset="-122"/>
                <a:cs typeface="Calibri" pitchFamily="34" charset="-120"/>
              </a:rPr>
              <a:t>Generation A = all-MiniLM-L6-v2, Generation B = all-MiniLM-L12-v2 — two real, open sentence-transformer models, standing in for 'old' and 'new' provider versions.</a:t>
            </a:r>
            <a:endParaRPr lang="en-US" sz="1000" dirty="0"/>
          </a:p>
        </p:txBody>
      </p:sp>
      <p:sp>
        <p:nvSpPr>
          <p:cNvPr id="13" name="Shape 11"/>
          <p:cNvSpPr/>
          <p:nvPr/>
        </p:nvSpPr>
        <p:spPr>
          <a:xfrm>
            <a:off x="548640" y="5449824"/>
            <a:ext cx="603504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14" name="Text 12"/>
          <p:cNvSpPr txBox="1"/>
          <p:nvPr/>
        </p:nvSpPr>
        <p:spPr>
          <a:xfrm>
            <a:off x="777240" y="5559552"/>
            <a:ext cx="557784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Reproducibility</a:t>
            </a:r>
            <a:endParaRPr lang="en-US" sz="1250" dirty="0"/>
          </a:p>
        </p:txBody>
      </p:sp>
      <p:sp>
        <p:nvSpPr>
          <p:cNvPr id="15" name="Text 13"/>
          <p:cNvSpPr txBox="1"/>
          <p:nvPr/>
        </p:nvSpPr>
        <p:spPr>
          <a:xfrm>
            <a:off x="777240" y="5870448"/>
            <a:ext cx="5577840" cy="685800"/>
          </a:xfrm>
          <a:prstGeom prst="rect">
            <a:avLst/>
          </a:prstGeom>
          <a:noFill/>
          <a:ln/>
        </p:spPr>
        <p:txBody>
          <a:bodyPr wrap="square" lIns="0" tIns="0" rIns="0" bIns="0" rtlCol="0" anchor="ctr"/>
          <a:lstStyle/>
          <a:p>
            <a:pPr indent="0" marL="0">
              <a:lnSpc>
                <a:spcPct val="118000"/>
              </a:lnSpc>
              <a:buNone/>
            </a:pPr>
            <a:r>
              <a:rPr lang="en-US" sz="1000" dirty="0">
                <a:solidFill>
                  <a:srgbClr val="20242E"/>
                </a:solidFill>
                <a:latin typeface="Calibri" pitchFamily="34" charset="0"/>
                <a:ea typeface="Calibri" pitchFamily="34" charset="-122"/>
                <a:cs typeface="Calibri" pitchFamily="34" charset="-120"/>
              </a:rPr>
              <a:t>Fixed seed (42) across every experiment; fully scripted corpus construction, contamination injection, and evaluation — deterministic and re-runnable.</a:t>
            </a:r>
            <a:endParaRPr lang="en-US" sz="1000" dirty="0"/>
          </a:p>
        </p:txBody>
      </p:sp>
      <p:sp>
        <p:nvSpPr>
          <p:cNvPr id="16" name="Shape 14"/>
          <p:cNvSpPr/>
          <p:nvPr/>
        </p:nvSpPr>
        <p:spPr>
          <a:xfrm>
            <a:off x="6903720" y="1554480"/>
            <a:ext cx="4754880" cy="5193792"/>
          </a:xfrm>
          <a:prstGeom prst="roundRect">
            <a:avLst>
              <a:gd name="adj" fmla="val 1538"/>
            </a:avLst>
          </a:prstGeom>
          <a:solidFill>
            <a:srgbClr val="1B2A56"/>
          </a:solidFill>
          <a:ln/>
        </p:spPr>
      </p:sp>
      <p:sp>
        <p:nvSpPr>
          <p:cNvPr id="17" name="Text 15"/>
          <p:cNvSpPr txBox="1"/>
          <p:nvPr/>
        </p:nvSpPr>
        <p:spPr>
          <a:xfrm>
            <a:off x="7178040" y="1737360"/>
            <a:ext cx="4206240" cy="274320"/>
          </a:xfrm>
          <a:prstGeom prst="rect">
            <a:avLst/>
          </a:prstGeom>
          <a:noFill/>
          <a:ln/>
        </p:spPr>
        <p:txBody>
          <a:bodyPr wrap="square" lIns="0" tIns="0" rIns="0" bIns="0" rtlCol="0" anchor="ctr"/>
          <a:lstStyle/>
          <a:p>
            <a:pPr indent="0" marL="0">
              <a:buNone/>
            </a:pPr>
            <a:r>
              <a:rPr lang="en-US" sz="1100" b="1" spc="150" kern="0" dirty="0">
                <a:solidFill>
                  <a:srgbClr val="CFE0FA"/>
                </a:solidFill>
                <a:latin typeface="Calibri" pitchFamily="34" charset="0"/>
                <a:ea typeface="Calibri" pitchFamily="34" charset="-122"/>
                <a:cs typeface="Calibri" pitchFamily="34" charset="-120"/>
              </a:rPr>
              <a:t>EXPERIMENTAL SWEEP</a:t>
            </a:r>
            <a:endParaRPr lang="en-US" sz="1100" dirty="0"/>
          </a:p>
        </p:txBody>
      </p:sp>
      <p:sp>
        <p:nvSpPr>
          <p:cNvPr id="18" name="Text 16"/>
          <p:cNvSpPr txBox="1"/>
          <p:nvPr/>
        </p:nvSpPr>
        <p:spPr>
          <a:xfrm>
            <a:off x="7178040" y="2103120"/>
            <a:ext cx="42062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Contamination ratios tested</a:t>
            </a:r>
            <a:endParaRPr lang="en-US" sz="1100" dirty="0"/>
          </a:p>
        </p:txBody>
      </p:sp>
      <p:sp>
        <p:nvSpPr>
          <p:cNvPr id="19" name="Text 17"/>
          <p:cNvSpPr txBox="1"/>
          <p:nvPr/>
        </p:nvSpPr>
        <p:spPr>
          <a:xfrm>
            <a:off x="7178040" y="2377440"/>
            <a:ext cx="4206240" cy="566928"/>
          </a:xfrm>
          <a:prstGeom prst="rect">
            <a:avLst/>
          </a:prstGeom>
          <a:noFill/>
          <a:ln/>
        </p:spPr>
        <p:txBody>
          <a:bodyPr wrap="square" lIns="0" tIns="0" rIns="0" bIns="0" rtlCol="0" anchor="ctr"/>
          <a:lstStyle/>
          <a:p>
            <a:pPr indent="0" marL="0">
              <a:lnSpc>
                <a:spcPct val="115000"/>
              </a:lnSpc>
              <a:buNone/>
            </a:pPr>
            <a:r>
              <a:rPr lang="en-US" sz="950" dirty="0">
                <a:solidFill>
                  <a:srgbClr val="CFE0FA"/>
                </a:solidFill>
                <a:latin typeface="Calibri" pitchFamily="34" charset="0"/>
                <a:ea typeface="Calibri" pitchFamily="34" charset="-122"/>
                <a:cs typeface="Calibri" pitchFamily="34" charset="-120"/>
              </a:rPr>
              <a:t>5%, 10%, 20%, 35%, 50%</a:t>
            </a:r>
            <a:endParaRPr lang="en-US" sz="950" dirty="0"/>
          </a:p>
        </p:txBody>
      </p:sp>
      <p:sp>
        <p:nvSpPr>
          <p:cNvPr id="20" name="Text 18"/>
          <p:cNvSpPr txBox="1"/>
          <p:nvPr/>
        </p:nvSpPr>
        <p:spPr>
          <a:xfrm>
            <a:off x="7178040" y="2999232"/>
            <a:ext cx="42062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Remediation budget levels tested</a:t>
            </a:r>
            <a:endParaRPr lang="en-US" sz="1100" dirty="0"/>
          </a:p>
        </p:txBody>
      </p:sp>
      <p:sp>
        <p:nvSpPr>
          <p:cNvPr id="21" name="Text 19"/>
          <p:cNvSpPr txBox="1"/>
          <p:nvPr/>
        </p:nvSpPr>
        <p:spPr>
          <a:xfrm>
            <a:off x="7178040" y="3273552"/>
            <a:ext cx="4206240" cy="566928"/>
          </a:xfrm>
          <a:prstGeom prst="rect">
            <a:avLst/>
          </a:prstGeom>
          <a:noFill/>
          <a:ln/>
        </p:spPr>
        <p:txBody>
          <a:bodyPr wrap="square" lIns="0" tIns="0" rIns="0" bIns="0" rtlCol="0" anchor="ctr"/>
          <a:lstStyle/>
          <a:p>
            <a:pPr indent="0" marL="0">
              <a:lnSpc>
                <a:spcPct val="115000"/>
              </a:lnSpc>
              <a:buNone/>
            </a:pPr>
            <a:r>
              <a:rPr lang="en-US" sz="950" dirty="0">
                <a:solidFill>
                  <a:srgbClr val="CFE0FA"/>
                </a:solidFill>
                <a:latin typeface="Calibri" pitchFamily="34" charset="0"/>
                <a:ea typeface="Calibri" pitchFamily="34" charset="-122"/>
                <a:cs typeface="Calibri" pitchFamily="34" charset="-120"/>
              </a:rPr>
              <a:t>10%, 20%, 30%, 50%, 75%, 100%</a:t>
            </a:r>
            <a:endParaRPr lang="en-US" sz="950" dirty="0"/>
          </a:p>
        </p:txBody>
      </p:sp>
      <p:sp>
        <p:nvSpPr>
          <p:cNvPr id="22" name="Text 20"/>
          <p:cNvSpPr txBox="1"/>
          <p:nvPr/>
        </p:nvSpPr>
        <p:spPr>
          <a:xfrm>
            <a:off x="7178040" y="3895344"/>
            <a:ext cx="42062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Query traffic model</a:t>
            </a:r>
            <a:endParaRPr lang="en-US" sz="1100" dirty="0"/>
          </a:p>
        </p:txBody>
      </p:sp>
      <p:sp>
        <p:nvSpPr>
          <p:cNvPr id="23" name="Text 21"/>
          <p:cNvSpPr txBox="1"/>
          <p:nvPr/>
        </p:nvSpPr>
        <p:spPr>
          <a:xfrm>
            <a:off x="7178040" y="4169664"/>
            <a:ext cx="4206240" cy="566928"/>
          </a:xfrm>
          <a:prstGeom prst="rect">
            <a:avLst/>
          </a:prstGeom>
          <a:noFill/>
          <a:ln/>
        </p:spPr>
        <p:txBody>
          <a:bodyPr wrap="square" lIns="0" tIns="0" rIns="0" bIns="0" rtlCol="0" anchor="ctr"/>
          <a:lstStyle/>
          <a:p>
            <a:pPr indent="0" marL="0">
              <a:lnSpc>
                <a:spcPct val="115000"/>
              </a:lnSpc>
              <a:buNone/>
            </a:pPr>
            <a:r>
              <a:rPr lang="en-US" sz="950" dirty="0">
                <a:solidFill>
                  <a:srgbClr val="CFE0FA"/>
                </a:solidFill>
                <a:latin typeface="Calibri" pitchFamily="34" charset="0"/>
                <a:ea typeface="Calibri" pitchFamily="34" charset="-122"/>
                <a:cs typeface="Calibri" pitchFamily="34" charset="-120"/>
              </a:rPr>
              <a:t>Zipf-distributed synthetic traffic (Breslau et al., 1999) — a small fraction of documents receive most simulated query volume</a:t>
            </a:r>
            <a:endParaRPr lang="en-US" sz="950" dirty="0"/>
          </a:p>
        </p:txBody>
      </p:sp>
      <p:sp>
        <p:nvSpPr>
          <p:cNvPr id="24" name="Text 22"/>
          <p:cNvSpPr txBox="1"/>
          <p:nvPr/>
        </p:nvSpPr>
        <p:spPr>
          <a:xfrm>
            <a:off x="7178040" y="4791456"/>
            <a:ext cx="42062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Evaluation metrics</a:t>
            </a:r>
            <a:endParaRPr lang="en-US" sz="1100" dirty="0"/>
          </a:p>
        </p:txBody>
      </p:sp>
      <p:sp>
        <p:nvSpPr>
          <p:cNvPr id="25" name="Text 23"/>
          <p:cNvSpPr txBox="1"/>
          <p:nvPr/>
        </p:nvSpPr>
        <p:spPr>
          <a:xfrm>
            <a:off x="7178040" y="5065776"/>
            <a:ext cx="4206240" cy="566928"/>
          </a:xfrm>
          <a:prstGeom prst="rect">
            <a:avLst/>
          </a:prstGeom>
          <a:noFill/>
          <a:ln/>
        </p:spPr>
        <p:txBody>
          <a:bodyPr wrap="square" lIns="0" tIns="0" rIns="0" bIns="0" rtlCol="0" anchor="ctr"/>
          <a:lstStyle/>
          <a:p>
            <a:pPr indent="0" marL="0">
              <a:lnSpc>
                <a:spcPct val="115000"/>
              </a:lnSpc>
              <a:buNone/>
            </a:pPr>
            <a:r>
              <a:rPr lang="en-US" sz="950" dirty="0">
                <a:solidFill>
                  <a:srgbClr val="CFE0FA"/>
                </a:solidFill>
                <a:latin typeface="Calibri" pitchFamily="34" charset="0"/>
                <a:ea typeface="Calibri" pitchFamily="34" charset="-122"/>
                <a:cs typeface="Calibri" pitchFamily="34" charset="-120"/>
              </a:rPr>
              <a:t>nDCG@10 and Recall@10, both unweighted and traffic-weighted</a:t>
            </a:r>
            <a:endParaRPr lang="en-US" sz="950" dirty="0"/>
          </a:p>
        </p:txBody>
      </p:sp>
      <p:sp>
        <p:nvSpPr>
          <p:cNvPr id="26" name="Text 24"/>
          <p:cNvSpPr txBox="1"/>
          <p:nvPr/>
        </p:nvSpPr>
        <p:spPr>
          <a:xfrm>
            <a:off x="7178040" y="5687568"/>
            <a:ext cx="42062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Total evaluated combinations</a:t>
            </a:r>
            <a:endParaRPr lang="en-US" sz="1100" dirty="0"/>
          </a:p>
        </p:txBody>
      </p:sp>
      <p:sp>
        <p:nvSpPr>
          <p:cNvPr id="27" name="Text 25"/>
          <p:cNvSpPr txBox="1"/>
          <p:nvPr/>
        </p:nvSpPr>
        <p:spPr>
          <a:xfrm>
            <a:off x="7178040" y="5961888"/>
            <a:ext cx="4206240" cy="566928"/>
          </a:xfrm>
          <a:prstGeom prst="rect">
            <a:avLst/>
          </a:prstGeom>
          <a:noFill/>
          <a:ln/>
        </p:spPr>
        <p:txBody>
          <a:bodyPr wrap="square" lIns="0" tIns="0" rIns="0" bIns="0" rtlCol="0" anchor="ctr"/>
          <a:lstStyle/>
          <a:p>
            <a:pPr indent="0" marL="0">
              <a:lnSpc>
                <a:spcPct val="115000"/>
              </a:lnSpc>
              <a:buNone/>
            </a:pPr>
            <a:r>
              <a:rPr lang="en-US" sz="950" dirty="0">
                <a:solidFill>
                  <a:srgbClr val="CFE0FA"/>
                </a:solidFill>
                <a:latin typeface="Calibri" pitchFamily="34" charset="0"/>
                <a:ea typeface="Calibri" pitchFamily="34" charset="-122"/>
                <a:cs typeface="Calibri" pitchFamily="34" charset="-120"/>
              </a:rPr>
              <a:t>5 ratios × 6 budget levels = 30 scenarios per method, run to completion</a:t>
            </a:r>
            <a:endParaRPr lang="en-US" sz="950" dirty="0"/>
          </a:p>
        </p:txBody>
      </p:sp>
      <p:sp>
        <p:nvSpPr>
          <p:cNvPr id="28" name="Text 26"/>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29" name="Text 27"/>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SYSTEM ARCHITECTURE AND WORKFLOW</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System Architecture &amp; Workflow</a:t>
            </a:r>
            <a:endParaRPr lang="en-US" sz="3200" dirty="0"/>
          </a:p>
        </p:txBody>
      </p:sp>
      <p:sp>
        <p:nvSpPr>
          <p:cNvPr id="4" name="Shape 2"/>
          <p:cNvSpPr/>
          <p:nvPr/>
        </p:nvSpPr>
        <p:spPr>
          <a:xfrm>
            <a:off x="10058400" y="731520"/>
            <a:ext cx="1344168" cy="292608"/>
          </a:xfrm>
          <a:prstGeom prst="roundRect">
            <a:avLst>
              <a:gd name="adj" fmla="val 50000"/>
            </a:avLst>
          </a:prstGeom>
          <a:solidFill>
            <a:srgbClr val="1E824C"/>
          </a:solidFill>
          <a:ln/>
        </p:spPr>
      </p:sp>
      <p:sp>
        <p:nvSpPr>
          <p:cNvPr id="5" name="Text 3"/>
          <p:cNvSpPr txBox="1"/>
          <p:nvPr/>
        </p:nvSpPr>
        <p:spPr>
          <a:xfrm>
            <a:off x="10058400" y="731520"/>
            <a:ext cx="134416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 &amp; RUNNING</a:t>
            </a:r>
            <a:endParaRPr lang="en-US" sz="900" dirty="0"/>
          </a:p>
        </p:txBody>
      </p:sp>
      <p:sp>
        <p:nvSpPr>
          <p:cNvPr id="6" name="Shape 4"/>
          <p:cNvSpPr/>
          <p:nvPr/>
        </p:nvSpPr>
        <p:spPr>
          <a:xfrm>
            <a:off x="548640" y="1691640"/>
            <a:ext cx="1783080" cy="914400"/>
          </a:xfrm>
          <a:prstGeom prst="roundRect">
            <a:avLst>
              <a:gd name="adj" fmla="val 9000"/>
            </a:avLst>
          </a:prstGeom>
          <a:solidFill>
            <a:srgbClr val="F4F7FC"/>
          </a:solidFill>
          <a:ln/>
        </p:spPr>
      </p:sp>
      <p:sp>
        <p:nvSpPr>
          <p:cNvPr id="7" name="Text 5"/>
          <p:cNvSpPr txBox="1"/>
          <p:nvPr/>
        </p:nvSpPr>
        <p:spPr>
          <a:xfrm>
            <a:off x="548640" y="1691640"/>
            <a:ext cx="1783080" cy="914400"/>
          </a:xfrm>
          <a:prstGeom prst="rect">
            <a:avLst/>
          </a:prstGeom>
          <a:noFill/>
          <a:ln/>
        </p:spPr>
        <p:txBody>
          <a:bodyPr wrap="square" lIns="0" tIns="0" rIns="0" bIns="0" rtlCol="0" anchor="ctr"/>
          <a:lstStyle/>
          <a:p>
            <a:pPr algn="ctr" indent="0" marL="0">
              <a:buNone/>
            </a:pPr>
            <a:r>
              <a:rPr lang="en-US" sz="1300" b="1" dirty="0">
                <a:solidFill>
                  <a:srgbClr val="20242E"/>
                </a:solidFill>
                <a:latin typeface="Calibri" pitchFamily="34" charset="0"/>
                <a:ea typeface="Calibri" pitchFamily="34" charset="-122"/>
                <a:cs typeface="Calibri" pitchFamily="34" charset="-120"/>
              </a:rPr>
              <a:t>Live Vector</a:t>
            </a:r>
            <a:endParaRPr lang="en-US" sz="1300" dirty="0"/>
          </a:p>
          <a:p>
            <a:pPr algn="ctr" indent="0" marL="0">
              <a:buNone/>
            </a:pPr>
            <a:r>
              <a:rPr lang="en-US" sz="1300" b="1" dirty="0">
                <a:solidFill>
                  <a:srgbClr val="20242E"/>
                </a:solidFill>
                <a:latin typeface="Calibri" pitchFamily="34" charset="0"/>
                <a:ea typeface="Calibri" pitchFamily="34" charset="-122"/>
                <a:cs typeface="Calibri" pitchFamily="34" charset="-120"/>
              </a:rPr>
              <a:t>Database</a:t>
            </a:r>
            <a:endParaRPr lang="en-US" sz="1300" dirty="0"/>
          </a:p>
        </p:txBody>
      </p:sp>
      <p:sp>
        <p:nvSpPr>
          <p:cNvPr id="8" name="Text 6"/>
          <p:cNvSpPr txBox="1"/>
          <p:nvPr/>
        </p:nvSpPr>
        <p:spPr>
          <a:xfrm>
            <a:off x="2331720" y="1691640"/>
            <a:ext cx="384048" cy="914400"/>
          </a:xfrm>
          <a:prstGeom prst="rect">
            <a:avLst/>
          </a:prstGeom>
          <a:noFill/>
          <a:ln/>
        </p:spPr>
        <p:txBody>
          <a:bodyPr wrap="square" lIns="0" tIns="0" rIns="0" bIns="0" rtlCol="0" anchor="ctr"/>
          <a:lstStyle/>
          <a:p>
            <a:pPr algn="ctr" indent="0" marL="0">
              <a:buNone/>
            </a:pPr>
            <a:r>
              <a:rPr lang="en-US" sz="2000" b="1" dirty="0">
                <a:solidFill>
                  <a:srgbClr val="1B2A56"/>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2715768" y="1691640"/>
            <a:ext cx="1783080" cy="914400"/>
          </a:xfrm>
          <a:prstGeom prst="roundRect">
            <a:avLst>
              <a:gd name="adj" fmla="val 9000"/>
            </a:avLst>
          </a:prstGeom>
          <a:solidFill>
            <a:srgbClr val="0E7C7B"/>
          </a:solidFill>
          <a:ln/>
        </p:spPr>
      </p:sp>
      <p:sp>
        <p:nvSpPr>
          <p:cNvPr id="10" name="Text 8"/>
          <p:cNvSpPr txBox="1"/>
          <p:nvPr/>
        </p:nvSpPr>
        <p:spPr>
          <a:xfrm>
            <a:off x="2715768" y="1691640"/>
            <a:ext cx="17830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Detect</a:t>
            </a:r>
            <a:endParaRPr lang="en-US" sz="1300" dirty="0"/>
          </a:p>
        </p:txBody>
      </p:sp>
      <p:sp>
        <p:nvSpPr>
          <p:cNvPr id="11" name="Text 9"/>
          <p:cNvSpPr txBox="1"/>
          <p:nvPr/>
        </p:nvSpPr>
        <p:spPr>
          <a:xfrm>
            <a:off x="4498848" y="1691640"/>
            <a:ext cx="384048" cy="914400"/>
          </a:xfrm>
          <a:prstGeom prst="rect">
            <a:avLst/>
          </a:prstGeom>
          <a:noFill/>
          <a:ln/>
        </p:spPr>
        <p:txBody>
          <a:bodyPr wrap="square" lIns="0" tIns="0" rIns="0" bIns="0" rtlCol="0" anchor="ctr"/>
          <a:lstStyle/>
          <a:p>
            <a:pPr algn="ctr" indent="0" marL="0">
              <a:buNone/>
            </a:pPr>
            <a:r>
              <a:rPr lang="en-US" sz="2000" b="1" dirty="0">
                <a:solidFill>
                  <a:srgbClr val="1B2A5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4882896" y="1691640"/>
            <a:ext cx="1783080" cy="914400"/>
          </a:xfrm>
          <a:prstGeom prst="roundRect">
            <a:avLst>
              <a:gd name="adj" fmla="val 9000"/>
            </a:avLst>
          </a:prstGeom>
          <a:solidFill>
            <a:srgbClr val="1B2A56"/>
          </a:solidFill>
          <a:ln/>
        </p:spPr>
      </p:sp>
      <p:sp>
        <p:nvSpPr>
          <p:cNvPr id="13" name="Text 11"/>
          <p:cNvSpPr txBox="1"/>
          <p:nvPr/>
        </p:nvSpPr>
        <p:spPr>
          <a:xfrm>
            <a:off x="4882896" y="1691640"/>
            <a:ext cx="17830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Prioritize</a:t>
            </a:r>
            <a:endParaRPr lang="en-US" sz="1300" dirty="0"/>
          </a:p>
        </p:txBody>
      </p:sp>
      <p:sp>
        <p:nvSpPr>
          <p:cNvPr id="14" name="Text 12"/>
          <p:cNvSpPr txBox="1"/>
          <p:nvPr/>
        </p:nvSpPr>
        <p:spPr>
          <a:xfrm>
            <a:off x="6665976" y="1691640"/>
            <a:ext cx="384048" cy="914400"/>
          </a:xfrm>
          <a:prstGeom prst="rect">
            <a:avLst/>
          </a:prstGeom>
          <a:noFill/>
          <a:ln/>
        </p:spPr>
        <p:txBody>
          <a:bodyPr wrap="square" lIns="0" tIns="0" rIns="0" bIns="0" rtlCol="0" anchor="ctr"/>
          <a:lstStyle/>
          <a:p>
            <a:pPr algn="ctr" indent="0" marL="0">
              <a:buNone/>
            </a:pPr>
            <a:r>
              <a:rPr lang="en-US" sz="2000" b="1" dirty="0">
                <a:solidFill>
                  <a:srgbClr val="1B2A56"/>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7050024" y="1691640"/>
            <a:ext cx="1783080" cy="914400"/>
          </a:xfrm>
          <a:prstGeom prst="roundRect">
            <a:avLst>
              <a:gd name="adj" fmla="val 9000"/>
            </a:avLst>
          </a:prstGeom>
          <a:solidFill>
            <a:srgbClr val="C97A22"/>
          </a:solidFill>
          <a:ln/>
        </p:spPr>
      </p:sp>
      <p:sp>
        <p:nvSpPr>
          <p:cNvPr id="16" name="Text 14"/>
          <p:cNvSpPr txBox="1"/>
          <p:nvPr/>
        </p:nvSpPr>
        <p:spPr>
          <a:xfrm>
            <a:off x="7050024" y="1691640"/>
            <a:ext cx="17830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Migrate</a:t>
            </a:r>
            <a:endParaRPr lang="en-US" sz="1300" dirty="0"/>
          </a:p>
        </p:txBody>
      </p:sp>
      <p:sp>
        <p:nvSpPr>
          <p:cNvPr id="17" name="Text 15"/>
          <p:cNvSpPr txBox="1"/>
          <p:nvPr/>
        </p:nvSpPr>
        <p:spPr>
          <a:xfrm>
            <a:off x="8833104" y="1691640"/>
            <a:ext cx="384048" cy="914400"/>
          </a:xfrm>
          <a:prstGeom prst="rect">
            <a:avLst/>
          </a:prstGeom>
          <a:noFill/>
          <a:ln/>
        </p:spPr>
        <p:txBody>
          <a:bodyPr wrap="square" lIns="0" tIns="0" rIns="0" bIns="0" rtlCol="0" anchor="ctr"/>
          <a:lstStyle/>
          <a:p>
            <a:pPr algn="ctr" indent="0" marL="0">
              <a:buNone/>
            </a:pPr>
            <a:r>
              <a:rPr lang="en-US" sz="2000" b="1" dirty="0">
                <a:solidFill>
                  <a:srgbClr val="1B2A56"/>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9217152" y="1691640"/>
            <a:ext cx="1783080" cy="914400"/>
          </a:xfrm>
          <a:prstGeom prst="roundRect">
            <a:avLst>
              <a:gd name="adj" fmla="val 9000"/>
            </a:avLst>
          </a:prstGeom>
          <a:solidFill>
            <a:srgbClr val="B3261E"/>
          </a:solidFill>
          <a:ln/>
        </p:spPr>
      </p:sp>
      <p:sp>
        <p:nvSpPr>
          <p:cNvPr id="19" name="Text 17"/>
          <p:cNvSpPr txBox="1"/>
          <p:nvPr/>
        </p:nvSpPr>
        <p:spPr>
          <a:xfrm>
            <a:off x="9217152" y="1691640"/>
            <a:ext cx="17830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Verify</a:t>
            </a:r>
            <a:endParaRPr lang="en-US" sz="1300" dirty="0"/>
          </a:p>
        </p:txBody>
      </p:sp>
      <p:sp>
        <p:nvSpPr>
          <p:cNvPr id="20" name="Shape 18"/>
          <p:cNvSpPr/>
          <p:nvPr/>
        </p:nvSpPr>
        <p:spPr>
          <a:xfrm>
            <a:off x="11384280" y="1691640"/>
            <a:ext cx="1828800" cy="914400"/>
          </a:xfrm>
          <a:prstGeom prst="roundRect">
            <a:avLst>
              <a:gd name="adj" fmla="val 9000"/>
            </a:avLst>
          </a:prstGeom>
          <a:solidFill>
            <a:srgbClr val="1E824C"/>
          </a:solidFill>
          <a:ln/>
        </p:spPr>
      </p:sp>
      <p:sp>
        <p:nvSpPr>
          <p:cNvPr id="21" name="Text 19"/>
          <p:cNvSpPr txBox="1"/>
          <p:nvPr/>
        </p:nvSpPr>
        <p:spPr>
          <a:xfrm>
            <a:off x="11384280" y="1691640"/>
            <a:ext cx="182880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Cutover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(live)</a:t>
            </a:r>
            <a:endParaRPr lang="en-US" sz="1250" dirty="0"/>
          </a:p>
        </p:txBody>
      </p:sp>
      <p:sp>
        <p:nvSpPr>
          <p:cNvPr id="22" name="Text 20"/>
          <p:cNvSpPr txBox="1"/>
          <p:nvPr/>
        </p:nvSpPr>
        <p:spPr>
          <a:xfrm>
            <a:off x="11201400" y="1399032"/>
            <a:ext cx="914400" cy="256032"/>
          </a:xfrm>
          <a:prstGeom prst="rect">
            <a:avLst/>
          </a:prstGeom>
          <a:noFill/>
          <a:ln/>
        </p:spPr>
        <p:txBody>
          <a:bodyPr wrap="square" lIns="0" tIns="0" rIns="0" bIns="0" rtlCol="0" anchor="ctr"/>
          <a:lstStyle/>
          <a:p>
            <a:pPr indent="0" marL="0">
              <a:buNone/>
            </a:pPr>
            <a:r>
              <a:rPr lang="en-US" sz="950" i="1" dirty="0">
                <a:solidFill>
                  <a:srgbClr val="1E824C"/>
                </a:solidFill>
                <a:latin typeface="Calibri" pitchFamily="34" charset="0"/>
                <a:ea typeface="Calibri" pitchFamily="34" charset="-122"/>
                <a:cs typeface="Calibri" pitchFamily="34" charset="-120"/>
              </a:rPr>
              <a:t>pass</a:t>
            </a:r>
            <a:endParaRPr lang="en-US" sz="950" dirty="0"/>
          </a:p>
        </p:txBody>
      </p:sp>
      <p:sp>
        <p:nvSpPr>
          <p:cNvPr id="23" name="Shape 21"/>
          <p:cNvSpPr/>
          <p:nvPr/>
        </p:nvSpPr>
        <p:spPr>
          <a:xfrm>
            <a:off x="4956048" y="2880360"/>
            <a:ext cx="0" cy="502920"/>
          </a:xfrm>
          <a:prstGeom prst="line">
            <a:avLst/>
          </a:prstGeom>
          <a:noFill/>
          <a:ln w="15875">
            <a:solidFill>
              <a:srgbClr val="B3261E"/>
            </a:solidFill>
            <a:prstDash val="dash"/>
          </a:ln>
        </p:spPr>
      </p:sp>
      <p:sp>
        <p:nvSpPr>
          <p:cNvPr id="24" name="Shape 22"/>
          <p:cNvSpPr/>
          <p:nvPr/>
        </p:nvSpPr>
        <p:spPr>
          <a:xfrm>
            <a:off x="4069080" y="3383280"/>
            <a:ext cx="1783080" cy="640080"/>
          </a:xfrm>
          <a:prstGeom prst="roundRect">
            <a:avLst>
              <a:gd name="adj" fmla="val 12857"/>
            </a:avLst>
          </a:prstGeom>
          <a:solidFill>
            <a:srgbClr val="F6E3E1"/>
          </a:solidFill>
          <a:ln w="12700">
            <a:solidFill>
              <a:srgbClr val="B3261E"/>
            </a:solidFill>
            <a:prstDash val="solid"/>
          </a:ln>
        </p:spPr>
      </p:sp>
      <p:sp>
        <p:nvSpPr>
          <p:cNvPr id="25" name="Text 23"/>
          <p:cNvSpPr txBox="1"/>
          <p:nvPr/>
        </p:nvSpPr>
        <p:spPr>
          <a:xfrm>
            <a:off x="4069080" y="3383280"/>
            <a:ext cx="1783080" cy="640080"/>
          </a:xfrm>
          <a:prstGeom prst="rect">
            <a:avLst/>
          </a:prstGeom>
          <a:noFill/>
          <a:ln/>
        </p:spPr>
        <p:txBody>
          <a:bodyPr wrap="square" lIns="0" tIns="0" rIns="0" bIns="0" rtlCol="0" anchor="ctr"/>
          <a:lstStyle/>
          <a:p>
            <a:pPr algn="ctr" indent="0" marL="0">
              <a:buNone/>
            </a:pPr>
            <a:r>
              <a:rPr lang="en-US" sz="1100" b="1" dirty="0">
                <a:solidFill>
                  <a:srgbClr val="B3261E"/>
                </a:solidFill>
                <a:latin typeface="Calibri" pitchFamily="34" charset="0"/>
                <a:ea typeface="Calibri" pitchFamily="34" charset="-122"/>
                <a:cs typeface="Calibri" pitchFamily="34" charset="-120"/>
              </a:rPr>
              <a:t>Rollback</a:t>
            </a:r>
            <a:endParaRPr lang="en-US" sz="1100" dirty="0"/>
          </a:p>
          <a:p>
            <a:pPr algn="ctr" indent="0" marL="0">
              <a:buNone/>
            </a:pPr>
            <a:r>
              <a:rPr lang="en-US" sz="1100" b="1" dirty="0">
                <a:solidFill>
                  <a:srgbClr val="B3261E"/>
                </a:solidFill>
                <a:latin typeface="Calibri" pitchFamily="34" charset="0"/>
                <a:ea typeface="Calibri" pitchFamily="34" charset="-122"/>
                <a:cs typeface="Calibri" pitchFamily="34" charset="-120"/>
              </a:rPr>
              <a:t>(unchanged)</a:t>
            </a:r>
            <a:endParaRPr lang="en-US" sz="1100" dirty="0"/>
          </a:p>
        </p:txBody>
      </p:sp>
      <p:sp>
        <p:nvSpPr>
          <p:cNvPr id="26" name="Text 24"/>
          <p:cNvSpPr txBox="1"/>
          <p:nvPr/>
        </p:nvSpPr>
        <p:spPr>
          <a:xfrm>
            <a:off x="5943600" y="3383280"/>
            <a:ext cx="1554480" cy="640080"/>
          </a:xfrm>
          <a:prstGeom prst="rect">
            <a:avLst/>
          </a:prstGeom>
          <a:noFill/>
          <a:ln/>
        </p:spPr>
        <p:txBody>
          <a:bodyPr wrap="square" lIns="0" tIns="0" rIns="0" bIns="0" rtlCol="0" anchor="ctr"/>
          <a:lstStyle/>
          <a:p>
            <a:pPr indent="0" marL="0">
              <a:lnSpc>
                <a:spcPct val="110000"/>
              </a:lnSpc>
              <a:buNone/>
            </a:pPr>
            <a:r>
              <a:rPr lang="en-US" sz="900" i="1" dirty="0">
                <a:solidFill>
                  <a:srgbClr val="B3261E"/>
                </a:solidFill>
                <a:latin typeface="Calibri" pitchFamily="34" charset="0"/>
                <a:ea typeface="Calibri" pitchFamily="34" charset="-122"/>
                <a:cs typeface="Calibri" pitchFamily="34" charset="-120"/>
              </a:rPr>
              <a:t>fail — retried</a:t>
            </a:r>
            <a:endParaRPr lang="en-US" sz="900" dirty="0"/>
          </a:p>
          <a:p>
            <a:pPr indent="0" marL="0">
              <a:lnSpc>
                <a:spcPct val="110000"/>
              </a:lnSpc>
              <a:buNone/>
            </a:pPr>
            <a:r>
              <a:rPr lang="en-US" sz="900" i="1" dirty="0">
                <a:solidFill>
                  <a:srgbClr val="B3261E"/>
                </a:solidFill>
                <a:latin typeface="Calibri" pitchFamily="34" charset="0"/>
                <a:ea typeface="Calibri" pitchFamily="34" charset="-122"/>
                <a:cs typeface="Calibri" pitchFamily="34" charset="-120"/>
              </a:rPr>
              <a:t>or deferred</a:t>
            </a:r>
            <a:endParaRPr lang="en-US" sz="900" dirty="0"/>
          </a:p>
        </p:txBody>
      </p:sp>
      <p:sp>
        <p:nvSpPr>
          <p:cNvPr id="27" name="Shape 25"/>
          <p:cNvSpPr/>
          <p:nvPr/>
        </p:nvSpPr>
        <p:spPr>
          <a:xfrm flipV="1">
            <a:off x="1371600" y="2697480"/>
            <a:ext cx="10927080" cy="1280160"/>
          </a:xfrm>
          <a:prstGeom prst="bentConnector3">
            <a:avLst/>
          </a:prstGeom>
          <a:noFill/>
          <a:ln w="15875">
            <a:solidFill>
              <a:srgbClr val="1B2A56"/>
            </a:solidFill>
            <a:prstDash val="dash"/>
          </a:ln>
        </p:spPr>
      </p:sp>
      <p:sp>
        <p:nvSpPr>
          <p:cNvPr id="28" name="Text 26"/>
          <p:cNvSpPr txBox="1"/>
          <p:nvPr/>
        </p:nvSpPr>
        <p:spPr>
          <a:xfrm>
            <a:off x="548640" y="3931920"/>
            <a:ext cx="8686800" cy="274320"/>
          </a:xfrm>
          <a:prstGeom prst="rect">
            <a:avLst/>
          </a:prstGeom>
          <a:noFill/>
          <a:ln/>
        </p:spPr>
        <p:txBody>
          <a:bodyPr wrap="square" lIns="0" tIns="0" rIns="0" bIns="0" rtlCol="0" anchor="ctr"/>
          <a:lstStyle/>
          <a:p>
            <a:pPr indent="0" marL="0">
              <a:buNone/>
            </a:pPr>
            <a:r>
              <a:rPr lang="en-US" sz="1000" i="1" dirty="0">
                <a:solidFill>
                  <a:srgbClr val="1B2A56"/>
                </a:solidFill>
                <a:latin typeface="Calibri" pitchFamily="34" charset="0"/>
                <a:ea typeface="Calibri" pitchFamily="34" charset="-122"/>
                <a:cs typeface="Calibri" pitchFamily="34" charset="-120"/>
              </a:rPr>
              <a:t>continuous autonomous monitoring — "Live Sentry" — built, running, demonstrated live ahead</a:t>
            </a:r>
            <a:endParaRPr lang="en-US" sz="1000" dirty="0"/>
          </a:p>
        </p:txBody>
      </p:sp>
      <p:sp>
        <p:nvSpPr>
          <p:cNvPr id="29" name="Shape 27"/>
          <p:cNvSpPr/>
          <p:nvPr/>
        </p:nvSpPr>
        <p:spPr>
          <a:xfrm>
            <a:off x="548640" y="3794760"/>
            <a:ext cx="11109960" cy="530352"/>
          </a:xfrm>
          <a:prstGeom prst="roundRect">
            <a:avLst>
              <a:gd name="adj" fmla="val 13793"/>
            </a:avLst>
          </a:prstGeom>
          <a:solidFill>
            <a:srgbClr val="F4F7FC"/>
          </a:solidFill>
          <a:ln/>
          <a:effectLst>
            <a:outerShdw sx="100000" sy="100000" kx="0" ky="0" algn="bl" rotWithShape="0" blurRad="101600" dist="38100" dir="5400000">
              <a:srgbClr val="1B2A56">
                <a:alpha val="12000"/>
              </a:srgbClr>
            </a:outerShdw>
          </a:effectLst>
        </p:spPr>
      </p:sp>
      <p:sp>
        <p:nvSpPr>
          <p:cNvPr id="30" name="Text 28"/>
          <p:cNvSpPr txBox="1"/>
          <p:nvPr/>
        </p:nvSpPr>
        <p:spPr>
          <a:xfrm>
            <a:off x="777240" y="3794760"/>
            <a:ext cx="10607040" cy="53035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Detect:  </a:t>
            </a:r>
            <a:pPr indent="0" marL="0">
              <a:buNone/>
            </a:pPr>
            <a:r>
              <a:rPr lang="en-US" sz="1100" dirty="0">
                <a:solidFill>
                  <a:srgbClr val="20242E"/>
                </a:solidFill>
                <a:latin typeface="Calibri" pitchFamily="34" charset="0"/>
                <a:ea typeface="Calibri" pitchFamily="34" charset="-122"/>
                <a:cs typeface="Calibri" pitchFamily="34" charset="-120"/>
              </a:rPr>
              <a:t>KNN-OOD score vs. a stable-baseline-calibrated threshold — no oracle labels used. Built.</a:t>
            </a:r>
            <a:endParaRPr lang="en-US" sz="1100" dirty="0"/>
          </a:p>
        </p:txBody>
      </p:sp>
      <p:sp>
        <p:nvSpPr>
          <p:cNvPr id="31" name="Shape 29"/>
          <p:cNvSpPr/>
          <p:nvPr/>
        </p:nvSpPr>
        <p:spPr>
          <a:xfrm>
            <a:off x="548640" y="4416552"/>
            <a:ext cx="11109960" cy="530352"/>
          </a:xfrm>
          <a:prstGeom prst="roundRect">
            <a:avLst>
              <a:gd name="adj" fmla="val 13793"/>
            </a:avLst>
          </a:prstGeom>
          <a:solidFill>
            <a:srgbClr val="F4F7FC"/>
          </a:solidFill>
          <a:ln/>
          <a:effectLst>
            <a:outerShdw sx="100000" sy="100000" kx="0" ky="0" algn="bl" rotWithShape="0" blurRad="101600" dist="38100" dir="5400000">
              <a:srgbClr val="1B2A56">
                <a:alpha val="12000"/>
              </a:srgbClr>
            </a:outerShdw>
          </a:effectLst>
        </p:spPr>
      </p:sp>
      <p:sp>
        <p:nvSpPr>
          <p:cNvPr id="32" name="Text 30"/>
          <p:cNvSpPr txBox="1"/>
          <p:nvPr/>
        </p:nvSpPr>
        <p:spPr>
          <a:xfrm>
            <a:off x="777240" y="4416552"/>
            <a:ext cx="10607040" cy="53035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Prioritize:  </a:t>
            </a:r>
            <a:pPr indent="0" marL="0">
              <a:buNone/>
            </a:pPr>
            <a:r>
              <a:rPr lang="en-US" sz="1100" dirty="0">
                <a:solidFill>
                  <a:srgbClr val="20242E"/>
                </a:solidFill>
                <a:latin typeface="Calibri" pitchFamily="34" charset="0"/>
                <a:ea typeface="Calibri" pitchFamily="34" charset="-122"/>
                <a:cs typeface="Calibri" pitchFamily="34" charset="-120"/>
              </a:rPr>
              <a:t>MCKP scheduler: severity × traffic × recovery, one shared budget, exact ILP + frontier greedy. Built.</a:t>
            </a:r>
            <a:endParaRPr lang="en-US" sz="1100" dirty="0"/>
          </a:p>
        </p:txBody>
      </p:sp>
      <p:sp>
        <p:nvSpPr>
          <p:cNvPr id="33" name="Shape 31"/>
          <p:cNvSpPr/>
          <p:nvPr/>
        </p:nvSpPr>
        <p:spPr>
          <a:xfrm>
            <a:off x="548640" y="5038344"/>
            <a:ext cx="11109960" cy="530352"/>
          </a:xfrm>
          <a:prstGeom prst="roundRect">
            <a:avLst>
              <a:gd name="adj" fmla="val 13793"/>
            </a:avLst>
          </a:prstGeom>
          <a:solidFill>
            <a:srgbClr val="F4F7FC"/>
          </a:solidFill>
          <a:ln/>
          <a:effectLst>
            <a:outerShdw sx="100000" sy="100000" kx="0" ky="0" algn="bl" rotWithShape="0" blurRad="101600" dist="38100" dir="5400000">
              <a:srgbClr val="1B2A56">
                <a:alpha val="12000"/>
              </a:srgbClr>
            </a:outerShdw>
          </a:effectLst>
        </p:spPr>
      </p:sp>
      <p:sp>
        <p:nvSpPr>
          <p:cNvPr id="34" name="Text 32"/>
          <p:cNvSpPr txBox="1"/>
          <p:nvPr/>
        </p:nvSpPr>
        <p:spPr>
          <a:xfrm>
            <a:off x="777240" y="5038344"/>
            <a:ext cx="10607040" cy="53035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Migrate:  </a:t>
            </a:r>
            <a:pPr indent="0" marL="0">
              <a:buNone/>
            </a:pPr>
            <a:r>
              <a:rPr lang="en-US" sz="1100" dirty="0">
                <a:solidFill>
                  <a:srgbClr val="20242E"/>
                </a:solidFill>
                <a:latin typeface="Calibri" pitchFamily="34" charset="0"/>
                <a:ea typeface="Calibri" pitchFamily="34" charset="-122"/>
                <a:cs typeface="Calibri" pitchFamily="34" charset="-120"/>
              </a:rPr>
              <a:t>Shadow-build the selected fix — the live index is never mutated in place. Built.</a:t>
            </a:r>
            <a:endParaRPr lang="en-US" sz="1100" dirty="0"/>
          </a:p>
        </p:txBody>
      </p:sp>
      <p:sp>
        <p:nvSpPr>
          <p:cNvPr id="35" name="Shape 33"/>
          <p:cNvSpPr/>
          <p:nvPr/>
        </p:nvSpPr>
        <p:spPr>
          <a:xfrm>
            <a:off x="548640" y="5660136"/>
            <a:ext cx="11109960" cy="530352"/>
          </a:xfrm>
          <a:prstGeom prst="roundRect">
            <a:avLst>
              <a:gd name="adj" fmla="val 13793"/>
            </a:avLst>
          </a:prstGeom>
          <a:solidFill>
            <a:srgbClr val="F4F7FC"/>
          </a:solidFill>
          <a:ln/>
          <a:effectLst>
            <a:outerShdw sx="100000" sy="100000" kx="0" ky="0" algn="bl" rotWithShape="0" blurRad="101600" dist="38100" dir="5400000">
              <a:srgbClr val="1B2A56">
                <a:alpha val="12000"/>
              </a:srgbClr>
            </a:outerShdw>
          </a:effectLst>
        </p:spPr>
      </p:sp>
      <p:sp>
        <p:nvSpPr>
          <p:cNvPr id="36" name="Text 34"/>
          <p:cNvSpPr txBox="1"/>
          <p:nvPr/>
        </p:nvSpPr>
        <p:spPr>
          <a:xfrm>
            <a:off x="777240" y="5660136"/>
            <a:ext cx="10607040" cy="53035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Verify:  </a:t>
            </a:r>
            <a:pPr indent="0" marL="0">
              <a:buNone/>
            </a:pPr>
            <a:r>
              <a:rPr lang="en-US" sz="1100" dirty="0">
                <a:solidFill>
                  <a:srgbClr val="20242E"/>
                </a:solidFill>
                <a:latin typeface="Calibri" pitchFamily="34" charset="0"/>
                <a:ea typeface="Calibri" pitchFamily="34" charset="-122"/>
                <a:cs typeface="Calibri" pitchFamily="34" charset="-120"/>
              </a:rPr>
              <a:t>Golden-query canary check against the shadow, with automatic rollback on failure. Built.</a:t>
            </a:r>
            <a:endParaRPr lang="en-US" sz="1100" dirty="0"/>
          </a:p>
        </p:txBody>
      </p:sp>
      <p:sp>
        <p:nvSpPr>
          <p:cNvPr id="37" name="Text 3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38" name="Text 36"/>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PROPOSED METHODOLOGY AND SOLUTION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Methodology — Module Breakdown</a:t>
            </a:r>
            <a:endParaRPr lang="en-US" sz="3200" dirty="0"/>
          </a:p>
        </p:txBody>
      </p:sp>
      <p:sp>
        <p:nvSpPr>
          <p:cNvPr id="4" name="Text 2"/>
          <p:cNvSpPr txBox="1"/>
          <p:nvPr/>
        </p:nvSpPr>
        <p:spPr>
          <a:xfrm>
            <a:off x="548640" y="1298448"/>
            <a:ext cx="10789920" cy="292608"/>
          </a:xfrm>
          <a:prstGeom prst="rect">
            <a:avLst/>
          </a:prstGeom>
          <a:noFill/>
          <a:ln/>
        </p:spPr>
        <p:txBody>
          <a:bodyPr wrap="square" lIns="0" tIns="0" rIns="0" bIns="0" rtlCol="0" anchor="ctr"/>
          <a:lstStyle/>
          <a:p>
            <a:pPr indent="0" marL="0">
              <a:buNone/>
            </a:pPr>
            <a:r>
              <a:rPr lang="en-US" sz="1100" i="1" dirty="0">
                <a:solidFill>
                  <a:srgbClr val="5A6472"/>
                </a:solidFill>
                <a:latin typeface="Calibri" pitchFamily="34" charset="0"/>
                <a:ea typeface="Calibri" pitchFamily="34" charset="-122"/>
                <a:cs typeface="Calibri" pitchFamily="34" charset="-120"/>
              </a:rPr>
              <a:t>Four modules, each with a defined input/output contract — every one implemented, unit-tested, and integrated.</a:t>
            </a:r>
            <a:endParaRPr lang="en-US" sz="1100" dirty="0"/>
          </a:p>
        </p:txBody>
      </p:sp>
      <p:sp>
        <p:nvSpPr>
          <p:cNvPr id="5" name="Shape 3"/>
          <p:cNvSpPr/>
          <p:nvPr/>
        </p:nvSpPr>
        <p:spPr>
          <a:xfrm>
            <a:off x="548640" y="1828800"/>
            <a:ext cx="2651760" cy="4251960"/>
          </a:xfrm>
          <a:prstGeom prst="roundRect">
            <a:avLst>
              <a:gd name="adj" fmla="val 2759"/>
            </a:avLst>
          </a:prstGeom>
          <a:solidFill>
            <a:srgbClr val="1B2A56"/>
          </a:solidFill>
          <a:ln/>
        </p:spPr>
      </p:sp>
      <p:sp>
        <p:nvSpPr>
          <p:cNvPr id="6" name="Shape 4"/>
          <p:cNvSpPr/>
          <p:nvPr/>
        </p:nvSpPr>
        <p:spPr>
          <a:xfrm>
            <a:off x="749808" y="2029968"/>
            <a:ext cx="548640" cy="548640"/>
          </a:xfrm>
          <a:prstGeom prst="roundRect">
            <a:avLst>
              <a:gd name="adj" fmla="val 50000"/>
            </a:avLst>
          </a:prstGeom>
          <a:solidFill>
            <a:srgbClr val="0E7C7B"/>
          </a:solidFill>
          <a:ln/>
        </p:spPr>
      </p:sp>
      <p:sp>
        <p:nvSpPr>
          <p:cNvPr id="7" name="Text 5"/>
          <p:cNvSpPr txBox="1"/>
          <p:nvPr/>
        </p:nvSpPr>
        <p:spPr>
          <a:xfrm>
            <a:off x="749808" y="202996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M1</a:t>
            </a:r>
            <a:endParaRPr lang="en-US" sz="1500" dirty="0"/>
          </a:p>
        </p:txBody>
      </p:sp>
      <p:sp>
        <p:nvSpPr>
          <p:cNvPr id="8" name="Text 6"/>
          <p:cNvSpPr txBox="1"/>
          <p:nvPr/>
        </p:nvSpPr>
        <p:spPr>
          <a:xfrm>
            <a:off x="749808" y="2670048"/>
            <a:ext cx="2249424" cy="457200"/>
          </a:xfrm>
          <a:prstGeom prst="rect">
            <a:avLst/>
          </a:prstGeom>
          <a:noFill/>
          <a:ln/>
        </p:spPr>
        <p:txBody>
          <a:bodyPr wrap="square" lIns="0" tIns="0" rIns="0" bIns="0" rtlCol="0" anchor="ctr"/>
          <a:lstStyle/>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Detection</a:t>
            </a:r>
            <a:endParaRPr lang="en-US" sz="1350" dirty="0"/>
          </a:p>
        </p:txBody>
      </p:sp>
      <p:sp>
        <p:nvSpPr>
          <p:cNvPr id="9" name="Text 7"/>
          <p:cNvSpPr txBox="1"/>
          <p:nvPr/>
        </p:nvSpPr>
        <p:spPr>
          <a:xfrm>
            <a:off x="749808" y="3182112"/>
            <a:ext cx="2249424" cy="1417320"/>
          </a:xfrm>
          <a:prstGeom prst="rect">
            <a:avLst/>
          </a:prstGeom>
          <a:noFill/>
          <a:ln/>
        </p:spPr>
        <p:txBody>
          <a:bodyPr wrap="square" lIns="0" tIns="0" rIns="0" bIns="0" rtlCol="0" anchor="ctr"/>
          <a:lstStyle/>
          <a:p>
            <a:pPr indent="0" marL="0">
              <a:lnSpc>
                <a:spcPct val="118000"/>
              </a:lnSpc>
              <a:buNone/>
            </a:pPr>
            <a:r>
              <a:rPr lang="en-US" sz="950" dirty="0">
                <a:solidFill>
                  <a:srgbClr val="CFE0FA"/>
                </a:solidFill>
                <a:latin typeface="Calibri" pitchFamily="34" charset="0"/>
                <a:ea typeface="Calibri" pitchFamily="34" charset="-122"/>
                <a:cs typeface="Calibri" pitchFamily="34" charset="-120"/>
              </a:rPr>
              <a:t>KNN-OOD scoring vs. a stable-baseline percentile threshold. Evaluated against LOF and Isolation Forest as alternatives.</a:t>
            </a:r>
            <a:endParaRPr lang="en-US" sz="950" dirty="0"/>
          </a:p>
        </p:txBody>
      </p:sp>
      <p:sp>
        <p:nvSpPr>
          <p:cNvPr id="10" name="Shape 8"/>
          <p:cNvSpPr/>
          <p:nvPr/>
        </p:nvSpPr>
        <p:spPr>
          <a:xfrm>
            <a:off x="749808" y="4709160"/>
            <a:ext cx="2249424" cy="0"/>
          </a:xfrm>
          <a:prstGeom prst="line">
            <a:avLst/>
          </a:prstGeom>
          <a:noFill/>
          <a:ln w="12700">
            <a:solidFill>
              <a:srgbClr val="33447A"/>
            </a:solidFill>
            <a:prstDash val="solid"/>
          </a:ln>
        </p:spPr>
      </p:sp>
      <p:sp>
        <p:nvSpPr>
          <p:cNvPr id="11" name="Text 9"/>
          <p:cNvSpPr txBox="1"/>
          <p:nvPr/>
        </p:nvSpPr>
        <p:spPr>
          <a:xfrm>
            <a:off x="749808" y="4846320"/>
            <a:ext cx="2249424" cy="1097280"/>
          </a:xfrm>
          <a:prstGeom prst="rect">
            <a:avLst/>
          </a:prstGeom>
          <a:noFill/>
          <a:ln/>
        </p:spPr>
        <p:txBody>
          <a:bodyPr wrap="square" lIns="0" tIns="0" rIns="0" bIns="0" rtlCol="0" anchor="ctr"/>
          <a:lstStyle/>
          <a:p>
            <a:pPr indent="0" marL="0">
              <a:lnSpc>
                <a:spcPct val="120000"/>
              </a:lnSpc>
              <a:buNone/>
            </a:pPr>
            <a:r>
              <a:rPr lang="en-US" sz="930" b="1" i="1" dirty="0">
                <a:solidFill>
                  <a:srgbClr val="E4F3F2"/>
                </a:solidFill>
                <a:latin typeface="Calibri" pitchFamily="34" charset="0"/>
                <a:ea typeface="Calibri" pitchFamily="34" charset="-122"/>
                <a:cs typeface="Calibri" pitchFamily="34" charset="-120"/>
              </a:rPr>
              <a:t>F1 = 0.51–0.57 across contamination ratios (real, measured)</a:t>
            </a:r>
            <a:endParaRPr lang="en-US" sz="930" dirty="0"/>
          </a:p>
        </p:txBody>
      </p:sp>
      <p:sp>
        <p:nvSpPr>
          <p:cNvPr id="12" name="Shape 10"/>
          <p:cNvSpPr/>
          <p:nvPr/>
        </p:nvSpPr>
        <p:spPr>
          <a:xfrm>
            <a:off x="3374136" y="1828800"/>
            <a:ext cx="2651760" cy="4251960"/>
          </a:xfrm>
          <a:prstGeom prst="roundRect">
            <a:avLst>
              <a:gd name="adj" fmla="val 2759"/>
            </a:avLst>
          </a:prstGeom>
          <a:solidFill>
            <a:srgbClr val="F4F7FC"/>
          </a:solidFill>
          <a:ln/>
          <a:effectLst>
            <a:outerShdw sx="100000" sy="100000" kx="0" ky="0" algn="bl" rotWithShape="0" blurRad="101600" dist="38100" dir="5400000">
              <a:srgbClr val="1B2A56">
                <a:alpha val="12000"/>
              </a:srgbClr>
            </a:outerShdw>
          </a:effectLst>
        </p:spPr>
      </p:sp>
      <p:sp>
        <p:nvSpPr>
          <p:cNvPr id="13" name="Shape 11"/>
          <p:cNvSpPr/>
          <p:nvPr/>
        </p:nvSpPr>
        <p:spPr>
          <a:xfrm>
            <a:off x="3575304" y="2029968"/>
            <a:ext cx="548640" cy="548640"/>
          </a:xfrm>
          <a:prstGeom prst="roundRect">
            <a:avLst>
              <a:gd name="adj" fmla="val 50000"/>
            </a:avLst>
          </a:prstGeom>
          <a:solidFill>
            <a:srgbClr val="0E7C7B"/>
          </a:solidFill>
          <a:ln/>
        </p:spPr>
      </p:sp>
      <p:sp>
        <p:nvSpPr>
          <p:cNvPr id="14" name="Text 12"/>
          <p:cNvSpPr txBox="1"/>
          <p:nvPr/>
        </p:nvSpPr>
        <p:spPr>
          <a:xfrm>
            <a:off x="3575304" y="202996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M2</a:t>
            </a:r>
            <a:endParaRPr lang="en-US" sz="1500" dirty="0"/>
          </a:p>
        </p:txBody>
      </p:sp>
      <p:sp>
        <p:nvSpPr>
          <p:cNvPr id="15" name="Text 13"/>
          <p:cNvSpPr txBox="1"/>
          <p:nvPr/>
        </p:nvSpPr>
        <p:spPr>
          <a:xfrm>
            <a:off x="3575304" y="2670048"/>
            <a:ext cx="2249424" cy="457200"/>
          </a:xfrm>
          <a:prstGeom prst="rect">
            <a:avLst/>
          </a:prstGeom>
          <a:noFill/>
          <a:ln/>
        </p:spPr>
        <p:txBody>
          <a:bodyPr wrap="square" lIns="0" tIns="0" rIns="0" bIns="0" rtlCol="0" anchor="ctr"/>
          <a:lstStyle/>
          <a:p>
            <a:pPr indent="0" marL="0">
              <a:lnSpc>
                <a:spcPct val="105000"/>
              </a:lnSpc>
              <a:buNone/>
            </a:pPr>
            <a:r>
              <a:rPr lang="en-US" sz="1350" b="1" dirty="0">
                <a:solidFill>
                  <a:srgbClr val="1B2A56"/>
                </a:solidFill>
                <a:latin typeface="Calibri" pitchFamily="34" charset="0"/>
                <a:ea typeface="Calibri" pitchFamily="34" charset="-122"/>
                <a:cs typeface="Calibri" pitchFamily="34" charset="-120"/>
              </a:rPr>
              <a:t>Prioritization</a:t>
            </a:r>
            <a:endParaRPr lang="en-US" sz="1350" dirty="0"/>
          </a:p>
        </p:txBody>
      </p:sp>
      <p:sp>
        <p:nvSpPr>
          <p:cNvPr id="16" name="Text 14"/>
          <p:cNvSpPr txBox="1"/>
          <p:nvPr/>
        </p:nvSpPr>
        <p:spPr>
          <a:xfrm>
            <a:off x="3575304" y="3182112"/>
            <a:ext cx="2249424" cy="1417320"/>
          </a:xfrm>
          <a:prstGeom prst="rect">
            <a:avLst/>
          </a:prstGeom>
          <a:noFill/>
          <a:ln/>
        </p:spPr>
        <p:txBody>
          <a:bodyPr wrap="square" lIns="0" tIns="0" rIns="0" bIns="0" rtlCol="0" anchor="ctr"/>
          <a:lstStyle/>
          <a:p>
            <a:pPr indent="0" marL="0">
              <a:lnSpc>
                <a:spcPct val="118000"/>
              </a:lnSpc>
              <a:buNone/>
            </a:pPr>
            <a:r>
              <a:rPr lang="en-US" sz="950" dirty="0">
                <a:solidFill>
                  <a:srgbClr val="20242E"/>
                </a:solidFill>
                <a:latin typeface="Calibri" pitchFamily="34" charset="0"/>
                <a:ea typeface="Calibri" pitchFamily="34" charset="-122"/>
                <a:cs typeface="Calibri" pitchFamily="34" charset="-120"/>
              </a:rPr>
              <a:t>MCKP formulation — exact ILP for validation, frontier-greedy for production scale.</a:t>
            </a:r>
            <a:endParaRPr lang="en-US" sz="950" dirty="0"/>
          </a:p>
        </p:txBody>
      </p:sp>
      <p:sp>
        <p:nvSpPr>
          <p:cNvPr id="17" name="Shape 15"/>
          <p:cNvSpPr/>
          <p:nvPr/>
        </p:nvSpPr>
        <p:spPr>
          <a:xfrm>
            <a:off x="3575304" y="4709160"/>
            <a:ext cx="2249424" cy="0"/>
          </a:xfrm>
          <a:prstGeom prst="line">
            <a:avLst/>
          </a:prstGeom>
          <a:noFill/>
          <a:ln w="12700">
            <a:solidFill>
              <a:srgbClr val="D8DEEA"/>
            </a:solidFill>
            <a:prstDash val="solid"/>
          </a:ln>
        </p:spPr>
      </p:sp>
      <p:sp>
        <p:nvSpPr>
          <p:cNvPr id="18" name="Text 16"/>
          <p:cNvSpPr txBox="1"/>
          <p:nvPr/>
        </p:nvSpPr>
        <p:spPr>
          <a:xfrm>
            <a:off x="3575304" y="4846320"/>
            <a:ext cx="2249424" cy="1097280"/>
          </a:xfrm>
          <a:prstGeom prst="rect">
            <a:avLst/>
          </a:prstGeom>
          <a:noFill/>
          <a:ln/>
        </p:spPr>
        <p:txBody>
          <a:bodyPr wrap="square" lIns="0" tIns="0" rIns="0" bIns="0" rtlCol="0" anchor="ctr"/>
          <a:lstStyle/>
          <a:p>
            <a:pPr indent="0" marL="0">
              <a:lnSpc>
                <a:spcPct val="120000"/>
              </a:lnSpc>
              <a:buNone/>
            </a:pPr>
            <a:r>
              <a:rPr lang="en-US" sz="930" b="1" i="1" dirty="0">
                <a:solidFill>
                  <a:srgbClr val="0E7C7B"/>
                </a:solidFill>
                <a:latin typeface="Calibri" pitchFamily="34" charset="0"/>
                <a:ea typeface="Calibri" pitchFamily="34" charset="-122"/>
                <a:cs typeface="Calibri" pitchFamily="34" charset="-120"/>
              </a:rPr>
              <a:t>0.00% mean optimality gap, max 0.14% (real, measured)</a:t>
            </a:r>
            <a:endParaRPr lang="en-US" sz="930" dirty="0"/>
          </a:p>
        </p:txBody>
      </p:sp>
      <p:sp>
        <p:nvSpPr>
          <p:cNvPr id="19" name="Shape 17"/>
          <p:cNvSpPr/>
          <p:nvPr/>
        </p:nvSpPr>
        <p:spPr>
          <a:xfrm>
            <a:off x="6199632" y="1828800"/>
            <a:ext cx="2651760" cy="4251960"/>
          </a:xfrm>
          <a:prstGeom prst="roundRect">
            <a:avLst>
              <a:gd name="adj" fmla="val 2759"/>
            </a:avLst>
          </a:prstGeom>
          <a:solidFill>
            <a:srgbClr val="F4F7FC"/>
          </a:solidFill>
          <a:ln/>
          <a:effectLst>
            <a:outerShdw sx="100000" sy="100000" kx="0" ky="0" algn="bl" rotWithShape="0" blurRad="101600" dist="38100" dir="5400000">
              <a:srgbClr val="1B2A56">
                <a:alpha val="12000"/>
              </a:srgbClr>
            </a:outerShdw>
          </a:effectLst>
        </p:spPr>
      </p:sp>
      <p:sp>
        <p:nvSpPr>
          <p:cNvPr id="20" name="Shape 18"/>
          <p:cNvSpPr/>
          <p:nvPr/>
        </p:nvSpPr>
        <p:spPr>
          <a:xfrm>
            <a:off x="6400800" y="2029968"/>
            <a:ext cx="548640" cy="548640"/>
          </a:xfrm>
          <a:prstGeom prst="roundRect">
            <a:avLst>
              <a:gd name="adj" fmla="val 50000"/>
            </a:avLst>
          </a:prstGeom>
          <a:solidFill>
            <a:srgbClr val="0E7C7B"/>
          </a:solidFill>
          <a:ln/>
        </p:spPr>
      </p:sp>
      <p:sp>
        <p:nvSpPr>
          <p:cNvPr id="21" name="Text 19"/>
          <p:cNvSpPr txBox="1"/>
          <p:nvPr/>
        </p:nvSpPr>
        <p:spPr>
          <a:xfrm>
            <a:off x="6400800" y="202996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M3</a:t>
            </a:r>
            <a:endParaRPr lang="en-US" sz="1500" dirty="0"/>
          </a:p>
        </p:txBody>
      </p:sp>
      <p:sp>
        <p:nvSpPr>
          <p:cNvPr id="22" name="Text 20"/>
          <p:cNvSpPr txBox="1"/>
          <p:nvPr/>
        </p:nvSpPr>
        <p:spPr>
          <a:xfrm>
            <a:off x="6400800" y="2670048"/>
            <a:ext cx="2249424" cy="457200"/>
          </a:xfrm>
          <a:prstGeom prst="rect">
            <a:avLst/>
          </a:prstGeom>
          <a:noFill/>
          <a:ln/>
        </p:spPr>
        <p:txBody>
          <a:bodyPr wrap="square" lIns="0" tIns="0" rIns="0" bIns="0" rtlCol="0" anchor="ctr"/>
          <a:lstStyle/>
          <a:p>
            <a:pPr indent="0" marL="0">
              <a:lnSpc>
                <a:spcPct val="105000"/>
              </a:lnSpc>
              <a:buNone/>
            </a:pPr>
            <a:r>
              <a:rPr lang="en-US" sz="1350" b="1" dirty="0">
                <a:solidFill>
                  <a:srgbClr val="1B2A56"/>
                </a:solidFill>
                <a:latin typeface="Calibri" pitchFamily="34" charset="0"/>
                <a:ea typeface="Calibri" pitchFamily="34" charset="-122"/>
                <a:cs typeface="Calibri" pitchFamily="34" charset="-120"/>
              </a:rPr>
              <a:t>Migration</a:t>
            </a:r>
            <a:endParaRPr lang="en-US" sz="1350" dirty="0"/>
          </a:p>
        </p:txBody>
      </p:sp>
      <p:sp>
        <p:nvSpPr>
          <p:cNvPr id="23" name="Text 21"/>
          <p:cNvSpPr txBox="1"/>
          <p:nvPr/>
        </p:nvSpPr>
        <p:spPr>
          <a:xfrm>
            <a:off x="6400800" y="3182112"/>
            <a:ext cx="2249424" cy="1417320"/>
          </a:xfrm>
          <a:prstGeom prst="rect">
            <a:avLst/>
          </a:prstGeom>
          <a:noFill/>
          <a:ln/>
        </p:spPr>
        <p:txBody>
          <a:bodyPr wrap="square" lIns="0" tIns="0" rIns="0" bIns="0" rtlCol="0" anchor="ctr"/>
          <a:lstStyle/>
          <a:p>
            <a:pPr indent="0" marL="0">
              <a:lnSpc>
                <a:spcPct val="118000"/>
              </a:lnSpc>
              <a:buNone/>
            </a:pPr>
            <a:r>
              <a:rPr lang="en-US" sz="950" dirty="0">
                <a:solidFill>
                  <a:srgbClr val="20242E"/>
                </a:solidFill>
                <a:latin typeface="Calibri" pitchFamily="34" charset="0"/>
                <a:ea typeface="Calibri" pitchFamily="34" charset="-122"/>
                <a:cs typeface="Calibri" pitchFamily="34" charset="-120"/>
              </a:rPr>
              <a:t>Shadow-builds only the selected documents; live index never mutated in place.</a:t>
            </a:r>
            <a:endParaRPr lang="en-US" sz="950" dirty="0"/>
          </a:p>
        </p:txBody>
      </p:sp>
      <p:sp>
        <p:nvSpPr>
          <p:cNvPr id="24" name="Shape 22"/>
          <p:cNvSpPr/>
          <p:nvPr/>
        </p:nvSpPr>
        <p:spPr>
          <a:xfrm>
            <a:off x="6400800" y="4709160"/>
            <a:ext cx="2249424" cy="0"/>
          </a:xfrm>
          <a:prstGeom prst="line">
            <a:avLst/>
          </a:prstGeom>
          <a:noFill/>
          <a:ln w="12700">
            <a:solidFill>
              <a:srgbClr val="D8DEEA"/>
            </a:solidFill>
            <a:prstDash val="solid"/>
          </a:ln>
        </p:spPr>
      </p:sp>
      <p:sp>
        <p:nvSpPr>
          <p:cNvPr id="25" name="Text 23"/>
          <p:cNvSpPr txBox="1"/>
          <p:nvPr/>
        </p:nvSpPr>
        <p:spPr>
          <a:xfrm>
            <a:off x="6400800" y="4846320"/>
            <a:ext cx="2249424" cy="1097280"/>
          </a:xfrm>
          <a:prstGeom prst="rect">
            <a:avLst/>
          </a:prstGeom>
          <a:noFill/>
          <a:ln/>
        </p:spPr>
        <p:txBody>
          <a:bodyPr wrap="square" lIns="0" tIns="0" rIns="0" bIns="0" rtlCol="0" anchor="ctr"/>
          <a:lstStyle/>
          <a:p>
            <a:pPr indent="0" marL="0">
              <a:lnSpc>
                <a:spcPct val="120000"/>
              </a:lnSpc>
              <a:buNone/>
            </a:pPr>
            <a:r>
              <a:rPr lang="en-US" sz="930" b="1" i="1" dirty="0">
                <a:solidFill>
                  <a:srgbClr val="0E7C7B"/>
                </a:solidFill>
                <a:latin typeface="Calibri" pitchFamily="34" charset="0"/>
                <a:ea typeface="Calibri" pitchFamily="34" charset="-122"/>
                <a:cs typeface="Calibri" pitchFamily="34" charset="-120"/>
              </a:rPr>
              <a:t>10/30 scenarios correctly aborted by the safety gate (real, measured)</a:t>
            </a:r>
            <a:endParaRPr lang="en-US" sz="930" dirty="0"/>
          </a:p>
        </p:txBody>
      </p:sp>
      <p:sp>
        <p:nvSpPr>
          <p:cNvPr id="26" name="Shape 24"/>
          <p:cNvSpPr/>
          <p:nvPr/>
        </p:nvSpPr>
        <p:spPr>
          <a:xfrm>
            <a:off x="9025128" y="1828800"/>
            <a:ext cx="2651760" cy="4251960"/>
          </a:xfrm>
          <a:prstGeom prst="roundRect">
            <a:avLst>
              <a:gd name="adj" fmla="val 2759"/>
            </a:avLst>
          </a:prstGeom>
          <a:solidFill>
            <a:srgbClr val="F4F7FC"/>
          </a:solidFill>
          <a:ln/>
          <a:effectLst>
            <a:outerShdw sx="100000" sy="100000" kx="0" ky="0" algn="bl" rotWithShape="0" blurRad="101600" dist="38100" dir="5400000">
              <a:srgbClr val="1B2A56">
                <a:alpha val="12000"/>
              </a:srgbClr>
            </a:outerShdw>
          </a:effectLst>
        </p:spPr>
      </p:sp>
      <p:sp>
        <p:nvSpPr>
          <p:cNvPr id="27" name="Shape 25"/>
          <p:cNvSpPr/>
          <p:nvPr/>
        </p:nvSpPr>
        <p:spPr>
          <a:xfrm>
            <a:off x="9226296" y="2029968"/>
            <a:ext cx="548640" cy="548640"/>
          </a:xfrm>
          <a:prstGeom prst="roundRect">
            <a:avLst>
              <a:gd name="adj" fmla="val 50000"/>
            </a:avLst>
          </a:prstGeom>
          <a:solidFill>
            <a:srgbClr val="0E7C7B"/>
          </a:solidFill>
          <a:ln/>
        </p:spPr>
      </p:sp>
      <p:sp>
        <p:nvSpPr>
          <p:cNvPr id="28" name="Text 26"/>
          <p:cNvSpPr txBox="1"/>
          <p:nvPr/>
        </p:nvSpPr>
        <p:spPr>
          <a:xfrm>
            <a:off x="9226296" y="202996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M4</a:t>
            </a:r>
            <a:endParaRPr lang="en-US" sz="1500" dirty="0"/>
          </a:p>
        </p:txBody>
      </p:sp>
      <p:sp>
        <p:nvSpPr>
          <p:cNvPr id="29" name="Text 27"/>
          <p:cNvSpPr txBox="1"/>
          <p:nvPr/>
        </p:nvSpPr>
        <p:spPr>
          <a:xfrm>
            <a:off x="9226296" y="2670048"/>
            <a:ext cx="2249424" cy="457200"/>
          </a:xfrm>
          <a:prstGeom prst="rect">
            <a:avLst/>
          </a:prstGeom>
          <a:noFill/>
          <a:ln/>
        </p:spPr>
        <p:txBody>
          <a:bodyPr wrap="square" lIns="0" tIns="0" rIns="0" bIns="0" rtlCol="0" anchor="ctr"/>
          <a:lstStyle/>
          <a:p>
            <a:pPr indent="0" marL="0">
              <a:lnSpc>
                <a:spcPct val="105000"/>
              </a:lnSpc>
              <a:buNone/>
            </a:pPr>
            <a:r>
              <a:rPr lang="en-US" sz="1350" b="1" dirty="0">
                <a:solidFill>
                  <a:srgbClr val="1B2A56"/>
                </a:solidFill>
                <a:latin typeface="Calibri" pitchFamily="34" charset="0"/>
                <a:ea typeface="Calibri" pitchFamily="34" charset="-122"/>
                <a:cs typeface="Calibri" pitchFamily="34" charset="-120"/>
              </a:rPr>
              <a:t>Verification &amp; Cutover</a:t>
            </a:r>
            <a:endParaRPr lang="en-US" sz="1350" dirty="0"/>
          </a:p>
        </p:txBody>
      </p:sp>
      <p:sp>
        <p:nvSpPr>
          <p:cNvPr id="30" name="Text 28"/>
          <p:cNvSpPr txBox="1"/>
          <p:nvPr/>
        </p:nvSpPr>
        <p:spPr>
          <a:xfrm>
            <a:off x="9226296" y="3182112"/>
            <a:ext cx="2249424" cy="1417320"/>
          </a:xfrm>
          <a:prstGeom prst="rect">
            <a:avLst/>
          </a:prstGeom>
          <a:noFill/>
          <a:ln/>
        </p:spPr>
        <p:txBody>
          <a:bodyPr wrap="square" lIns="0" tIns="0" rIns="0" bIns="0" rtlCol="0" anchor="ctr"/>
          <a:lstStyle/>
          <a:p>
            <a:pPr indent="0" marL="0">
              <a:lnSpc>
                <a:spcPct val="118000"/>
              </a:lnSpc>
              <a:buNone/>
            </a:pPr>
            <a:r>
              <a:rPr lang="en-US" sz="950" dirty="0">
                <a:solidFill>
                  <a:srgbClr val="20242E"/>
                </a:solidFill>
                <a:latin typeface="Calibri" pitchFamily="34" charset="0"/>
                <a:ea typeface="Calibri" pitchFamily="34" charset="-122"/>
                <a:cs typeface="Calibri" pitchFamily="34" charset="-120"/>
              </a:rPr>
              <a:t>Golden-query canary evaluation; atomic cutover on pass, automatic rollback/retry/defer on fail.</a:t>
            </a:r>
            <a:endParaRPr lang="en-US" sz="950" dirty="0"/>
          </a:p>
        </p:txBody>
      </p:sp>
      <p:sp>
        <p:nvSpPr>
          <p:cNvPr id="31" name="Shape 29"/>
          <p:cNvSpPr/>
          <p:nvPr/>
        </p:nvSpPr>
        <p:spPr>
          <a:xfrm>
            <a:off x="9226296" y="4709160"/>
            <a:ext cx="2249424" cy="0"/>
          </a:xfrm>
          <a:prstGeom prst="line">
            <a:avLst/>
          </a:prstGeom>
          <a:noFill/>
          <a:ln w="12700">
            <a:solidFill>
              <a:srgbClr val="D8DEEA"/>
            </a:solidFill>
            <a:prstDash val="solid"/>
          </a:ln>
        </p:spPr>
      </p:sp>
      <p:sp>
        <p:nvSpPr>
          <p:cNvPr id="32" name="Text 30"/>
          <p:cNvSpPr txBox="1"/>
          <p:nvPr/>
        </p:nvSpPr>
        <p:spPr>
          <a:xfrm>
            <a:off x="9226296" y="4846320"/>
            <a:ext cx="2249424" cy="1097280"/>
          </a:xfrm>
          <a:prstGeom prst="rect">
            <a:avLst/>
          </a:prstGeom>
          <a:noFill/>
          <a:ln/>
        </p:spPr>
        <p:txBody>
          <a:bodyPr wrap="square" lIns="0" tIns="0" rIns="0" bIns="0" rtlCol="0" anchor="ctr"/>
          <a:lstStyle/>
          <a:p>
            <a:pPr indent="0" marL="0">
              <a:lnSpc>
                <a:spcPct val="120000"/>
              </a:lnSpc>
              <a:buNone/>
            </a:pPr>
            <a:r>
              <a:rPr lang="en-US" sz="930" b="1" i="1" dirty="0">
                <a:solidFill>
                  <a:srgbClr val="0E7C7B"/>
                </a:solidFill>
                <a:latin typeface="Calibri" pitchFamily="34" charset="0"/>
                <a:ea typeface="Calibri" pitchFamily="34" charset="-122"/>
                <a:cs typeface="Calibri" pitchFamily="34" charset="-120"/>
              </a:rPr>
              <a:t>Beats best Phase-1 baseline in 18/30 scenarios (real, measured)</a:t>
            </a:r>
            <a:endParaRPr lang="en-US" sz="930" dirty="0"/>
          </a:p>
        </p:txBody>
      </p:sp>
      <p:sp>
        <p:nvSpPr>
          <p:cNvPr id="33" name="Text 3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34" name="Text 3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COMPLEXITY &amp; OVERHEAD ANALYSIS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Space &amp; Time Complexity</a:t>
            </a:r>
            <a:endParaRPr lang="en-US" sz="3200" dirty="0"/>
          </a:p>
        </p:txBody>
      </p:sp>
      <p:sp>
        <p:nvSpPr>
          <p:cNvPr id="4" name="Text 2"/>
          <p:cNvSpPr txBox="1"/>
          <p:nvPr/>
        </p:nvSpPr>
        <p:spPr>
          <a:xfrm>
            <a:off x="548640" y="1280160"/>
            <a:ext cx="11109960" cy="292608"/>
          </a:xfrm>
          <a:prstGeom prst="rect">
            <a:avLst/>
          </a:prstGeom>
          <a:noFill/>
          <a:ln/>
        </p:spPr>
        <p:txBody>
          <a:bodyPr wrap="square" lIns="0" tIns="0" rIns="0" bIns="0" rtlCol="0" anchor="ctr"/>
          <a:lstStyle/>
          <a:p>
            <a:pPr indent="0" marL="0">
              <a:buNone/>
            </a:pPr>
            <a:r>
              <a:rPr lang="en-US" sz="950" i="1" dirty="0">
                <a:solidFill>
                  <a:srgbClr val="5A6472"/>
                </a:solidFill>
                <a:latin typeface="Calibri" pitchFamily="34" charset="0"/>
                <a:ea typeface="Calibri" pitchFamily="34" charset="-122"/>
                <a:cs typeface="Calibri" pitchFamily="34" charset="-120"/>
              </a:rPr>
              <a:t>N = corpus size (5,000). k = flagged/selected documents (k ≪ N typically). d = embedding dimension. M = baseline set size. Q = golden-query count (small, fixed).</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3383280"/>
        </p:xfrm>
        <a:graphic>
          <a:graphicData uri="http://schemas.openxmlformats.org/drawingml/2006/table">
            <a:tbl>
              <a:tblPr/>
              <a:tblGrid>
                <a:gridCol w="2286000"/>
                <a:gridCol w="3063240"/>
                <a:gridCol w="2560320"/>
                <a:gridCol w="3200400"/>
              </a:tblGrid>
              <a:tr h="563880">
                <a:tc>
                  <a:txBody>
                    <a:bodyPr/>
                    <a:lstStyle/>
                    <a:p>
                      <a:pPr indent="0" marL="0">
                        <a:buNone/>
                      </a:pPr>
                      <a:r>
                        <a:rPr lang="en-US" sz="1000" b="1" dirty="0">
                          <a:solidFill>
                            <a:srgbClr val="FFFFFF"/>
                          </a:solidFill>
                        </a:rPr>
                        <a:t>Module</a:t>
                      </a:r>
                      <a:endParaRPr lang="en-US" sz="100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1000" b="1" dirty="0">
                          <a:solidFill>
                            <a:srgbClr val="FFFFFF"/>
                          </a:solidFill>
                        </a:rPr>
                        <a:t>Time Complexity</a:t>
                      </a:r>
                      <a:endParaRPr lang="en-US" sz="100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1000" b="1" dirty="0">
                          <a:solidFill>
                            <a:srgbClr val="FFFFFF"/>
                          </a:solidFill>
                        </a:rPr>
                        <a:t>Space Complexity</a:t>
                      </a:r>
                      <a:endParaRPr lang="en-US" sz="100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1000" b="1" dirty="0">
                          <a:solidFill>
                            <a:srgbClr val="FFFFFF"/>
                          </a:solidFill>
                        </a:rPr>
                        <a:t>Measured Overhead (real)</a:t>
                      </a:r>
                      <a:endParaRPr lang="en-US" sz="100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r>
              <a:tr h="563880">
                <a:tc>
                  <a:txBody>
                    <a:bodyPr/>
                    <a:lstStyle/>
                    <a:p>
                      <a:pPr indent="0" marL="0">
                        <a:buNone/>
                      </a:pPr>
                      <a:r>
                        <a:rPr lang="en-US" sz="920" dirty="0">
                          <a:solidFill>
                            <a:srgbClr val="20242E"/>
                          </a:solidFill>
                        </a:rPr>
                        <a:t>Detection (M1)</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O(N log M) with an ANN index</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O(N·d) + O(M·d) baseline index</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0.43–0.58s to scan the full 5,000-doc benchmark</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63880">
                <a:tc>
                  <a:txBody>
                    <a:bodyPr/>
                    <a:lstStyle/>
                    <a:p>
                      <a:pPr indent="0" marL="0">
                        <a:buNone/>
                      </a:pPr>
                      <a:r>
                        <a:rPr lang="en-US" sz="920" dirty="0">
                          <a:solidFill>
                            <a:srgbClr val="20242E"/>
                          </a:solidFill>
                        </a:rPr>
                        <a:t>Prioritization (M2) — production</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O(N log N) — sort-dominated (frontier-greedy)</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O(N)</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Near-linear; 0.00% mean gap, max 0.14% vs. exact</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63880">
                <a:tc>
                  <a:txBody>
                    <a:bodyPr/>
                    <a:lstStyle/>
                    <a:p>
                      <a:pPr indent="0" marL="0">
                        <a:buNone/>
                      </a:pPr>
                      <a:r>
                        <a:rPr lang="en-US" sz="920" dirty="0">
                          <a:solidFill>
                            <a:srgbClr val="20242E"/>
                          </a:solidFill>
                        </a:rPr>
                        <a:t>Prioritization (M2) — exact (offline only)</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NP-hard in general; pseudo-polynomial DP / ILP branch-and-bound</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O(N·B)</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Used only on ≤300-doc subsamples — kept off the live path</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63880">
                <a:tc>
                  <a:txBody>
                    <a:bodyPr/>
                    <a:lstStyle/>
                    <a:p>
                      <a:pPr indent="0" marL="0">
                        <a:buNone/>
                      </a:pPr>
                      <a:r>
                        <a:rPr lang="en-US" sz="920" dirty="0">
                          <a:solidFill>
                            <a:srgbClr val="20242E"/>
                          </a:solidFill>
                        </a:rPr>
                        <a:t>Migration (M3)</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O(k·d) — scales with fixes selected, not corpus size</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O(k·d) shadow copy — not a full corpus duplicate</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Overhead bounded by contamination scope, not N</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63880">
                <a:tc>
                  <a:txBody>
                    <a:bodyPr/>
                    <a:lstStyle/>
                    <a:p>
                      <a:pPr indent="0" marL="0">
                        <a:buNone/>
                      </a:pPr>
                      <a:r>
                        <a:rPr lang="en-US" sz="920" dirty="0">
                          <a:solidFill>
                            <a:srgbClr val="20242E"/>
                          </a:solidFill>
                        </a:rPr>
                        <a:t>Verification (M4)</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O(Q·k) — small fixed query set</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O(Q)</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Cheap — re-scores a curated golden set, not full query load</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bl>
          </a:graphicData>
        </a:graphic>
      </p:graphicFrame>
      <p:sp>
        <p:nvSpPr>
          <p:cNvPr id="6" name="Shape 3"/>
          <p:cNvSpPr/>
          <p:nvPr/>
        </p:nvSpPr>
        <p:spPr>
          <a:xfrm>
            <a:off x="548640" y="5212080"/>
            <a:ext cx="11109960" cy="1143000"/>
          </a:xfrm>
          <a:prstGeom prst="roundRect">
            <a:avLst>
              <a:gd name="adj" fmla="val 6400"/>
            </a:avLst>
          </a:prstGeom>
          <a:solidFill>
            <a:srgbClr val="1B2A56"/>
          </a:solidFill>
          <a:ln/>
        </p:spPr>
      </p:sp>
      <p:sp>
        <p:nvSpPr>
          <p:cNvPr id="7" name="Text 4"/>
          <p:cNvSpPr txBox="1"/>
          <p:nvPr/>
        </p:nvSpPr>
        <p:spPr>
          <a:xfrm>
            <a:off x="822960" y="5349240"/>
            <a:ext cx="10515600" cy="868680"/>
          </a:xfrm>
          <a:prstGeom prst="rect">
            <a:avLst/>
          </a:prstGeom>
          <a:noFill/>
          <a:ln/>
        </p:spPr>
        <p:txBody>
          <a:bodyPr wrap="square" lIns="0" tIns="0" rIns="0" bIns="0" rtlCol="0" anchor="ctr"/>
          <a:lstStyle/>
          <a:p>
            <a:pPr indent="0" marL="0">
              <a:lnSpc>
                <a:spcPct val="125000"/>
              </a:lnSpc>
              <a:buNone/>
            </a:pPr>
            <a:r>
              <a:rPr lang="en-US" sz="1150" b="1" dirty="0">
                <a:solidFill>
                  <a:srgbClr val="E4F3F2"/>
                </a:solidFill>
                <a:latin typeface="Calibri" pitchFamily="34" charset="0"/>
                <a:ea typeface="Calibri" pitchFamily="34" charset="-122"/>
                <a:cs typeface="Calibri" pitchFamily="34" charset="-120"/>
              </a:rPr>
              <a:t>The overall system is near-linear in corpus size, by design.  </a:t>
            </a:r>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The only super-linear step (exact ILP) is deliberately kept off the production path — used solely for offline validation of the greedy approximation, which is what actually runs live. Space overhead is bounded by k (documents actually being fixed), never a full second copy of the corpus.</a:t>
            </a:r>
            <a:endParaRPr lang="en-US" sz="1150" dirty="0"/>
          </a:p>
        </p:txBody>
      </p:sp>
      <p:sp>
        <p:nvSpPr>
          <p:cNvPr id="8" name="Text 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9" name="Text 6"/>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ANALYSIS AND RESULTS — DETECTION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Results — Detection Performance</a:t>
            </a:r>
            <a:endParaRPr lang="en-US" sz="3200" dirty="0"/>
          </a:p>
        </p:txBody>
      </p:sp>
      <p:pic>
        <p:nvPicPr>
          <p:cNvPr id="4" name="Image 0" descr="../phase2_proposed/results/from_phase1_baseline/detection_f1_by_ratio.png">    </p:cNvPr>
          <p:cNvPicPr>
            <a:picLocks noChangeAspect="1"/>
          </p:cNvPicPr>
          <p:nvPr/>
        </p:nvPicPr>
        <p:blipFill>
          <a:blip r:embed="rId1"/>
          <a:stretch>
            <a:fillRect/>
          </a:stretch>
        </p:blipFill>
        <p:spPr>
          <a:xfrm>
            <a:off x="548640" y="1554480"/>
            <a:ext cx="6035040" cy="4306824"/>
          </a:xfrm>
          <a:prstGeom prst="rect">
            <a:avLst/>
          </a:prstGeom>
        </p:spPr>
      </p:pic>
      <p:sp>
        <p:nvSpPr>
          <p:cNvPr id="5" name="Shape 2"/>
          <p:cNvSpPr/>
          <p:nvPr/>
        </p:nvSpPr>
        <p:spPr>
          <a:xfrm>
            <a:off x="6903720" y="1600200"/>
            <a:ext cx="4754880" cy="1024128"/>
          </a:xfrm>
          <a:prstGeom prst="roundRect">
            <a:avLst>
              <a:gd name="adj" fmla="val 7143"/>
            </a:avLst>
          </a:prstGeom>
          <a:solidFill>
            <a:srgbClr val="F4F7FC"/>
          </a:solidFill>
          <a:ln/>
          <a:effectLst>
            <a:outerShdw sx="100000" sy="100000" kx="0" ky="0" algn="bl" rotWithShape="0" blurRad="101600" dist="38100" dir="5400000">
              <a:srgbClr val="1B2A56">
                <a:alpha val="12000"/>
              </a:srgbClr>
            </a:outerShdw>
          </a:effectLst>
        </p:spPr>
      </p:sp>
      <p:sp>
        <p:nvSpPr>
          <p:cNvPr id="6" name="Text 3"/>
          <p:cNvSpPr txBox="1"/>
          <p:nvPr/>
        </p:nvSpPr>
        <p:spPr>
          <a:xfrm>
            <a:off x="7132320" y="1691640"/>
            <a:ext cx="4297680" cy="411480"/>
          </a:xfrm>
          <a:prstGeom prst="rect">
            <a:avLst/>
          </a:prstGeom>
          <a:noFill/>
          <a:ln/>
        </p:spPr>
        <p:txBody>
          <a:bodyPr wrap="square" lIns="0" tIns="0" rIns="0" bIns="0" rtlCol="0" anchor="ctr"/>
          <a:lstStyle/>
          <a:p>
            <a:pPr indent="0" marL="0">
              <a:buNone/>
            </a:pPr>
            <a:r>
              <a:rPr lang="en-US" sz="2100" b="1" dirty="0">
                <a:solidFill>
                  <a:srgbClr val="1E824C"/>
                </a:solidFill>
                <a:latin typeface="Cambria" pitchFamily="34" charset="0"/>
                <a:ea typeface="Cambria" pitchFamily="34" charset="-122"/>
                <a:cs typeface="Cambria" pitchFamily="34" charset="-120"/>
              </a:rPr>
              <a:t>0.51–0.57</a:t>
            </a:r>
            <a:endParaRPr lang="en-US" sz="2100" dirty="0"/>
          </a:p>
        </p:txBody>
      </p:sp>
      <p:sp>
        <p:nvSpPr>
          <p:cNvPr id="7" name="Text 4"/>
          <p:cNvSpPr txBox="1"/>
          <p:nvPr/>
        </p:nvSpPr>
        <p:spPr>
          <a:xfrm>
            <a:off x="7132320" y="2130552"/>
            <a:ext cx="4297680" cy="438912"/>
          </a:xfrm>
          <a:prstGeom prst="rect">
            <a:avLst/>
          </a:prstGeom>
          <a:noFill/>
          <a:ln/>
        </p:spPr>
        <p:txBody>
          <a:bodyPr wrap="square" lIns="0" tIns="0" rIns="0" bIns="0" rtlCol="0" anchor="ctr"/>
          <a:lstStyle/>
          <a:p>
            <a:pPr indent="0" marL="0">
              <a:lnSpc>
                <a:spcPct val="112000"/>
              </a:lnSpc>
              <a:buNone/>
            </a:pPr>
            <a:r>
              <a:rPr lang="en-US" sz="930" dirty="0">
                <a:solidFill>
                  <a:srgbClr val="20242E"/>
                </a:solidFill>
                <a:latin typeface="Calibri" pitchFamily="34" charset="0"/>
                <a:ea typeface="Calibri" pitchFamily="34" charset="-122"/>
                <a:cs typeface="Calibri" pitchFamily="34" charset="-120"/>
              </a:rPr>
              <a:t>KNN-OOD F1 across all five contamination ratios — our chosen production detector</a:t>
            </a:r>
            <a:endParaRPr lang="en-US" sz="930" dirty="0"/>
          </a:p>
        </p:txBody>
      </p:sp>
      <p:sp>
        <p:nvSpPr>
          <p:cNvPr id="8" name="Shape 5"/>
          <p:cNvSpPr/>
          <p:nvPr/>
        </p:nvSpPr>
        <p:spPr>
          <a:xfrm>
            <a:off x="6903720" y="2734056"/>
            <a:ext cx="4754880" cy="1024128"/>
          </a:xfrm>
          <a:prstGeom prst="roundRect">
            <a:avLst>
              <a:gd name="adj" fmla="val 7143"/>
            </a:avLst>
          </a:prstGeom>
          <a:solidFill>
            <a:srgbClr val="F4F7FC"/>
          </a:solidFill>
          <a:ln/>
          <a:effectLst>
            <a:outerShdw sx="100000" sy="100000" kx="0" ky="0" algn="bl" rotWithShape="0" blurRad="101600" dist="38100" dir="5400000">
              <a:srgbClr val="1B2A56">
                <a:alpha val="12000"/>
              </a:srgbClr>
            </a:outerShdw>
          </a:effectLst>
        </p:spPr>
      </p:sp>
      <p:sp>
        <p:nvSpPr>
          <p:cNvPr id="9" name="Text 6"/>
          <p:cNvSpPr txBox="1"/>
          <p:nvPr/>
        </p:nvSpPr>
        <p:spPr>
          <a:xfrm>
            <a:off x="7132320" y="2825496"/>
            <a:ext cx="4297680" cy="411480"/>
          </a:xfrm>
          <a:prstGeom prst="rect">
            <a:avLst/>
          </a:prstGeom>
          <a:noFill/>
          <a:ln/>
        </p:spPr>
        <p:txBody>
          <a:bodyPr wrap="square" lIns="0" tIns="0" rIns="0" bIns="0" rtlCol="0" anchor="ctr"/>
          <a:lstStyle/>
          <a:p>
            <a:pPr indent="0" marL="0">
              <a:buNone/>
            </a:pPr>
            <a:r>
              <a:rPr lang="en-US" sz="2100" b="1" dirty="0">
                <a:solidFill>
                  <a:srgbClr val="C97A22"/>
                </a:solidFill>
                <a:latin typeface="Cambria" pitchFamily="34" charset="0"/>
                <a:ea typeface="Cambria" pitchFamily="34" charset="-122"/>
                <a:cs typeface="Cambria" pitchFamily="34" charset="-120"/>
              </a:rPr>
              <a:t>0.11–0.51</a:t>
            </a:r>
            <a:endParaRPr lang="en-US" sz="2100" dirty="0"/>
          </a:p>
        </p:txBody>
      </p:sp>
      <p:sp>
        <p:nvSpPr>
          <p:cNvPr id="10" name="Text 7"/>
          <p:cNvSpPr txBox="1"/>
          <p:nvPr/>
        </p:nvSpPr>
        <p:spPr>
          <a:xfrm>
            <a:off x="7132320" y="3264408"/>
            <a:ext cx="4297680" cy="438912"/>
          </a:xfrm>
          <a:prstGeom prst="rect">
            <a:avLst/>
          </a:prstGeom>
          <a:noFill/>
          <a:ln/>
        </p:spPr>
        <p:txBody>
          <a:bodyPr wrap="square" lIns="0" tIns="0" rIns="0" bIns="0" rtlCol="0" anchor="ctr"/>
          <a:lstStyle/>
          <a:p>
            <a:pPr indent="0" marL="0">
              <a:lnSpc>
                <a:spcPct val="112000"/>
              </a:lnSpc>
              <a:buNone/>
            </a:pPr>
            <a:r>
              <a:rPr lang="en-US" sz="930" dirty="0">
                <a:solidFill>
                  <a:srgbClr val="20242E"/>
                </a:solidFill>
                <a:latin typeface="Calibri" pitchFamily="34" charset="0"/>
                <a:ea typeface="Calibri" pitchFamily="34" charset="-122"/>
                <a:cs typeface="Calibri" pitchFamily="34" charset="-120"/>
              </a:rPr>
              <a:t>LOF F1 range — degrades sharply at low contamination, the harder, more realistic case</a:t>
            </a:r>
            <a:endParaRPr lang="en-US" sz="930" dirty="0"/>
          </a:p>
        </p:txBody>
      </p:sp>
      <p:sp>
        <p:nvSpPr>
          <p:cNvPr id="11" name="Shape 8"/>
          <p:cNvSpPr/>
          <p:nvPr/>
        </p:nvSpPr>
        <p:spPr>
          <a:xfrm>
            <a:off x="6903720" y="3867912"/>
            <a:ext cx="4754880" cy="1024128"/>
          </a:xfrm>
          <a:prstGeom prst="roundRect">
            <a:avLst>
              <a:gd name="adj" fmla="val 7143"/>
            </a:avLst>
          </a:prstGeom>
          <a:solidFill>
            <a:srgbClr val="F4F7FC"/>
          </a:solidFill>
          <a:ln/>
          <a:effectLst>
            <a:outerShdw sx="100000" sy="100000" kx="0" ky="0" algn="bl" rotWithShape="0" blurRad="101600" dist="38100" dir="5400000">
              <a:srgbClr val="1B2A56">
                <a:alpha val="12000"/>
              </a:srgbClr>
            </a:outerShdw>
          </a:effectLst>
        </p:spPr>
      </p:sp>
      <p:sp>
        <p:nvSpPr>
          <p:cNvPr id="12" name="Text 9"/>
          <p:cNvSpPr txBox="1"/>
          <p:nvPr/>
        </p:nvSpPr>
        <p:spPr>
          <a:xfrm>
            <a:off x="7132320" y="3959352"/>
            <a:ext cx="4297680" cy="411480"/>
          </a:xfrm>
          <a:prstGeom prst="rect">
            <a:avLst/>
          </a:prstGeom>
          <a:noFill/>
          <a:ln/>
        </p:spPr>
        <p:txBody>
          <a:bodyPr wrap="square" lIns="0" tIns="0" rIns="0" bIns="0" rtlCol="0" anchor="ctr"/>
          <a:lstStyle/>
          <a:p>
            <a:pPr indent="0" marL="0">
              <a:buNone/>
            </a:pPr>
            <a:r>
              <a:rPr lang="en-US" sz="2100" b="1" dirty="0">
                <a:solidFill>
                  <a:srgbClr val="C97A22"/>
                </a:solidFill>
                <a:latin typeface="Cambria" pitchFamily="34" charset="0"/>
                <a:ea typeface="Cambria" pitchFamily="34" charset="-122"/>
                <a:cs typeface="Cambria" pitchFamily="34" charset="-120"/>
              </a:rPr>
              <a:t>0.11–0.45</a:t>
            </a:r>
            <a:endParaRPr lang="en-US" sz="2100" dirty="0"/>
          </a:p>
        </p:txBody>
      </p:sp>
      <p:sp>
        <p:nvSpPr>
          <p:cNvPr id="13" name="Text 10"/>
          <p:cNvSpPr txBox="1"/>
          <p:nvPr/>
        </p:nvSpPr>
        <p:spPr>
          <a:xfrm>
            <a:off x="7132320" y="4398264"/>
            <a:ext cx="4297680" cy="438912"/>
          </a:xfrm>
          <a:prstGeom prst="rect">
            <a:avLst/>
          </a:prstGeom>
          <a:noFill/>
          <a:ln/>
        </p:spPr>
        <p:txBody>
          <a:bodyPr wrap="square" lIns="0" tIns="0" rIns="0" bIns="0" rtlCol="0" anchor="ctr"/>
          <a:lstStyle/>
          <a:p>
            <a:pPr indent="0" marL="0">
              <a:lnSpc>
                <a:spcPct val="112000"/>
              </a:lnSpc>
              <a:buNone/>
            </a:pPr>
            <a:r>
              <a:rPr lang="en-US" sz="930" dirty="0">
                <a:solidFill>
                  <a:srgbClr val="20242E"/>
                </a:solidFill>
                <a:latin typeface="Calibri" pitchFamily="34" charset="0"/>
                <a:ea typeface="Calibri" pitchFamily="34" charset="-122"/>
                <a:cs typeface="Calibri" pitchFamily="34" charset="-120"/>
              </a:rPr>
              <a:t>Isolation Forest F1 range — same weakness at low contamination ratios</a:t>
            </a:r>
            <a:endParaRPr lang="en-US" sz="930" dirty="0"/>
          </a:p>
        </p:txBody>
      </p:sp>
      <p:sp>
        <p:nvSpPr>
          <p:cNvPr id="14" name="Shape 11"/>
          <p:cNvSpPr/>
          <p:nvPr/>
        </p:nvSpPr>
        <p:spPr>
          <a:xfrm>
            <a:off x="6903720" y="5001768"/>
            <a:ext cx="4754880" cy="1024128"/>
          </a:xfrm>
          <a:prstGeom prst="roundRect">
            <a:avLst>
              <a:gd name="adj" fmla="val 7143"/>
            </a:avLst>
          </a:prstGeom>
          <a:solidFill>
            <a:srgbClr val="F4F7FC"/>
          </a:solidFill>
          <a:ln/>
          <a:effectLst>
            <a:outerShdw sx="100000" sy="100000" kx="0" ky="0" algn="bl" rotWithShape="0" blurRad="101600" dist="38100" dir="5400000">
              <a:srgbClr val="1B2A56">
                <a:alpha val="12000"/>
              </a:srgbClr>
            </a:outerShdw>
          </a:effectLst>
        </p:spPr>
      </p:sp>
      <p:sp>
        <p:nvSpPr>
          <p:cNvPr id="15" name="Text 12"/>
          <p:cNvSpPr txBox="1"/>
          <p:nvPr/>
        </p:nvSpPr>
        <p:spPr>
          <a:xfrm>
            <a:off x="7132320" y="5093208"/>
            <a:ext cx="4297680" cy="411480"/>
          </a:xfrm>
          <a:prstGeom prst="rect">
            <a:avLst/>
          </a:prstGeom>
          <a:noFill/>
          <a:ln/>
        </p:spPr>
        <p:txBody>
          <a:bodyPr wrap="square" lIns="0" tIns="0" rIns="0" bIns="0" rtlCol="0" anchor="ctr"/>
          <a:lstStyle/>
          <a:p>
            <a:pPr indent="0" marL="0">
              <a:buNone/>
            </a:pPr>
            <a:r>
              <a:rPr lang="en-US" sz="2100" b="1" dirty="0">
                <a:solidFill>
                  <a:srgbClr val="0E7C7B"/>
                </a:solidFill>
                <a:latin typeface="Cambria" pitchFamily="34" charset="0"/>
                <a:ea typeface="Cambria" pitchFamily="34" charset="-122"/>
                <a:cs typeface="Cambria" pitchFamily="34" charset="-120"/>
              </a:rPr>
              <a:t>0.43–0.58s</a:t>
            </a:r>
            <a:endParaRPr lang="en-US" sz="2100" dirty="0"/>
          </a:p>
        </p:txBody>
      </p:sp>
      <p:sp>
        <p:nvSpPr>
          <p:cNvPr id="16" name="Text 13"/>
          <p:cNvSpPr txBox="1"/>
          <p:nvPr/>
        </p:nvSpPr>
        <p:spPr>
          <a:xfrm>
            <a:off x="7132320" y="5532120"/>
            <a:ext cx="4297680" cy="438912"/>
          </a:xfrm>
          <a:prstGeom prst="rect">
            <a:avLst/>
          </a:prstGeom>
          <a:noFill/>
          <a:ln/>
        </p:spPr>
        <p:txBody>
          <a:bodyPr wrap="square" lIns="0" tIns="0" rIns="0" bIns="0" rtlCol="0" anchor="ctr"/>
          <a:lstStyle/>
          <a:p>
            <a:pPr indent="0" marL="0">
              <a:lnSpc>
                <a:spcPct val="112000"/>
              </a:lnSpc>
              <a:buNone/>
            </a:pPr>
            <a:r>
              <a:rPr lang="en-US" sz="930" dirty="0">
                <a:solidFill>
                  <a:srgbClr val="20242E"/>
                </a:solidFill>
                <a:latin typeface="Calibri" pitchFamily="34" charset="0"/>
                <a:ea typeface="Calibri" pitchFamily="34" charset="-122"/>
                <a:cs typeface="Calibri" pitchFamily="34" charset="-120"/>
              </a:rPr>
              <a:t>Measured wall-clock time to scan the full 5,000-doc benchmark, per detector, per ratio</a:t>
            </a:r>
            <a:endParaRPr lang="en-US" sz="930" dirty="0"/>
          </a:p>
        </p:txBody>
      </p:sp>
      <p:sp>
        <p:nvSpPr>
          <p:cNvPr id="17" name="Text 1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8" name="Text 15"/>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ANALYSIS AND RESULTS — PRIORITIZATION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Results — Scheduler Optimality</a:t>
            </a:r>
            <a:endParaRPr lang="en-US" sz="3200" dirty="0"/>
          </a:p>
        </p:txBody>
      </p:sp>
      <p:pic>
        <p:nvPicPr>
          <p:cNvPr id="4" name="Image 0" descr="../phase2_proposed/results/balanced_actions_stress_test/scheduler_optimality_gap.png">    </p:cNvPr>
          <p:cNvPicPr>
            <a:picLocks noChangeAspect="1"/>
          </p:cNvPicPr>
          <p:nvPr/>
        </p:nvPicPr>
        <p:blipFill>
          <a:blip r:embed="rId1"/>
          <a:stretch>
            <a:fillRect/>
          </a:stretch>
        </p:blipFill>
        <p:spPr>
          <a:xfrm>
            <a:off x="548640" y="1554480"/>
            <a:ext cx="6675120" cy="4169664"/>
          </a:xfrm>
          <a:prstGeom prst="rect">
            <a:avLst/>
          </a:prstGeom>
        </p:spPr>
      </p:pic>
      <p:sp>
        <p:nvSpPr>
          <p:cNvPr id="5" name="Shape 2"/>
          <p:cNvSpPr/>
          <p:nvPr/>
        </p:nvSpPr>
        <p:spPr>
          <a:xfrm>
            <a:off x="7452360" y="1554480"/>
            <a:ext cx="4206240" cy="4169664"/>
          </a:xfrm>
          <a:prstGeom prst="roundRect">
            <a:avLst>
              <a:gd name="adj" fmla="val 1754"/>
            </a:avLst>
          </a:prstGeom>
          <a:solidFill>
            <a:srgbClr val="1B2A56"/>
          </a:solidFill>
          <a:ln/>
        </p:spPr>
      </p:sp>
      <p:sp>
        <p:nvSpPr>
          <p:cNvPr id="6" name="Text 3"/>
          <p:cNvSpPr txBox="1"/>
          <p:nvPr/>
        </p:nvSpPr>
        <p:spPr>
          <a:xfrm>
            <a:off x="7680960" y="1737360"/>
            <a:ext cx="3749040" cy="256032"/>
          </a:xfrm>
          <a:prstGeom prst="rect">
            <a:avLst/>
          </a:prstGeom>
          <a:noFill/>
          <a:ln/>
        </p:spPr>
        <p:txBody>
          <a:bodyPr wrap="square" lIns="0" tIns="0" rIns="0" bIns="0" rtlCol="0" anchor="ctr"/>
          <a:lstStyle/>
          <a:p>
            <a:pPr indent="0" marL="0">
              <a:buNone/>
            </a:pPr>
            <a:r>
              <a:rPr lang="en-US" sz="1050" b="1" spc="120" kern="0" dirty="0">
                <a:solidFill>
                  <a:srgbClr val="E4F3F2"/>
                </a:solidFill>
                <a:latin typeface="Calibri" pitchFamily="34" charset="0"/>
                <a:ea typeface="Calibri" pitchFamily="34" charset="-122"/>
                <a:cs typeface="Calibri" pitchFamily="34" charset="-120"/>
              </a:rPr>
              <a:t>WHY A STRESS TEST</a:t>
            </a:r>
            <a:endParaRPr lang="en-US" sz="1050" dirty="0"/>
          </a:p>
        </p:txBody>
      </p:sp>
      <p:sp>
        <p:nvSpPr>
          <p:cNvPr id="7" name="Text 4"/>
          <p:cNvSpPr txBox="1"/>
          <p:nvPr/>
        </p:nvSpPr>
        <p:spPr>
          <a:xfrm>
            <a:off x="7680960" y="2029968"/>
            <a:ext cx="3749040" cy="1234440"/>
          </a:xfrm>
          <a:prstGeom prst="rect">
            <a:avLst/>
          </a:prstGeom>
          <a:noFill/>
          <a:ln/>
        </p:spPr>
        <p:txBody>
          <a:bodyPr wrap="square" lIns="0" tIns="0" rIns="0" bIns="0" rtlCol="0" anchor="ctr"/>
          <a:lstStyle/>
          <a:p>
            <a:pPr indent="0" marL="0">
              <a:lnSpc>
                <a:spcPct val="120000"/>
              </a:lnSpc>
              <a:buNone/>
            </a:pPr>
            <a:r>
              <a:rPr lang="en-US" sz="980" dirty="0">
                <a:solidFill>
                  <a:srgbClr val="CFE0FA"/>
                </a:solidFill>
                <a:latin typeface="Calibri" pitchFamily="34" charset="0"/>
                <a:ea typeface="Calibri" pitchFamily="34" charset="-122"/>
                <a:cs typeface="Calibri" pitchFamily="34" charset="-120"/>
              </a:rPr>
              <a:t>In our primary configuration, patch cost is dominated by full re-embed, so both algorithms trivially agree — a 0.00% gap that proves nothing interesting. We deliberately re-tuned the patch-cost parameter to create a genuinely non-trivial three-way trade-off, then re-ran the comparison on an identical instance.</a:t>
            </a:r>
            <a:endParaRPr lang="en-US" sz="980" dirty="0"/>
          </a:p>
        </p:txBody>
      </p:sp>
      <p:sp>
        <p:nvSpPr>
          <p:cNvPr id="8" name="Shape 5"/>
          <p:cNvSpPr/>
          <p:nvPr/>
        </p:nvSpPr>
        <p:spPr>
          <a:xfrm>
            <a:off x="7680960" y="3337560"/>
            <a:ext cx="3749040" cy="0"/>
          </a:xfrm>
          <a:prstGeom prst="line">
            <a:avLst/>
          </a:prstGeom>
          <a:noFill/>
          <a:ln w="12700">
            <a:solidFill>
              <a:srgbClr val="33447A"/>
            </a:solidFill>
            <a:prstDash val="solid"/>
          </a:ln>
        </p:spPr>
      </p:sp>
      <p:sp>
        <p:nvSpPr>
          <p:cNvPr id="9" name="Text 6"/>
          <p:cNvSpPr txBox="1"/>
          <p:nvPr/>
        </p:nvSpPr>
        <p:spPr>
          <a:xfrm>
            <a:off x="7680960" y="3474720"/>
            <a:ext cx="3749040" cy="548640"/>
          </a:xfrm>
          <a:prstGeom prst="rect">
            <a:avLst/>
          </a:prstGeom>
          <a:noFill/>
          <a:ln/>
        </p:spPr>
        <p:txBody>
          <a:bodyPr wrap="square" lIns="0" tIns="0" rIns="0" bIns="0" rtlCol="0" anchor="ctr"/>
          <a:lstStyle/>
          <a:p>
            <a:pPr indent="0" marL="0">
              <a:lnSpc>
                <a:spcPct val="120000"/>
              </a:lnSpc>
              <a:buNone/>
            </a:pPr>
            <a:r>
              <a:rPr lang="en-US" sz="2200" b="1" dirty="0">
                <a:solidFill>
                  <a:srgbClr val="B3261E"/>
                </a:solidFill>
                <a:latin typeface="Calibri" pitchFamily="34" charset="0"/>
                <a:ea typeface="Calibri" pitchFamily="34" charset="-122"/>
                <a:cs typeface="Calibri" pitchFamily="34" charset="-120"/>
              </a:rPr>
              <a:t>88.00%</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  mean optimality gap — naive greedy (flat cost-sort)</a:t>
            </a:r>
            <a:endParaRPr lang="en-US" sz="2200" dirty="0"/>
          </a:p>
        </p:txBody>
      </p:sp>
      <p:sp>
        <p:nvSpPr>
          <p:cNvPr id="10" name="Text 7"/>
          <p:cNvSpPr txBox="1"/>
          <p:nvPr/>
        </p:nvSpPr>
        <p:spPr>
          <a:xfrm>
            <a:off x="7680960" y="4069080"/>
            <a:ext cx="3749040" cy="548640"/>
          </a:xfrm>
          <a:prstGeom prst="rect">
            <a:avLst/>
          </a:prstGeom>
          <a:noFill/>
          <a:ln/>
        </p:spPr>
        <p:txBody>
          <a:bodyPr wrap="square" lIns="0" tIns="0" rIns="0" bIns="0" rtlCol="0" anchor="ctr"/>
          <a:lstStyle/>
          <a:p>
            <a:pPr indent="0" marL="0">
              <a:lnSpc>
                <a:spcPct val="120000"/>
              </a:lnSpc>
              <a:buNone/>
            </a:pPr>
            <a:r>
              <a:rPr lang="en-US" sz="2200" b="1" dirty="0">
                <a:solidFill>
                  <a:srgbClr val="1E824C"/>
                </a:solidFill>
                <a:latin typeface="Calibri" pitchFamily="34" charset="0"/>
                <a:ea typeface="Calibri" pitchFamily="34" charset="-122"/>
                <a:cs typeface="Calibri" pitchFamily="34" charset="-120"/>
              </a:rPr>
              <a:t>0.00%</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  mean gap, max 0.14% — frontier greedy (production)</a:t>
            </a:r>
            <a:endParaRPr lang="en-US" sz="2200" dirty="0"/>
          </a:p>
        </p:txBody>
      </p:sp>
      <p:sp>
        <p:nvSpPr>
          <p:cNvPr id="11" name="Text 8"/>
          <p:cNvSpPr txBox="1"/>
          <p:nvPr/>
        </p:nvSpPr>
        <p:spPr>
          <a:xfrm>
            <a:off x="7680960" y="4709160"/>
            <a:ext cx="3749040" cy="822960"/>
          </a:xfrm>
          <a:prstGeom prst="rect">
            <a:avLst/>
          </a:prstGeom>
          <a:noFill/>
          <a:ln/>
        </p:spPr>
        <p:txBody>
          <a:bodyPr wrap="square" lIns="0" tIns="0" rIns="0" bIns="0" rtlCol="0" anchor="ctr"/>
          <a:lstStyle/>
          <a:p>
            <a:pPr indent="0" marL="0">
              <a:lnSpc>
                <a:spcPct val="120000"/>
              </a:lnSpc>
              <a:buNone/>
            </a:pPr>
            <a:r>
              <a:rPr lang="en-US" sz="930" i="1" dirty="0">
                <a:solidFill>
                  <a:srgbClr val="8CA0C8"/>
                </a:solidFill>
                <a:latin typeface="Calibri" pitchFamily="34" charset="0"/>
                <a:ea typeface="Calibri" pitchFamily="34" charset="-122"/>
                <a:cs typeface="Calibri" pitchFamily="34" charset="-120"/>
              </a:rPr>
              <a:t>This is the direct, measured answer to Review I's question about the 1979 knapsack paper: the theory holds up empirically, on our own data.</a:t>
            </a:r>
            <a:endParaRPr lang="en-US" sz="930" dirty="0"/>
          </a:p>
        </p:txBody>
      </p:sp>
      <p:sp>
        <p:nvSpPr>
          <p:cNvPr id="12" name="Text 9"/>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3" name="Text 10"/>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ANALYSIS AND RESULTS — MIGRATION &amp; SAFETY</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Results — Migration &amp; Safety Gate</a:t>
            </a:r>
            <a:endParaRPr lang="en-US" sz="3200" dirty="0"/>
          </a:p>
        </p:txBody>
      </p:sp>
      <p:pic>
        <p:nvPicPr>
          <p:cNvPr id="4" name="Image 0" descr="../phase2_proposed/results/migration_quality_by_budget.png">    </p:cNvPr>
          <p:cNvPicPr>
            <a:picLocks noChangeAspect="1"/>
          </p:cNvPicPr>
          <p:nvPr/>
        </p:nvPicPr>
        <p:blipFill>
          <a:blip r:embed="rId1"/>
          <a:stretch>
            <a:fillRect/>
          </a:stretch>
        </p:blipFill>
        <p:spPr>
          <a:xfrm>
            <a:off x="548640" y="1554480"/>
            <a:ext cx="10881360" cy="2322576"/>
          </a:xfrm>
          <a:prstGeom prst="rect">
            <a:avLst/>
          </a:prstGeom>
        </p:spPr>
      </p:pic>
      <p:sp>
        <p:nvSpPr>
          <p:cNvPr id="5" name="Shape 2"/>
          <p:cNvSpPr/>
          <p:nvPr/>
        </p:nvSpPr>
        <p:spPr>
          <a:xfrm>
            <a:off x="548640" y="4114800"/>
            <a:ext cx="1110996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6" name="Text 3"/>
          <p:cNvSpPr txBox="1"/>
          <p:nvPr/>
        </p:nvSpPr>
        <p:spPr>
          <a:xfrm>
            <a:off x="777240" y="4206240"/>
            <a:ext cx="1554480" cy="530352"/>
          </a:xfrm>
          <a:prstGeom prst="rect">
            <a:avLst/>
          </a:prstGeom>
          <a:noFill/>
          <a:ln/>
        </p:spPr>
        <p:txBody>
          <a:bodyPr wrap="square" lIns="0" tIns="0" rIns="0" bIns="0" rtlCol="0" anchor="ctr"/>
          <a:lstStyle/>
          <a:p>
            <a:pPr indent="0" marL="0">
              <a:buNone/>
            </a:pPr>
            <a:r>
              <a:rPr lang="en-US" sz="1500" b="1" dirty="0">
                <a:solidFill>
                  <a:srgbClr val="B3261E"/>
                </a:solidFill>
                <a:latin typeface="Cambria" pitchFamily="34" charset="0"/>
                <a:ea typeface="Cambria" pitchFamily="34" charset="-122"/>
                <a:cs typeface="Cambria" pitchFamily="34" charset="-120"/>
              </a:rPr>
              <a:t>10 / 30</a:t>
            </a:r>
            <a:endParaRPr lang="en-US" sz="1500" dirty="0"/>
          </a:p>
        </p:txBody>
      </p:sp>
      <p:sp>
        <p:nvSpPr>
          <p:cNvPr id="7" name="Text 4"/>
          <p:cNvSpPr txBox="1"/>
          <p:nvPr/>
        </p:nvSpPr>
        <p:spPr>
          <a:xfrm>
            <a:off x="2468880" y="4206240"/>
            <a:ext cx="8961120" cy="530352"/>
          </a:xfrm>
          <a:prstGeom prst="rect">
            <a:avLst/>
          </a:prstGeom>
          <a:noFill/>
          <a:ln/>
        </p:spPr>
        <p:txBody>
          <a:bodyPr wrap="square" lIns="0" tIns="0" rIns="0" bIns="0" rtlCol="0" anchor="ctr"/>
          <a:lstStyle/>
          <a:p>
            <a:pPr indent="0" marL="0">
              <a:lnSpc>
                <a:spcPct val="115000"/>
              </a:lnSpc>
              <a:buNone/>
            </a:pPr>
            <a:r>
              <a:rPr lang="en-US" sz="1030" dirty="0">
                <a:solidFill>
                  <a:srgbClr val="20242E"/>
                </a:solidFill>
                <a:latin typeface="Calibri" pitchFamily="34" charset="0"/>
                <a:ea typeface="Calibri" pitchFamily="34" charset="-122"/>
                <a:cs typeface="Calibri" pitchFamily="34" charset="-120"/>
              </a:rPr>
              <a:t>ratio × budget scenarios where the safety gate correctly ABORTED a plan before it could regress production</a:t>
            </a:r>
            <a:endParaRPr lang="en-US" sz="1030" dirty="0"/>
          </a:p>
        </p:txBody>
      </p:sp>
      <p:sp>
        <p:nvSpPr>
          <p:cNvPr id="8" name="Shape 5"/>
          <p:cNvSpPr/>
          <p:nvPr/>
        </p:nvSpPr>
        <p:spPr>
          <a:xfrm>
            <a:off x="548640" y="4937760"/>
            <a:ext cx="1110996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9" name="Text 6"/>
          <p:cNvSpPr txBox="1"/>
          <p:nvPr/>
        </p:nvSpPr>
        <p:spPr>
          <a:xfrm>
            <a:off x="777240" y="5029200"/>
            <a:ext cx="1554480" cy="530352"/>
          </a:xfrm>
          <a:prstGeom prst="rect">
            <a:avLst/>
          </a:prstGeom>
          <a:noFill/>
          <a:ln/>
        </p:spPr>
        <p:txBody>
          <a:bodyPr wrap="square" lIns="0" tIns="0" rIns="0" bIns="0" rtlCol="0" anchor="ctr"/>
          <a:lstStyle/>
          <a:p>
            <a:pPr indent="0" marL="0">
              <a:buNone/>
            </a:pPr>
            <a:r>
              <a:rPr lang="en-US" sz="1500" b="1" dirty="0">
                <a:solidFill>
                  <a:srgbClr val="C97A22"/>
                </a:solidFill>
                <a:latin typeface="Cambria" pitchFamily="34" charset="0"/>
                <a:ea typeface="Cambria" pitchFamily="34" charset="-122"/>
                <a:cs typeface="Cambria" pitchFamily="34" charset="-120"/>
              </a:rPr>
              <a:t>Cause A</a:t>
            </a:r>
            <a:endParaRPr lang="en-US" sz="1500" dirty="0"/>
          </a:p>
        </p:txBody>
      </p:sp>
      <p:sp>
        <p:nvSpPr>
          <p:cNvPr id="10" name="Text 7"/>
          <p:cNvSpPr txBox="1"/>
          <p:nvPr/>
        </p:nvSpPr>
        <p:spPr>
          <a:xfrm>
            <a:off x="2468880" y="5029200"/>
            <a:ext cx="8961120" cy="530352"/>
          </a:xfrm>
          <a:prstGeom prst="rect">
            <a:avLst/>
          </a:prstGeom>
          <a:noFill/>
          <a:ln/>
        </p:spPr>
        <p:txBody>
          <a:bodyPr wrap="square" lIns="0" tIns="0" rIns="0" bIns="0" rtlCol="0" anchor="ctr"/>
          <a:lstStyle/>
          <a:p>
            <a:pPr indent="0" marL="0">
              <a:lnSpc>
                <a:spcPct val="115000"/>
              </a:lnSpc>
              <a:buNone/>
            </a:pPr>
            <a:r>
              <a:rPr lang="en-US" sz="1030" dirty="0">
                <a:solidFill>
                  <a:srgbClr val="20242E"/>
                </a:solidFill>
                <a:latin typeface="Calibri" pitchFamily="34" charset="0"/>
                <a:ea typeface="Calibri" pitchFamily="34" charset="-122"/>
                <a:cs typeface="Calibri" pitchFamily="34" charset="-120"/>
              </a:rPr>
              <a:t>Fixing an unrelated document shifted the ranking for a different, unrelated query — a real interaction the gate caught</a:t>
            </a:r>
            <a:endParaRPr lang="en-US" sz="1030" dirty="0"/>
          </a:p>
        </p:txBody>
      </p:sp>
      <p:sp>
        <p:nvSpPr>
          <p:cNvPr id="11" name="Shape 8"/>
          <p:cNvSpPr/>
          <p:nvPr/>
        </p:nvSpPr>
        <p:spPr>
          <a:xfrm>
            <a:off x="548640" y="5760720"/>
            <a:ext cx="1110996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12" name="Text 9"/>
          <p:cNvSpPr txBox="1"/>
          <p:nvPr/>
        </p:nvSpPr>
        <p:spPr>
          <a:xfrm>
            <a:off x="777240" y="5852160"/>
            <a:ext cx="1554480" cy="530352"/>
          </a:xfrm>
          <a:prstGeom prst="rect">
            <a:avLst/>
          </a:prstGeom>
          <a:noFill/>
          <a:ln/>
        </p:spPr>
        <p:txBody>
          <a:bodyPr wrap="square" lIns="0" tIns="0" rIns="0" bIns="0" rtlCol="0" anchor="ctr"/>
          <a:lstStyle/>
          <a:p>
            <a:pPr indent="0" marL="0">
              <a:buNone/>
            </a:pPr>
            <a:r>
              <a:rPr lang="en-US" sz="1500" b="1" dirty="0">
                <a:solidFill>
                  <a:srgbClr val="C97A22"/>
                </a:solidFill>
                <a:latin typeface="Cambria" pitchFamily="34" charset="0"/>
                <a:ea typeface="Cambria" pitchFamily="34" charset="-122"/>
                <a:cs typeface="Cambria" pitchFamily="34" charset="-120"/>
              </a:rPr>
              <a:t>Cause B</a:t>
            </a:r>
            <a:endParaRPr lang="en-US" sz="1500" dirty="0"/>
          </a:p>
        </p:txBody>
      </p:sp>
      <p:sp>
        <p:nvSpPr>
          <p:cNvPr id="13" name="Text 10"/>
          <p:cNvSpPr txBox="1"/>
          <p:nvPr/>
        </p:nvSpPr>
        <p:spPr>
          <a:xfrm>
            <a:off x="2468880" y="5852160"/>
            <a:ext cx="8961120" cy="530352"/>
          </a:xfrm>
          <a:prstGeom prst="rect">
            <a:avLst/>
          </a:prstGeom>
          <a:noFill/>
          <a:ln/>
        </p:spPr>
        <p:txBody>
          <a:bodyPr wrap="square" lIns="0" tIns="0" rIns="0" bIns="0" rtlCol="0" anchor="ctr"/>
          <a:lstStyle/>
          <a:p>
            <a:pPr indent="0" marL="0">
              <a:lnSpc>
                <a:spcPct val="115000"/>
              </a:lnSpc>
              <a:buNone/>
            </a:pPr>
            <a:r>
              <a:rPr lang="en-US" sz="1030" dirty="0">
                <a:solidFill>
                  <a:srgbClr val="20242E"/>
                </a:solidFill>
                <a:latin typeface="Calibri" pitchFamily="34" charset="0"/>
                <a:ea typeface="Calibri" pitchFamily="34" charset="-122"/>
                <a:cs typeface="Calibri" pitchFamily="34" charset="-120"/>
              </a:rPr>
              <a:t>The gate conservatively protected a small canary set from even a minor regression, while a larger aggregate gain (+0.117 nDCG@10 in one case) went undeployed</a:t>
            </a:r>
            <a:endParaRPr lang="en-US" sz="1030" dirty="0"/>
          </a:p>
        </p:txBody>
      </p:sp>
      <p:sp>
        <p:nvSpPr>
          <p:cNvPr id="14" name="Text 1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5" name="Text 1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ANALYSIS AND RESULTS — HEAD-TO-HEAD</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Results — Head-to-Head vs. Phase-1 Baselines</a:t>
            </a:r>
            <a:endParaRPr lang="en-US" sz="3200" dirty="0"/>
          </a:p>
        </p:txBody>
      </p:sp>
      <p:pic>
        <p:nvPicPr>
          <p:cNvPr id="4" name="Image 0" descr="../phase2_proposed/results/comparison_quality_by_budget_unweighted.png">    </p:cNvPr>
          <p:cNvPicPr>
            <a:picLocks noChangeAspect="1"/>
          </p:cNvPicPr>
          <p:nvPr/>
        </p:nvPicPr>
        <p:blipFill>
          <a:blip r:embed="rId1"/>
          <a:stretch>
            <a:fillRect/>
          </a:stretch>
        </p:blipFill>
        <p:spPr>
          <a:xfrm>
            <a:off x="548640" y="1508760"/>
            <a:ext cx="10881360" cy="2386584"/>
          </a:xfrm>
          <a:prstGeom prst="rect">
            <a:avLst/>
          </a:prstGeom>
        </p:spPr>
      </p:pic>
      <p:sp>
        <p:nvSpPr>
          <p:cNvPr id="5" name="Shape 2"/>
          <p:cNvSpPr/>
          <p:nvPr/>
        </p:nvSpPr>
        <p:spPr>
          <a:xfrm>
            <a:off x="548640" y="4114800"/>
            <a:ext cx="3639312" cy="1920240"/>
          </a:xfrm>
          <a:prstGeom prst="roundRect">
            <a:avLst>
              <a:gd name="adj" fmla="val 3810"/>
            </a:avLst>
          </a:prstGeom>
          <a:solidFill>
            <a:srgbClr val="E4F3F2"/>
          </a:solidFill>
          <a:ln/>
          <a:effectLst>
            <a:outerShdw sx="100000" sy="100000" kx="0" ky="0" algn="bl" rotWithShape="0" blurRad="101600" dist="38100" dir="5400000">
              <a:srgbClr val="1B2A56">
                <a:alpha val="12000"/>
              </a:srgbClr>
            </a:outerShdw>
          </a:effectLst>
        </p:spPr>
      </p:sp>
      <p:sp>
        <p:nvSpPr>
          <p:cNvPr id="6" name="Text 3"/>
          <p:cNvSpPr txBox="1"/>
          <p:nvPr/>
        </p:nvSpPr>
        <p:spPr>
          <a:xfrm>
            <a:off x="731520" y="4279392"/>
            <a:ext cx="3273552" cy="548640"/>
          </a:xfrm>
          <a:prstGeom prst="rect">
            <a:avLst/>
          </a:prstGeom>
          <a:noFill/>
          <a:ln/>
        </p:spPr>
        <p:txBody>
          <a:bodyPr wrap="square" lIns="0" tIns="0" rIns="0" bIns="0" rtlCol="0" anchor="ctr"/>
          <a:lstStyle/>
          <a:p>
            <a:pPr indent="0" marL="0">
              <a:lnSpc>
                <a:spcPct val="105000"/>
              </a:lnSpc>
              <a:buNone/>
            </a:pPr>
            <a:r>
              <a:rPr lang="en-US" sz="1500" b="1" dirty="0">
                <a:solidFill>
                  <a:srgbClr val="1E824C"/>
                </a:solidFill>
                <a:latin typeface="Cambria" pitchFamily="34" charset="0"/>
                <a:ea typeface="Cambria" pitchFamily="34" charset="-122"/>
                <a:cs typeface="Cambria" pitchFamily="34" charset="-120"/>
              </a:rPr>
              <a:t>18 / 30</a:t>
            </a:r>
            <a:endParaRPr lang="en-US" sz="1500" dirty="0"/>
          </a:p>
        </p:txBody>
      </p:sp>
      <p:sp>
        <p:nvSpPr>
          <p:cNvPr id="7" name="Text 4"/>
          <p:cNvSpPr txBox="1"/>
          <p:nvPr/>
        </p:nvSpPr>
        <p:spPr>
          <a:xfrm>
            <a:off x="731520" y="4846320"/>
            <a:ext cx="3273552" cy="1097280"/>
          </a:xfrm>
          <a:prstGeom prst="rect">
            <a:avLst/>
          </a:prstGeom>
          <a:noFill/>
          <a:ln/>
        </p:spPr>
        <p:txBody>
          <a:bodyPr wrap="square" lIns="0" tIns="0" rIns="0" bIns="0" rtlCol="0" anchor="ctr"/>
          <a:lstStyle/>
          <a:p>
            <a:pPr indent="0" marL="0">
              <a:lnSpc>
                <a:spcPct val="118000"/>
              </a:lnSpc>
              <a:buNone/>
            </a:pPr>
            <a:r>
              <a:rPr lang="en-US" sz="950" dirty="0">
                <a:solidFill>
                  <a:srgbClr val="20242E"/>
                </a:solidFill>
                <a:latin typeface="Calibri" pitchFamily="34" charset="0"/>
                <a:ea typeface="Calibri" pitchFamily="34" charset="-122"/>
                <a:cs typeface="Calibri" pitchFamily="34" charset="-120"/>
              </a:rPr>
              <a:t>scenarios where VectorSentry's scheduler beats the best Phase-1 baseline (FIFO full re-embed or uniform patch)</a:t>
            </a:r>
            <a:endParaRPr lang="en-US" sz="950" dirty="0"/>
          </a:p>
        </p:txBody>
      </p:sp>
      <p:sp>
        <p:nvSpPr>
          <p:cNvPr id="8" name="Shape 5"/>
          <p:cNvSpPr/>
          <p:nvPr/>
        </p:nvSpPr>
        <p:spPr>
          <a:xfrm>
            <a:off x="4361688" y="4114800"/>
            <a:ext cx="3639312" cy="1920240"/>
          </a:xfrm>
          <a:prstGeom prst="roundRect">
            <a:avLst>
              <a:gd name="adj" fmla="val 3810"/>
            </a:avLst>
          </a:prstGeom>
          <a:solidFill>
            <a:srgbClr val="E4F3F2"/>
          </a:solidFill>
          <a:ln/>
          <a:effectLst>
            <a:outerShdw sx="100000" sy="100000" kx="0" ky="0" algn="bl" rotWithShape="0" blurRad="101600" dist="38100" dir="5400000">
              <a:srgbClr val="1B2A56">
                <a:alpha val="12000"/>
              </a:srgbClr>
            </a:outerShdw>
          </a:effectLst>
        </p:spPr>
      </p:sp>
      <p:sp>
        <p:nvSpPr>
          <p:cNvPr id="9" name="Text 6"/>
          <p:cNvSpPr txBox="1"/>
          <p:nvPr/>
        </p:nvSpPr>
        <p:spPr>
          <a:xfrm>
            <a:off x="4544568" y="4279392"/>
            <a:ext cx="3273552" cy="548640"/>
          </a:xfrm>
          <a:prstGeom prst="rect">
            <a:avLst/>
          </a:prstGeom>
          <a:noFill/>
          <a:ln/>
        </p:spPr>
        <p:txBody>
          <a:bodyPr wrap="square" lIns="0" tIns="0" rIns="0" bIns="0" rtlCol="0" anchor="ctr"/>
          <a:lstStyle/>
          <a:p>
            <a:pPr indent="0" marL="0">
              <a:lnSpc>
                <a:spcPct val="105000"/>
              </a:lnSpc>
              <a:buNone/>
            </a:pPr>
            <a:r>
              <a:rPr lang="en-US" sz="1500" b="1" dirty="0">
                <a:solidFill>
                  <a:srgbClr val="1E824C"/>
                </a:solidFill>
                <a:latin typeface="Cambria" pitchFamily="34" charset="0"/>
                <a:ea typeface="Cambria" pitchFamily="34" charset="-122"/>
                <a:cs typeface="Cambria" pitchFamily="34" charset="-120"/>
              </a:rPr>
              <a:t>10% budget beats 100%</a:t>
            </a:r>
            <a:endParaRPr lang="en-US" sz="1500" dirty="0"/>
          </a:p>
        </p:txBody>
      </p:sp>
      <p:sp>
        <p:nvSpPr>
          <p:cNvPr id="10" name="Text 7"/>
          <p:cNvSpPr txBox="1"/>
          <p:nvPr/>
        </p:nvSpPr>
        <p:spPr>
          <a:xfrm>
            <a:off x="4544568" y="4846320"/>
            <a:ext cx="3273552" cy="1097280"/>
          </a:xfrm>
          <a:prstGeom prst="rect">
            <a:avLst/>
          </a:prstGeom>
          <a:noFill/>
          <a:ln/>
        </p:spPr>
        <p:txBody>
          <a:bodyPr wrap="square" lIns="0" tIns="0" rIns="0" bIns="0" rtlCol="0" anchor="ctr"/>
          <a:lstStyle/>
          <a:p>
            <a:pPr indent="0" marL="0">
              <a:lnSpc>
                <a:spcPct val="118000"/>
              </a:lnSpc>
              <a:buNone/>
            </a:pPr>
            <a:r>
              <a:rPr lang="en-US" sz="950" dirty="0">
                <a:solidFill>
                  <a:srgbClr val="20242E"/>
                </a:solidFill>
                <a:latin typeface="Calibri" pitchFamily="34" charset="0"/>
                <a:ea typeface="Calibri" pitchFamily="34" charset="-122"/>
                <a:cs typeface="Calibri" pitchFamily="34" charset="-120"/>
              </a:rPr>
              <a:t>at 50% contamination, our scheduler at just 10% budget (nDCG@10 = 0.538) already exceeds Phase-1's best result even at 100% budget (0.516)</a:t>
            </a:r>
            <a:endParaRPr lang="en-US" sz="950" dirty="0"/>
          </a:p>
        </p:txBody>
      </p:sp>
      <p:sp>
        <p:nvSpPr>
          <p:cNvPr id="11" name="Shape 8"/>
          <p:cNvSpPr/>
          <p:nvPr/>
        </p:nvSpPr>
        <p:spPr>
          <a:xfrm>
            <a:off x="8174736" y="4114800"/>
            <a:ext cx="3639312" cy="1920240"/>
          </a:xfrm>
          <a:prstGeom prst="roundRect">
            <a:avLst>
              <a:gd name="adj" fmla="val 3810"/>
            </a:avLst>
          </a:prstGeom>
          <a:solidFill>
            <a:srgbClr val="F4F7FC"/>
          </a:solidFill>
          <a:ln/>
          <a:effectLst>
            <a:outerShdw sx="100000" sy="100000" kx="0" ky="0" algn="bl" rotWithShape="0" blurRad="101600" dist="38100" dir="5400000">
              <a:srgbClr val="1B2A56">
                <a:alpha val="12000"/>
              </a:srgbClr>
            </a:outerShdw>
          </a:effectLst>
        </p:spPr>
      </p:sp>
      <p:sp>
        <p:nvSpPr>
          <p:cNvPr id="12" name="Text 9"/>
          <p:cNvSpPr txBox="1"/>
          <p:nvPr/>
        </p:nvSpPr>
        <p:spPr>
          <a:xfrm>
            <a:off x="8357616" y="4279392"/>
            <a:ext cx="3273552" cy="548640"/>
          </a:xfrm>
          <a:prstGeom prst="rect">
            <a:avLst/>
          </a:prstGeom>
          <a:noFill/>
          <a:ln/>
        </p:spPr>
        <p:txBody>
          <a:bodyPr wrap="square" lIns="0" tIns="0" rIns="0" bIns="0" rtlCol="0" anchor="ctr"/>
          <a:lstStyle/>
          <a:p>
            <a:pPr indent="0" marL="0">
              <a:lnSpc>
                <a:spcPct val="105000"/>
              </a:lnSpc>
              <a:buNone/>
            </a:pPr>
            <a:r>
              <a:rPr lang="en-US" sz="1500" b="1" dirty="0">
                <a:solidFill>
                  <a:srgbClr val="C97A22"/>
                </a:solidFill>
                <a:latin typeface="Cambria" pitchFamily="34" charset="0"/>
                <a:ea typeface="Cambria" pitchFamily="34" charset="-122"/>
                <a:cs typeface="Cambria" pitchFamily="34" charset="-120"/>
              </a:rPr>
              <a:t>10 / 30 losses</a:t>
            </a:r>
            <a:endParaRPr lang="en-US" sz="1500" dirty="0"/>
          </a:p>
        </p:txBody>
      </p:sp>
      <p:sp>
        <p:nvSpPr>
          <p:cNvPr id="13" name="Text 10"/>
          <p:cNvSpPr txBox="1"/>
          <p:nvPr/>
        </p:nvSpPr>
        <p:spPr>
          <a:xfrm>
            <a:off x="8357616" y="4846320"/>
            <a:ext cx="3273552" cy="1097280"/>
          </a:xfrm>
          <a:prstGeom prst="rect">
            <a:avLst/>
          </a:prstGeom>
          <a:noFill/>
          <a:ln/>
        </p:spPr>
        <p:txBody>
          <a:bodyPr wrap="square" lIns="0" tIns="0" rIns="0" bIns="0" rtlCol="0" anchor="ctr"/>
          <a:lstStyle/>
          <a:p>
            <a:pPr indent="0" marL="0">
              <a:lnSpc>
                <a:spcPct val="118000"/>
              </a:lnSpc>
              <a:buNone/>
            </a:pPr>
            <a:r>
              <a:rPr lang="en-US" sz="950" dirty="0">
                <a:solidFill>
                  <a:srgbClr val="20242E"/>
                </a:solidFill>
                <a:latin typeface="Calibri" pitchFamily="34" charset="0"/>
                <a:ea typeface="Calibri" pitchFamily="34" charset="-122"/>
                <a:cs typeface="Calibri" pitchFamily="34" charset="-120"/>
              </a:rPr>
              <a:t>exactly the scenarios the safety gate aborted — the same gate that makes the system safe to deploy at all</a:t>
            </a:r>
            <a:endParaRPr lang="en-US" sz="950" dirty="0"/>
          </a:p>
        </p:txBody>
      </p:sp>
      <p:sp>
        <p:nvSpPr>
          <p:cNvPr id="14" name="Text 1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5" name="Text 1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TESTING, VALIDATION &amp; RISK ASSESSMENT</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Testing, Validation &amp; Risk Assessment</a:t>
            </a:r>
            <a:endParaRPr lang="en-US" sz="3200" dirty="0"/>
          </a:p>
        </p:txBody>
      </p:sp>
      <p:sp>
        <p:nvSpPr>
          <p:cNvPr id="4" name="Text 2"/>
          <p:cNvSpPr txBox="1"/>
          <p:nvPr/>
        </p:nvSpPr>
        <p:spPr>
          <a:xfrm>
            <a:off x="548640" y="1298448"/>
            <a:ext cx="10972800" cy="274320"/>
          </a:xfrm>
          <a:prstGeom prst="rect">
            <a:avLst/>
          </a:prstGeom>
          <a:noFill/>
          <a:ln/>
        </p:spPr>
        <p:txBody>
          <a:bodyPr wrap="square" lIns="0" tIns="0" rIns="0" bIns="0" rtlCol="0" anchor="ctr"/>
          <a:lstStyle/>
          <a:p>
            <a:pPr indent="0" marL="0">
              <a:buNone/>
            </a:pPr>
            <a:r>
              <a:rPr lang="en-US" sz="1050" i="1" dirty="0">
                <a:solidFill>
                  <a:srgbClr val="5A6472"/>
                </a:solidFill>
                <a:latin typeface="Calibri" pitchFamily="34" charset="0"/>
                <a:ea typeface="Calibri" pitchFamily="34" charset="-122"/>
                <a:cs typeface="Calibri" pitchFamily="34" charset="-120"/>
              </a:rPr>
              <a:t>Real reliability issues found through destructive testing at full scale (5,000 docs) — and fixed before this review.</a:t>
            </a:r>
            <a:endParaRPr lang="en-US" sz="1050" dirty="0"/>
          </a:p>
        </p:txBody>
      </p:sp>
      <p:sp>
        <p:nvSpPr>
          <p:cNvPr id="5" name="Shape 3"/>
          <p:cNvSpPr/>
          <p:nvPr/>
        </p:nvSpPr>
        <p:spPr>
          <a:xfrm>
            <a:off x="548640" y="1691640"/>
            <a:ext cx="1110996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6" name="Shape 4"/>
          <p:cNvSpPr/>
          <p:nvPr/>
        </p:nvSpPr>
        <p:spPr>
          <a:xfrm>
            <a:off x="777240" y="1837944"/>
            <a:ext cx="384048" cy="384048"/>
          </a:xfrm>
          <a:prstGeom prst="ellipse">
            <a:avLst/>
          </a:prstGeom>
          <a:solidFill>
            <a:srgbClr val="0E7C7B"/>
          </a:solidFill>
          <a:ln/>
        </p:spPr>
      </p:sp>
      <p:sp>
        <p:nvSpPr>
          <p:cNvPr id="7" name="Text 5"/>
          <p:cNvSpPr txBox="1"/>
          <p:nvPr/>
        </p:nvSpPr>
        <p:spPr>
          <a:xfrm>
            <a:off x="777240" y="18379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371600" y="1764792"/>
            <a:ext cx="3017520" cy="1024128"/>
          </a:xfrm>
          <a:prstGeom prst="rect">
            <a:avLst/>
          </a:prstGeom>
          <a:noFill/>
          <a:ln/>
        </p:spPr>
        <p:txBody>
          <a:bodyPr wrap="square" lIns="0" tIns="0" rIns="0" bIns="0" rtlCol="0" anchor="ctr"/>
          <a:lstStyle/>
          <a:p>
            <a:pPr indent="0" marL="0">
              <a:lnSpc>
                <a:spcPct val="110000"/>
              </a:lnSpc>
              <a:buNone/>
            </a:pPr>
            <a:r>
              <a:rPr lang="en-US" sz="1150" b="1" dirty="0">
                <a:solidFill>
                  <a:srgbClr val="B3261E"/>
                </a:solidFill>
                <a:latin typeface="Calibri" pitchFamily="34" charset="0"/>
                <a:ea typeface="Calibri" pitchFamily="34" charset="-122"/>
                <a:cs typeface="Calibri" pitchFamily="34" charset="-120"/>
              </a:rPr>
              <a:t>Shrinking-budget-pool stall</a:t>
            </a:r>
            <a:endParaRPr lang="en-US" sz="1150" dirty="0"/>
          </a:p>
        </p:txBody>
      </p:sp>
      <p:sp>
        <p:nvSpPr>
          <p:cNvPr id="9" name="Text 7"/>
          <p:cNvSpPr txBox="1"/>
          <p:nvPr/>
        </p:nvSpPr>
        <p:spPr>
          <a:xfrm>
            <a:off x="4526280" y="1764792"/>
            <a:ext cx="3703320" cy="1024128"/>
          </a:xfrm>
          <a:prstGeom prst="rect">
            <a:avLst/>
          </a:prstGeom>
          <a:noFill/>
          <a:ln/>
        </p:spPr>
        <p:txBody>
          <a:bodyPr wrap="square" lIns="0" tIns="0" rIns="0" bIns="0" rtlCol="0" anchor="ctr"/>
          <a:lstStyle/>
          <a:p>
            <a:pPr indent="0" marL="0">
              <a:lnSpc>
                <a:spcPct val="115000"/>
              </a:lnSpc>
              <a:buNone/>
            </a:pPr>
            <a:r>
              <a:rPr lang="en-US" sz="880" dirty="0">
                <a:solidFill>
                  <a:srgbClr val="20242E"/>
                </a:solidFill>
                <a:latin typeface="Calibri" pitchFamily="34" charset="0"/>
                <a:ea typeface="Calibri" pitchFamily="34" charset="-122"/>
                <a:cs typeface="Calibri" pitchFamily="34" charset="-120"/>
              </a:rPr>
              <a:t>Budget was computed from the shrinking remaining-candidate count each tick, so the absolute budget eventually fell below the cost of even one fix — stalling the incident just short of resolution.</a:t>
            </a:r>
            <a:endParaRPr lang="en-US" sz="880" dirty="0"/>
          </a:p>
        </p:txBody>
      </p:sp>
      <p:sp>
        <p:nvSpPr>
          <p:cNvPr id="10" name="Text 8"/>
          <p:cNvSpPr txBox="1"/>
          <p:nvPr/>
        </p:nvSpPr>
        <p:spPr>
          <a:xfrm>
            <a:off x="8366760" y="1764792"/>
            <a:ext cx="3200400" cy="1024128"/>
          </a:xfrm>
          <a:prstGeom prst="rect">
            <a:avLst/>
          </a:prstGeom>
          <a:noFill/>
          <a:ln/>
        </p:spPr>
        <p:txBody>
          <a:bodyPr wrap="square" lIns="0" tIns="0" rIns="0" bIns="0" rtlCol="0" anchor="ctr"/>
          <a:lstStyle/>
          <a:p>
            <a:pPr indent="0" marL="0">
              <a:lnSpc>
                <a:spcPct val="115000"/>
              </a:lnSpc>
              <a:buNone/>
            </a:pPr>
            <a:r>
              <a:rPr lang="en-US" sz="880" b="1" dirty="0">
                <a:solidFill>
                  <a:srgbClr val="1E824C"/>
                </a:solidFill>
                <a:latin typeface="Calibri" pitchFamily="34" charset="0"/>
                <a:ea typeface="Calibri" pitchFamily="34" charset="-122"/>
                <a:cs typeface="Calibri" pitchFamily="34" charset="-120"/>
              </a:rPr>
              <a:t>Fix:  </a:t>
            </a:r>
            <a:pPr indent="0" marL="0">
              <a:lnSpc>
                <a:spcPct val="115000"/>
              </a:lnSpc>
              <a:buNone/>
            </a:pPr>
            <a:r>
              <a:rPr lang="en-US" sz="880" dirty="0">
                <a:solidFill>
                  <a:srgbClr val="20242E"/>
                </a:solidFill>
                <a:latin typeface="Calibri" pitchFamily="34" charset="0"/>
                <a:ea typeface="Calibri" pitchFamily="34" charset="-122"/>
                <a:cs typeface="Calibri" pitchFamily="34" charset="-120"/>
              </a:rPr>
              <a:t>Budget is now sized off a stable reference: the incident's initial flagged count, not the shrinking pool.</a:t>
            </a:r>
            <a:endParaRPr lang="en-US" sz="880" dirty="0"/>
          </a:p>
        </p:txBody>
      </p:sp>
      <p:sp>
        <p:nvSpPr>
          <p:cNvPr id="11" name="Shape 9"/>
          <p:cNvSpPr/>
          <p:nvPr/>
        </p:nvSpPr>
        <p:spPr>
          <a:xfrm>
            <a:off x="548640" y="2990088"/>
            <a:ext cx="1110996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12" name="Shape 10"/>
          <p:cNvSpPr/>
          <p:nvPr/>
        </p:nvSpPr>
        <p:spPr>
          <a:xfrm>
            <a:off x="777240" y="3136392"/>
            <a:ext cx="384048" cy="384048"/>
          </a:xfrm>
          <a:prstGeom prst="ellipse">
            <a:avLst/>
          </a:prstGeom>
          <a:solidFill>
            <a:srgbClr val="0E7C7B"/>
          </a:solidFill>
          <a:ln/>
        </p:spPr>
      </p:sp>
      <p:sp>
        <p:nvSpPr>
          <p:cNvPr id="13" name="Text 11"/>
          <p:cNvSpPr txBox="1"/>
          <p:nvPr/>
        </p:nvSpPr>
        <p:spPr>
          <a:xfrm>
            <a:off x="777240" y="31363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371600" y="3063240"/>
            <a:ext cx="3017520" cy="1024128"/>
          </a:xfrm>
          <a:prstGeom prst="rect">
            <a:avLst/>
          </a:prstGeom>
          <a:noFill/>
          <a:ln/>
        </p:spPr>
        <p:txBody>
          <a:bodyPr wrap="square" lIns="0" tIns="0" rIns="0" bIns="0" rtlCol="0" anchor="ctr"/>
          <a:lstStyle/>
          <a:p>
            <a:pPr indent="0" marL="0">
              <a:lnSpc>
                <a:spcPct val="110000"/>
              </a:lnSpc>
              <a:buNone/>
            </a:pPr>
            <a:r>
              <a:rPr lang="en-US" sz="1150" b="1" dirty="0">
                <a:solidFill>
                  <a:srgbClr val="B3261E"/>
                </a:solidFill>
                <a:latin typeface="Calibri" pitchFamily="34" charset="0"/>
                <a:ea typeface="Calibri" pitchFamily="34" charset="-122"/>
                <a:cs typeface="Calibri" pitchFamily="34" charset="-120"/>
              </a:rPr>
              <a:t>Repeated re-scheduling of fixed documents</a:t>
            </a:r>
            <a:endParaRPr lang="en-US" sz="1150" dirty="0"/>
          </a:p>
        </p:txBody>
      </p:sp>
      <p:sp>
        <p:nvSpPr>
          <p:cNvPr id="15" name="Text 13"/>
          <p:cNvSpPr txBox="1"/>
          <p:nvPr/>
        </p:nvSpPr>
        <p:spPr>
          <a:xfrm>
            <a:off x="4526280" y="3063240"/>
            <a:ext cx="3703320" cy="1024128"/>
          </a:xfrm>
          <a:prstGeom prst="rect">
            <a:avLst/>
          </a:prstGeom>
          <a:noFill/>
          <a:ln/>
        </p:spPr>
        <p:txBody>
          <a:bodyPr wrap="square" lIns="0" tIns="0" rIns="0" bIns="0" rtlCol="0" anchor="ctr"/>
          <a:lstStyle/>
          <a:p>
            <a:pPr indent="0" marL="0">
              <a:lnSpc>
                <a:spcPct val="115000"/>
              </a:lnSpc>
              <a:buNone/>
            </a:pPr>
            <a:r>
              <a:rPr lang="en-US" sz="880" dirty="0">
                <a:solidFill>
                  <a:srgbClr val="20242E"/>
                </a:solidFill>
                <a:latin typeface="Calibri" pitchFamily="34" charset="0"/>
                <a:ea typeface="Calibri" pitchFamily="34" charset="-122"/>
                <a:cs typeface="Calibri" pitchFamily="34" charset="-120"/>
              </a:rPr>
              <a:t>A document already successfully remediated could be handed to the scheduler again if still flagged by residual noise, winning the zero-benefit tie-break every time and starving genuinely-contaminated documents of budget.</a:t>
            </a:r>
            <a:endParaRPr lang="en-US" sz="880" dirty="0"/>
          </a:p>
        </p:txBody>
      </p:sp>
      <p:sp>
        <p:nvSpPr>
          <p:cNvPr id="16" name="Text 14"/>
          <p:cNvSpPr txBox="1"/>
          <p:nvPr/>
        </p:nvSpPr>
        <p:spPr>
          <a:xfrm>
            <a:off x="8366760" y="3063240"/>
            <a:ext cx="3200400" cy="1024128"/>
          </a:xfrm>
          <a:prstGeom prst="rect">
            <a:avLst/>
          </a:prstGeom>
          <a:noFill/>
          <a:ln/>
        </p:spPr>
        <p:txBody>
          <a:bodyPr wrap="square" lIns="0" tIns="0" rIns="0" bIns="0" rtlCol="0" anchor="ctr"/>
          <a:lstStyle/>
          <a:p>
            <a:pPr indent="0" marL="0">
              <a:lnSpc>
                <a:spcPct val="115000"/>
              </a:lnSpc>
              <a:buNone/>
            </a:pPr>
            <a:r>
              <a:rPr lang="en-US" sz="880" b="1" dirty="0">
                <a:solidFill>
                  <a:srgbClr val="1E824C"/>
                </a:solidFill>
                <a:latin typeface="Calibri" pitchFamily="34" charset="0"/>
                <a:ea typeface="Calibri" pitchFamily="34" charset="-122"/>
                <a:cs typeface="Calibri" pitchFamily="34" charset="-120"/>
              </a:rPr>
              <a:t>Fix:  </a:t>
            </a:r>
            <a:pPr indent="0" marL="0">
              <a:lnSpc>
                <a:spcPct val="115000"/>
              </a:lnSpc>
              <a:buNone/>
            </a:pPr>
            <a:r>
              <a:rPr lang="en-US" sz="880" dirty="0">
                <a:solidFill>
                  <a:srgbClr val="20242E"/>
                </a:solidFill>
                <a:latin typeface="Calibri" pitchFamily="34" charset="0"/>
                <a:ea typeface="Calibri" pitchFamily="34" charset="-122"/>
                <a:cs typeface="Calibri" pitchFamily="34" charset="-120"/>
              </a:rPr>
              <a:t>Remediated documents are now tracked with a monotonic flag and excluded from all future scheduling rounds.</a:t>
            </a:r>
            <a:endParaRPr lang="en-US" sz="880" dirty="0"/>
          </a:p>
        </p:txBody>
      </p:sp>
      <p:sp>
        <p:nvSpPr>
          <p:cNvPr id="17" name="Shape 15"/>
          <p:cNvSpPr/>
          <p:nvPr/>
        </p:nvSpPr>
        <p:spPr>
          <a:xfrm>
            <a:off x="548640" y="4288536"/>
            <a:ext cx="1110996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18" name="Shape 16"/>
          <p:cNvSpPr/>
          <p:nvPr/>
        </p:nvSpPr>
        <p:spPr>
          <a:xfrm>
            <a:off x="777240" y="4434840"/>
            <a:ext cx="384048" cy="384048"/>
          </a:xfrm>
          <a:prstGeom prst="ellipse">
            <a:avLst/>
          </a:prstGeom>
          <a:solidFill>
            <a:srgbClr val="0E7C7B"/>
          </a:solidFill>
          <a:ln/>
        </p:spPr>
      </p:sp>
      <p:sp>
        <p:nvSpPr>
          <p:cNvPr id="19" name="Text 17"/>
          <p:cNvSpPr txBox="1"/>
          <p:nvPr/>
        </p:nvSpPr>
        <p:spPr>
          <a:xfrm>
            <a:off x="777240" y="44348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1371600" y="4361688"/>
            <a:ext cx="3017520" cy="1024128"/>
          </a:xfrm>
          <a:prstGeom prst="rect">
            <a:avLst/>
          </a:prstGeom>
          <a:noFill/>
          <a:ln/>
        </p:spPr>
        <p:txBody>
          <a:bodyPr wrap="square" lIns="0" tIns="0" rIns="0" bIns="0" rtlCol="0" anchor="ctr"/>
          <a:lstStyle/>
          <a:p>
            <a:pPr indent="0" marL="0">
              <a:lnSpc>
                <a:spcPct val="110000"/>
              </a:lnSpc>
              <a:buNone/>
            </a:pPr>
            <a:r>
              <a:rPr lang="en-US" sz="1150" b="1" dirty="0">
                <a:solidFill>
                  <a:srgbClr val="B3261E"/>
                </a:solidFill>
                <a:latin typeface="Calibri" pitchFamily="34" charset="0"/>
                <a:ea typeface="Calibri" pitchFamily="34" charset="-122"/>
                <a:cs typeface="Calibri" pitchFamily="34" charset="-120"/>
              </a:rPr>
              <a:t>Infinite verification-retry loop</a:t>
            </a:r>
            <a:endParaRPr lang="en-US" sz="1150" dirty="0"/>
          </a:p>
        </p:txBody>
      </p:sp>
      <p:sp>
        <p:nvSpPr>
          <p:cNvPr id="21" name="Text 19"/>
          <p:cNvSpPr txBox="1"/>
          <p:nvPr/>
        </p:nvSpPr>
        <p:spPr>
          <a:xfrm>
            <a:off x="4526280" y="4361688"/>
            <a:ext cx="3703320" cy="1024128"/>
          </a:xfrm>
          <a:prstGeom prst="rect">
            <a:avLst/>
          </a:prstGeom>
          <a:noFill/>
          <a:ln/>
        </p:spPr>
        <p:txBody>
          <a:bodyPr wrap="square" lIns="0" tIns="0" rIns="0" bIns="0" rtlCol="0" anchor="ctr"/>
          <a:lstStyle/>
          <a:p>
            <a:pPr indent="0" marL="0">
              <a:lnSpc>
                <a:spcPct val="115000"/>
              </a:lnSpc>
              <a:buNone/>
            </a:pPr>
            <a:r>
              <a:rPr lang="en-US" sz="880" dirty="0">
                <a:solidFill>
                  <a:srgbClr val="20242E"/>
                </a:solidFill>
                <a:latin typeface="Calibri" pitchFamily="34" charset="0"/>
                <a:ea typeface="Calibri" pitchFamily="34" charset="-122"/>
                <a:cs typeface="Calibri" pitchFamily="34" charset="-120"/>
              </a:rPr>
              <a:t>Escalating budget on verification failure only helps when scarcity IS the cause. When a fix shifted ranking for an unrelated query, escalating forever stalled the incident permanently at maximum budget.</a:t>
            </a:r>
            <a:endParaRPr lang="en-US" sz="880" dirty="0"/>
          </a:p>
        </p:txBody>
      </p:sp>
      <p:sp>
        <p:nvSpPr>
          <p:cNvPr id="22" name="Text 20"/>
          <p:cNvSpPr txBox="1"/>
          <p:nvPr/>
        </p:nvSpPr>
        <p:spPr>
          <a:xfrm>
            <a:off x="8366760" y="4361688"/>
            <a:ext cx="3200400" cy="1024128"/>
          </a:xfrm>
          <a:prstGeom prst="rect">
            <a:avLst/>
          </a:prstGeom>
          <a:noFill/>
          <a:ln/>
        </p:spPr>
        <p:txBody>
          <a:bodyPr wrap="square" lIns="0" tIns="0" rIns="0" bIns="0" rtlCol="0" anchor="ctr"/>
          <a:lstStyle/>
          <a:p>
            <a:pPr indent="0" marL="0">
              <a:lnSpc>
                <a:spcPct val="115000"/>
              </a:lnSpc>
              <a:buNone/>
            </a:pPr>
            <a:r>
              <a:rPr lang="en-US" sz="880" b="1" dirty="0">
                <a:solidFill>
                  <a:srgbClr val="1E824C"/>
                </a:solidFill>
                <a:latin typeface="Calibri" pitchFamily="34" charset="0"/>
                <a:ea typeface="Calibri" pitchFamily="34" charset="-122"/>
                <a:cs typeface="Calibri" pitchFamily="34" charset="-120"/>
              </a:rPr>
              <a:t>Fix:  </a:t>
            </a:r>
            <a:pPr indent="0" marL="0">
              <a:lnSpc>
                <a:spcPct val="115000"/>
              </a:lnSpc>
              <a:buNone/>
            </a:pPr>
            <a:r>
              <a:rPr lang="en-US" sz="880" dirty="0">
                <a:solidFill>
                  <a:srgbClr val="20242E"/>
                </a:solidFill>
                <a:latin typeface="Calibri" pitchFamily="34" charset="0"/>
                <a:ea typeface="Calibri" pitchFamily="34" charset="-122"/>
                <a:cs typeface="Calibri" pitchFamily="34" charset="-120"/>
              </a:rPr>
              <a:t>A MAX_CONSECUTIVE_FAILURES cap now defers the candidate for manual review instead of retrying forever.</a:t>
            </a:r>
            <a:endParaRPr lang="en-US" sz="880" dirty="0"/>
          </a:p>
        </p:txBody>
      </p:sp>
      <p:sp>
        <p:nvSpPr>
          <p:cNvPr id="23" name="Text 21"/>
          <p:cNvSpPr txBox="1"/>
          <p:nvPr/>
        </p:nvSpPr>
        <p:spPr>
          <a:xfrm>
            <a:off x="548640" y="5632704"/>
            <a:ext cx="11109960" cy="274320"/>
          </a:xfrm>
          <a:prstGeom prst="rect">
            <a:avLst/>
          </a:prstGeom>
          <a:noFill/>
          <a:ln/>
        </p:spPr>
        <p:txBody>
          <a:bodyPr wrap="square" lIns="0" tIns="0" rIns="0" bIns="0" rtlCol="0" anchor="ctr"/>
          <a:lstStyle/>
          <a:p>
            <a:pPr indent="0" marL="0">
              <a:buNone/>
            </a:pPr>
            <a:r>
              <a:rPr lang="en-US" sz="950" i="1" dirty="0">
                <a:solidFill>
                  <a:srgbClr val="5A6472"/>
                </a:solidFill>
                <a:latin typeface="Calibri" pitchFamily="34" charset="0"/>
                <a:ea typeface="Calibri" pitchFamily="34" charset="-122"/>
                <a:cs typeface="Calibri" pitchFamily="34" charset="-120"/>
              </a:rPr>
              <a:t>These are regression tests in our own test suite today — each bug can never silently reappear.</a:t>
            </a:r>
            <a:endParaRPr lang="en-US" sz="950" dirty="0"/>
          </a:p>
        </p:txBody>
      </p:sp>
      <p:sp>
        <p:nvSpPr>
          <p:cNvPr id="24" name="Text 2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25" name="Text 23"/>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56"/>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CFE0FA"/>
                </a:solidFill>
                <a:latin typeface="Calibri" pitchFamily="34" charset="0"/>
                <a:ea typeface="Calibri" pitchFamily="34" charset="-122"/>
                <a:cs typeface="Calibri" pitchFamily="34" charset="-120"/>
              </a:rPr>
              <a:t>LIVE DEMONSTRATION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Live Demo — Live Sentry Autonomous Monitor</a:t>
            </a:r>
            <a:endParaRPr lang="en-US" sz="3200" dirty="0"/>
          </a:p>
        </p:txBody>
      </p:sp>
      <p:sp>
        <p:nvSpPr>
          <p:cNvPr id="4" name="Text 2"/>
          <p:cNvSpPr txBox="1"/>
          <p:nvPr/>
        </p:nvSpPr>
        <p:spPr>
          <a:xfrm>
            <a:off x="548640" y="1325880"/>
            <a:ext cx="10972800" cy="292608"/>
          </a:xfrm>
          <a:prstGeom prst="rect">
            <a:avLst/>
          </a:prstGeom>
          <a:noFill/>
          <a:ln/>
        </p:spPr>
        <p:txBody>
          <a:bodyPr wrap="square" lIns="0" tIns="0" rIns="0" bIns="0" rtlCol="0" anchor="ctr"/>
          <a:lstStyle/>
          <a:p>
            <a:pPr indent="0" marL="0">
              <a:buNone/>
            </a:pPr>
            <a:r>
              <a:rPr lang="en-US" sz="1150" i="1" dirty="0">
                <a:solidFill>
                  <a:srgbClr val="CFE0FA"/>
                </a:solidFill>
                <a:latin typeface="Calibri" pitchFamily="34" charset="0"/>
                <a:ea typeface="Calibri" pitchFamily="34" charset="-122"/>
                <a:cs typeface="Calibri" pitchFamily="34" charset="-120"/>
              </a:rPr>
              <a:t>This is not a scripted animation — it's the real system, running live, on the real 5,000-document benchmark.</a:t>
            </a:r>
            <a:endParaRPr lang="en-US" sz="1150" dirty="0"/>
          </a:p>
        </p:txBody>
      </p:sp>
      <p:sp>
        <p:nvSpPr>
          <p:cNvPr id="5" name="Shape 3"/>
          <p:cNvSpPr/>
          <p:nvPr/>
        </p:nvSpPr>
        <p:spPr>
          <a:xfrm>
            <a:off x="548640" y="1783080"/>
            <a:ext cx="5394960" cy="4160520"/>
          </a:xfrm>
          <a:prstGeom prst="roundRect">
            <a:avLst>
              <a:gd name="adj" fmla="val 1758"/>
            </a:avLst>
          </a:prstGeom>
          <a:solidFill>
            <a:srgbClr val="16224A"/>
          </a:solidFill>
          <a:ln/>
        </p:spPr>
      </p:sp>
      <p:sp>
        <p:nvSpPr>
          <p:cNvPr id="6" name="Text 4"/>
          <p:cNvSpPr txBox="1"/>
          <p:nvPr/>
        </p:nvSpPr>
        <p:spPr>
          <a:xfrm>
            <a:off x="822960" y="1965960"/>
            <a:ext cx="484632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Database A — Stable</a:t>
            </a:r>
            <a:endParaRPr lang="en-US" sz="1250" dirty="0"/>
          </a:p>
        </p:txBody>
      </p:sp>
      <p:sp>
        <p:nvSpPr>
          <p:cNvPr id="7" name="Text 5"/>
          <p:cNvSpPr txBox="1"/>
          <p:nvPr/>
        </p:nvSpPr>
        <p:spPr>
          <a:xfrm>
            <a:off x="822960" y="2286000"/>
            <a:ext cx="4846320" cy="274320"/>
          </a:xfrm>
          <a:prstGeom prst="rect">
            <a:avLst/>
          </a:prstGeom>
          <a:noFill/>
          <a:ln/>
        </p:spPr>
        <p:txBody>
          <a:bodyPr wrap="square" lIns="0" tIns="0" rIns="0" bIns="0" rtlCol="0" anchor="ctr"/>
          <a:lstStyle/>
          <a:p>
            <a:pPr indent="0" marL="0">
              <a:buNone/>
            </a:pPr>
            <a:r>
              <a:rPr lang="en-US" sz="950" dirty="0">
                <a:solidFill>
                  <a:srgbClr val="8CA0C8"/>
                </a:solidFill>
                <a:latin typeface="Calibri" pitchFamily="34" charset="0"/>
                <a:ea typeface="Calibri" pitchFamily="34" charset="-122"/>
                <a:cs typeface="Calibri" pitchFamily="34" charset="-120"/>
              </a:rPr>
              <a:t>Flagged documents: 50  (untouched control — baseline noise floor)</a:t>
            </a:r>
            <a:endParaRPr lang="en-US" sz="950" dirty="0"/>
          </a:p>
        </p:txBody>
      </p:sp>
      <p:sp>
        <p:nvSpPr>
          <p:cNvPr id="8" name="Shape 6"/>
          <p:cNvSpPr/>
          <p:nvPr/>
        </p:nvSpPr>
        <p:spPr>
          <a:xfrm>
            <a:off x="822960" y="2697480"/>
            <a:ext cx="4846320" cy="0"/>
          </a:xfrm>
          <a:prstGeom prst="line">
            <a:avLst/>
          </a:prstGeom>
          <a:noFill/>
          <a:ln w="12700">
            <a:solidFill>
              <a:srgbClr val="33447A"/>
            </a:solidFill>
            <a:prstDash val="solid"/>
          </a:ln>
        </p:spPr>
      </p:sp>
      <p:sp>
        <p:nvSpPr>
          <p:cNvPr id="9" name="Text 7"/>
          <p:cNvSpPr txBox="1"/>
          <p:nvPr/>
        </p:nvSpPr>
        <p:spPr>
          <a:xfrm>
            <a:off x="822960" y="2834640"/>
            <a:ext cx="484632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Database B — Live</a:t>
            </a:r>
            <a:endParaRPr lang="en-US" sz="1250" dirty="0"/>
          </a:p>
        </p:txBody>
      </p:sp>
      <p:sp>
        <p:nvSpPr>
          <p:cNvPr id="10" name="Shape 8"/>
          <p:cNvSpPr/>
          <p:nvPr/>
        </p:nvSpPr>
        <p:spPr>
          <a:xfrm>
            <a:off x="822960" y="3182112"/>
            <a:ext cx="1044245" cy="292608"/>
          </a:xfrm>
          <a:prstGeom prst="roundRect">
            <a:avLst>
              <a:gd name="adj" fmla="val 50000"/>
            </a:avLst>
          </a:prstGeom>
          <a:solidFill>
            <a:srgbClr val="C97A22"/>
          </a:solidFill>
          <a:ln/>
        </p:spPr>
      </p:sp>
      <p:sp>
        <p:nvSpPr>
          <p:cNvPr id="11" name="Text 9"/>
          <p:cNvSpPr txBox="1"/>
          <p:nvPr/>
        </p:nvSpPr>
        <p:spPr>
          <a:xfrm>
            <a:off x="822960" y="3182112"/>
            <a:ext cx="1044245"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REMEDIATING</a:t>
            </a:r>
            <a:endParaRPr lang="en-US" sz="900" dirty="0"/>
          </a:p>
        </p:txBody>
      </p:sp>
      <p:sp>
        <p:nvSpPr>
          <p:cNvPr id="12" name="Text 10"/>
          <p:cNvSpPr txBox="1"/>
          <p:nvPr/>
        </p:nvSpPr>
        <p:spPr>
          <a:xfrm>
            <a:off x="822960" y="3566160"/>
            <a:ext cx="4846320" cy="274320"/>
          </a:xfrm>
          <a:prstGeom prst="rect">
            <a:avLst/>
          </a:prstGeom>
          <a:noFill/>
          <a:ln/>
        </p:spPr>
        <p:txBody>
          <a:bodyPr wrap="square" lIns="0" tIns="0" rIns="0" bIns="0" rtlCol="0" anchor="ctr"/>
          <a:lstStyle/>
          <a:p>
            <a:pPr indent="0" marL="0">
              <a:buNone/>
            </a:pPr>
            <a:r>
              <a:rPr lang="en-US" sz="950" dirty="0">
                <a:solidFill>
                  <a:srgbClr val="8CA0C8"/>
                </a:solidFill>
                <a:latin typeface="Calibri" pitchFamily="34" charset="0"/>
                <a:ea typeface="Calibri" pitchFamily="34" charset="-122"/>
                <a:cs typeface="Calibri" pitchFamily="34" charset="-120"/>
              </a:rPr>
              <a:t>Flagged documents: 80 → 52 and falling  |  Budget level: 0.30</a:t>
            </a:r>
            <a:endParaRPr lang="en-US" sz="950" dirty="0"/>
          </a:p>
        </p:txBody>
      </p:sp>
      <p:sp>
        <p:nvSpPr>
          <p:cNvPr id="13" name="Shape 11"/>
          <p:cNvSpPr/>
          <p:nvPr/>
        </p:nvSpPr>
        <p:spPr>
          <a:xfrm>
            <a:off x="822960" y="3977640"/>
            <a:ext cx="4846320" cy="0"/>
          </a:xfrm>
          <a:prstGeom prst="line">
            <a:avLst/>
          </a:prstGeom>
          <a:noFill/>
          <a:ln w="12700">
            <a:solidFill>
              <a:srgbClr val="33447A"/>
            </a:solidFill>
            <a:prstDash val="solid"/>
          </a:ln>
        </p:spPr>
      </p:sp>
      <p:sp>
        <p:nvSpPr>
          <p:cNvPr id="14" name="Text 12"/>
          <p:cNvSpPr txBox="1"/>
          <p:nvPr/>
        </p:nvSpPr>
        <p:spPr>
          <a:xfrm>
            <a:off x="822960" y="4114800"/>
            <a:ext cx="4846320" cy="256032"/>
          </a:xfrm>
          <a:prstGeom prst="rect">
            <a:avLst/>
          </a:prstGeom>
          <a:noFill/>
          <a:ln/>
        </p:spPr>
        <p:txBody>
          <a:bodyPr wrap="square" lIns="0" tIns="0" rIns="0" bIns="0" rtlCol="0" anchor="ctr"/>
          <a:lstStyle/>
          <a:p>
            <a:pPr indent="0" marL="0">
              <a:buNone/>
            </a:pPr>
            <a:r>
              <a:rPr lang="en-US" sz="950" b="1" dirty="0">
                <a:solidFill>
                  <a:srgbClr val="E4F3F2"/>
                </a:solidFill>
                <a:latin typeface="Calibri" pitchFamily="34" charset="0"/>
                <a:ea typeface="Calibri" pitchFamily="34" charset="-122"/>
                <a:cs typeface="Calibri" pitchFamily="34" charset="-120"/>
              </a:rPr>
              <a:t>Live event log (captured from an actual run):</a:t>
            </a:r>
            <a:endParaRPr lang="en-US" sz="950" dirty="0"/>
          </a:p>
        </p:txBody>
      </p:sp>
      <p:sp>
        <p:nvSpPr>
          <p:cNvPr id="15" name="Text 13"/>
          <p:cNvSpPr txBox="1"/>
          <p:nvPr/>
        </p:nvSpPr>
        <p:spPr>
          <a:xfrm>
            <a:off x="822960" y="4407408"/>
            <a:ext cx="4846320" cy="1371600"/>
          </a:xfrm>
          <a:prstGeom prst="rect">
            <a:avLst/>
          </a:prstGeom>
          <a:noFill/>
          <a:ln/>
        </p:spPr>
        <p:txBody>
          <a:bodyPr wrap="square" lIns="0" tIns="0" rIns="0" bIns="0" rtlCol="0" anchor="ctr"/>
          <a:lstStyle/>
          <a:p>
            <a:pPr indent="0" marL="0">
              <a:lnSpc>
                <a:spcPct val="125000"/>
              </a:lnSpc>
              <a:buNone/>
            </a:pPr>
            <a:r>
              <a:rPr lang="en-US" sz="830" dirty="0">
                <a:solidFill>
                  <a:srgbClr val="CFE0FA"/>
                </a:solidFill>
                <a:latin typeface="Consolas" pitchFamily="34" charset="0"/>
                <a:ea typeface="Consolas" pitchFamily="34" charset="-122"/>
                <a:cs typeface="Consolas" pitchFamily="34" charset="-120"/>
              </a:rPr>
              <a:t>[22:07:05] Verification PASSED (golden nDCG 0.462 → 0.462). Cutover applied.</a:t>
            </a:r>
            <a:endParaRPr lang="en-US" sz="830" dirty="0"/>
          </a:p>
          <a:p>
            <a:pPr indent="0" marL="0">
              <a:lnSpc>
                <a:spcPct val="125000"/>
              </a:lnSpc>
              <a:buNone/>
            </a:pPr>
            <a:r>
              <a:rPr lang="en-US" sz="830" dirty="0">
                <a:solidFill>
                  <a:srgbClr val="CFE0FA"/>
                </a:solidFill>
                <a:latin typeface="Consolas" pitchFamily="34" charset="0"/>
                <a:ea typeface="Consolas" pitchFamily="34" charset="-122"/>
                <a:cs typeface="Consolas" pitchFamily="34" charset="-120"/>
              </a:rPr>
              <a:t>[22:07:05] Plan: 28 full re-embeds, 0 patches this tick.</a:t>
            </a:r>
            <a:endParaRPr lang="en-US" sz="830" dirty="0"/>
          </a:p>
          <a:p>
            <a:pPr indent="0" marL="0">
              <a:lnSpc>
                <a:spcPct val="125000"/>
              </a:lnSpc>
              <a:buNone/>
            </a:pPr>
            <a:r>
              <a:rPr lang="en-US" sz="830" dirty="0">
                <a:solidFill>
                  <a:srgbClr val="CFE0FA"/>
                </a:solidFill>
                <a:latin typeface="Consolas" pitchFamily="34" charset="0"/>
                <a:ea typeface="Consolas" pitchFamily="34" charset="-122"/>
                <a:cs typeface="Consolas" pitchFamily="34" charset="-120"/>
              </a:rPr>
              <a:t>[22:07:17] Verification PASSED (golden nDCG 0.462 → 0.462). Cutover applied.</a:t>
            </a:r>
            <a:endParaRPr lang="en-US" sz="830" dirty="0"/>
          </a:p>
          <a:p>
            <a:pPr indent="0" marL="0">
              <a:lnSpc>
                <a:spcPct val="125000"/>
              </a:lnSpc>
              <a:buNone/>
            </a:pPr>
            <a:r>
              <a:rPr lang="en-US" sz="830" dirty="0">
                <a:solidFill>
                  <a:srgbClr val="CFE0FA"/>
                </a:solidFill>
                <a:latin typeface="Consolas" pitchFamily="34" charset="0"/>
                <a:ea typeface="Consolas" pitchFamily="34" charset="-122"/>
                <a:cs typeface="Consolas" pitchFamily="34" charset="-120"/>
              </a:rPr>
              <a:t>[22:07:17] Plan: 10 full re-embeds, 0 patches this tick.</a:t>
            </a:r>
            <a:endParaRPr lang="en-US" sz="830" dirty="0"/>
          </a:p>
        </p:txBody>
      </p:sp>
      <p:sp>
        <p:nvSpPr>
          <p:cNvPr id="16" name="Shape 14"/>
          <p:cNvSpPr/>
          <p:nvPr/>
        </p:nvSpPr>
        <p:spPr>
          <a:xfrm>
            <a:off x="6172200" y="1783080"/>
            <a:ext cx="5486400" cy="4160520"/>
          </a:xfrm>
          <a:prstGeom prst="roundRect">
            <a:avLst>
              <a:gd name="adj" fmla="val 1758"/>
            </a:avLst>
          </a:prstGeom>
          <a:solidFill>
            <a:srgbClr val="111B38"/>
          </a:solidFill>
          <a:ln/>
        </p:spPr>
      </p:sp>
      <p:sp>
        <p:nvSpPr>
          <p:cNvPr id="17" name="Text 15"/>
          <p:cNvSpPr txBox="1"/>
          <p:nvPr/>
        </p:nvSpPr>
        <p:spPr>
          <a:xfrm>
            <a:off x="6400800" y="1965960"/>
            <a:ext cx="5029200" cy="256032"/>
          </a:xfrm>
          <a:prstGeom prst="rect">
            <a:avLst/>
          </a:prstGeom>
          <a:noFill/>
          <a:ln/>
        </p:spPr>
        <p:txBody>
          <a:bodyPr wrap="square" lIns="0" tIns="0" rIns="0" bIns="0" rtlCol="0" anchor="ctr"/>
          <a:lstStyle/>
          <a:p>
            <a:pPr indent="0" marL="0">
              <a:buNone/>
            </a:pPr>
            <a:r>
              <a:rPr lang="en-US" sz="1050" b="1" spc="120" kern="0" dirty="0">
                <a:solidFill>
                  <a:srgbClr val="E4F3F2"/>
                </a:solidFill>
                <a:latin typeface="Calibri" pitchFamily="34" charset="0"/>
                <a:ea typeface="Calibri" pitchFamily="34" charset="-122"/>
                <a:cs typeface="Calibri" pitchFamily="34" charset="-120"/>
              </a:rPr>
              <a:t>DEMO WALKTHROUGH</a:t>
            </a:r>
            <a:endParaRPr lang="en-US" sz="1050" dirty="0"/>
          </a:p>
        </p:txBody>
      </p:sp>
      <p:sp>
        <p:nvSpPr>
          <p:cNvPr id="18" name="Text 16"/>
          <p:cNvSpPr txBox="1"/>
          <p:nvPr/>
        </p:nvSpPr>
        <p:spPr>
          <a:xfrm>
            <a:off x="6400800" y="2331720"/>
            <a:ext cx="32004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6766560" y="2313432"/>
            <a:ext cx="4709160" cy="502920"/>
          </a:xfrm>
          <a:prstGeom prst="rect">
            <a:avLst/>
          </a:prstGeom>
          <a:noFill/>
          <a:ln/>
        </p:spPr>
        <p:txBody>
          <a:bodyPr wrap="square" lIns="0" tIns="0" rIns="0" bIns="0" rtlCol="0" anchor="ctr"/>
          <a:lstStyle/>
          <a:p>
            <a:pPr indent="0" marL="0">
              <a:lnSpc>
                <a:spcPct val="115000"/>
              </a:lnSpc>
              <a:buNone/>
            </a:pPr>
            <a:r>
              <a:rPr lang="en-US" sz="970" dirty="0">
                <a:solidFill>
                  <a:srgbClr val="FFFFFF"/>
                </a:solidFill>
                <a:latin typeface="Calibri" pitchFamily="34" charset="0"/>
                <a:ea typeface="Calibri" pitchFamily="34" charset="-122"/>
                <a:cs typeface="Calibri" pitchFamily="34" charset="-120"/>
              </a:rPr>
              <a:t>Start the dashboard before this slide — first load takes ~30-40s (one-time model warm-up).</a:t>
            </a:r>
            <a:endParaRPr lang="en-US" sz="970" dirty="0"/>
          </a:p>
        </p:txBody>
      </p:sp>
      <p:sp>
        <p:nvSpPr>
          <p:cNvPr id="20" name="Text 18"/>
          <p:cNvSpPr txBox="1"/>
          <p:nvPr/>
        </p:nvSpPr>
        <p:spPr>
          <a:xfrm>
            <a:off x="6400800" y="2898648"/>
            <a:ext cx="32004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2</a:t>
            </a:r>
            <a:endParaRPr lang="en-US" sz="1100" dirty="0"/>
          </a:p>
        </p:txBody>
      </p:sp>
      <p:sp>
        <p:nvSpPr>
          <p:cNvPr id="21" name="Text 19"/>
          <p:cNvSpPr txBox="1"/>
          <p:nvPr/>
        </p:nvSpPr>
        <p:spPr>
          <a:xfrm>
            <a:off x="6766560" y="2880360"/>
            <a:ext cx="4709160" cy="502920"/>
          </a:xfrm>
          <a:prstGeom prst="rect">
            <a:avLst/>
          </a:prstGeom>
          <a:noFill/>
          <a:ln/>
        </p:spPr>
        <p:txBody>
          <a:bodyPr wrap="square" lIns="0" tIns="0" rIns="0" bIns="0" rtlCol="0" anchor="ctr"/>
          <a:lstStyle/>
          <a:p>
            <a:pPr indent="0" marL="0">
              <a:lnSpc>
                <a:spcPct val="115000"/>
              </a:lnSpc>
              <a:buNone/>
            </a:pPr>
            <a:r>
              <a:rPr lang="en-US" sz="970" dirty="0">
                <a:solidFill>
                  <a:srgbClr val="FFFFFF"/>
                </a:solidFill>
                <a:latin typeface="Calibri" pitchFamily="34" charset="0"/>
                <a:ea typeface="Calibri" pitchFamily="34" charset="-122"/>
                <a:cs typeface="Calibri" pitchFamily="34" charset="-120"/>
              </a:rPr>
              <a:t>Show Database A (untouched control) and Database B (live) both starting Stable.</a:t>
            </a:r>
            <a:endParaRPr lang="en-US" sz="970" dirty="0"/>
          </a:p>
        </p:txBody>
      </p:sp>
      <p:sp>
        <p:nvSpPr>
          <p:cNvPr id="22" name="Text 20"/>
          <p:cNvSpPr txBox="1"/>
          <p:nvPr/>
        </p:nvSpPr>
        <p:spPr>
          <a:xfrm>
            <a:off x="6400800" y="3465576"/>
            <a:ext cx="32004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3</a:t>
            </a:r>
            <a:endParaRPr lang="en-US" sz="1100" dirty="0"/>
          </a:p>
        </p:txBody>
      </p:sp>
      <p:sp>
        <p:nvSpPr>
          <p:cNvPr id="23" name="Text 21"/>
          <p:cNvSpPr txBox="1"/>
          <p:nvPr/>
        </p:nvSpPr>
        <p:spPr>
          <a:xfrm>
            <a:off x="6766560" y="3447288"/>
            <a:ext cx="4709160" cy="502920"/>
          </a:xfrm>
          <a:prstGeom prst="rect">
            <a:avLst/>
          </a:prstGeom>
          <a:noFill/>
          <a:ln/>
        </p:spPr>
        <p:txBody>
          <a:bodyPr wrap="square" lIns="0" tIns="0" rIns="0" bIns="0" rtlCol="0" anchor="ctr"/>
          <a:lstStyle/>
          <a:p>
            <a:pPr indent="0" marL="0">
              <a:lnSpc>
                <a:spcPct val="115000"/>
              </a:lnSpc>
              <a:buNone/>
            </a:pPr>
            <a:r>
              <a:rPr lang="en-US" sz="970" dirty="0">
                <a:solidFill>
                  <a:srgbClr val="FFFFFF"/>
                </a:solidFill>
                <a:latin typeface="Calibri" pitchFamily="34" charset="0"/>
                <a:ea typeface="Calibri" pitchFamily="34" charset="-122"/>
                <a:cs typeface="Calibri" pitchFamily="34" charset="-120"/>
              </a:rPr>
              <a:t>Click the ONE manual control: "Simulate embedding provider update."</a:t>
            </a:r>
            <a:endParaRPr lang="en-US" sz="970" dirty="0"/>
          </a:p>
        </p:txBody>
      </p:sp>
      <p:sp>
        <p:nvSpPr>
          <p:cNvPr id="24" name="Text 22"/>
          <p:cNvSpPr txBox="1"/>
          <p:nvPr/>
        </p:nvSpPr>
        <p:spPr>
          <a:xfrm>
            <a:off x="6400800" y="4032504"/>
            <a:ext cx="32004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6766560" y="4014216"/>
            <a:ext cx="4709160" cy="502920"/>
          </a:xfrm>
          <a:prstGeom prst="rect">
            <a:avLst/>
          </a:prstGeom>
          <a:noFill/>
          <a:ln/>
        </p:spPr>
        <p:txBody>
          <a:bodyPr wrap="square" lIns="0" tIns="0" rIns="0" bIns="0" rtlCol="0" anchor="ctr"/>
          <a:lstStyle/>
          <a:p>
            <a:pPr indent="0" marL="0">
              <a:lnSpc>
                <a:spcPct val="115000"/>
              </a:lnSpc>
              <a:buNone/>
            </a:pPr>
            <a:r>
              <a:rPr lang="en-US" sz="970" dirty="0">
                <a:solidFill>
                  <a:srgbClr val="FFFFFF"/>
                </a:solidFill>
                <a:latin typeface="Calibri" pitchFamily="34" charset="0"/>
                <a:ea typeface="Calibri" pitchFamily="34" charset="-122"/>
                <a:cs typeface="Calibri" pitchFamily="34" charset="-120"/>
              </a:rPr>
              <a:t>Everything after that is autonomous: detection fires, status flips to Alert, the scheduler produces a plan, migration shadow-builds it, verification checks it, and it cuts over live — all on their own.</a:t>
            </a:r>
            <a:endParaRPr lang="en-US" sz="970" dirty="0"/>
          </a:p>
        </p:txBody>
      </p:sp>
      <p:sp>
        <p:nvSpPr>
          <p:cNvPr id="26" name="Text 24"/>
          <p:cNvSpPr txBox="1"/>
          <p:nvPr/>
        </p:nvSpPr>
        <p:spPr>
          <a:xfrm>
            <a:off x="6400800" y="4599432"/>
            <a:ext cx="32004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6766560" y="4581144"/>
            <a:ext cx="4709160" cy="502920"/>
          </a:xfrm>
          <a:prstGeom prst="rect">
            <a:avLst/>
          </a:prstGeom>
          <a:noFill/>
          <a:ln/>
        </p:spPr>
        <p:txBody>
          <a:bodyPr wrap="square" lIns="0" tIns="0" rIns="0" bIns="0" rtlCol="0" anchor="ctr"/>
          <a:lstStyle/>
          <a:p>
            <a:pPr indent="0" marL="0">
              <a:lnSpc>
                <a:spcPct val="115000"/>
              </a:lnSpc>
              <a:buNone/>
            </a:pPr>
            <a:r>
              <a:rPr lang="en-US" sz="970" dirty="0">
                <a:solidFill>
                  <a:srgbClr val="FFFFFF"/>
                </a:solidFill>
                <a:latin typeface="Calibri" pitchFamily="34" charset="0"/>
                <a:ea typeface="Calibri" pitchFamily="34" charset="-122"/>
                <a:cs typeface="Calibri" pitchFamily="34" charset="-120"/>
              </a:rPr>
              <a:t>Watch the flagged-document count fall tick by tick until status returns to Resolved.</a:t>
            </a:r>
            <a:endParaRPr lang="en-US" sz="970" dirty="0"/>
          </a:p>
        </p:txBody>
      </p:sp>
      <p:sp>
        <p:nvSpPr>
          <p:cNvPr id="28" name="Text 26"/>
          <p:cNvSpPr txBox="1"/>
          <p:nvPr/>
        </p:nvSpPr>
        <p:spPr>
          <a:xfrm>
            <a:off x="6400800" y="5166360"/>
            <a:ext cx="32004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6</a:t>
            </a:r>
            <a:endParaRPr lang="en-US" sz="1100" dirty="0"/>
          </a:p>
        </p:txBody>
      </p:sp>
      <p:sp>
        <p:nvSpPr>
          <p:cNvPr id="29" name="Text 27"/>
          <p:cNvSpPr txBox="1"/>
          <p:nvPr/>
        </p:nvSpPr>
        <p:spPr>
          <a:xfrm>
            <a:off x="6766560" y="5148072"/>
            <a:ext cx="4709160" cy="502920"/>
          </a:xfrm>
          <a:prstGeom prst="rect">
            <a:avLst/>
          </a:prstGeom>
          <a:noFill/>
          <a:ln/>
        </p:spPr>
        <p:txBody>
          <a:bodyPr wrap="square" lIns="0" tIns="0" rIns="0" bIns="0" rtlCol="0" anchor="ctr"/>
          <a:lstStyle/>
          <a:p>
            <a:pPr indent="0" marL="0">
              <a:lnSpc>
                <a:spcPct val="115000"/>
              </a:lnSpc>
              <a:buNone/>
            </a:pPr>
            <a:r>
              <a:rPr lang="en-US" sz="970" dirty="0">
                <a:solidFill>
                  <a:srgbClr val="FFFFFF"/>
                </a:solidFill>
                <a:latin typeface="Calibri" pitchFamily="34" charset="0"/>
                <a:ea typeface="Calibri" pitchFamily="34" charset="-122"/>
                <a:cs typeface="Calibri" pitchFamily="34" charset="-120"/>
              </a:rPr>
              <a:t>Point at the event log — every line is the real system talking, not a script.</a:t>
            </a:r>
            <a:endParaRPr lang="en-US" sz="970" dirty="0"/>
          </a:p>
        </p:txBody>
      </p:sp>
      <p:sp>
        <p:nvSpPr>
          <p:cNvPr id="30" name="Text 28"/>
          <p:cNvSpPr txBox="1"/>
          <p:nvPr/>
        </p:nvSpPr>
        <p:spPr>
          <a:xfrm>
            <a:off x="6400800" y="5779008"/>
            <a:ext cx="5029200" cy="457200"/>
          </a:xfrm>
          <a:prstGeom prst="rect">
            <a:avLst/>
          </a:prstGeom>
          <a:noFill/>
          <a:ln/>
        </p:spPr>
        <p:txBody>
          <a:bodyPr wrap="square" lIns="0" tIns="0" rIns="0" bIns="0" rtlCol="0" anchor="ctr"/>
          <a:lstStyle/>
          <a:p>
            <a:pPr indent="0" marL="0">
              <a:lnSpc>
                <a:spcPct val="115000"/>
              </a:lnSpc>
              <a:buNone/>
            </a:pPr>
            <a:r>
              <a:rPr lang="en-US" sz="880" i="1" dirty="0">
                <a:solidFill>
                  <a:srgbClr val="8CA0C8"/>
                </a:solidFill>
                <a:latin typeface="Calibri" pitchFamily="34" charset="0"/>
                <a:ea typeface="Calibri" pitchFamily="34" charset="-122"/>
                <a:cs typeface="Calibri" pitchFamily="34" charset="-120"/>
              </a:rPr>
              <a:t>Fallback if the live run misbehaves: this exact sequence, screen-recorded end to end, as backup.</a:t>
            </a:r>
            <a:endParaRPr lang="en-US" sz="880" dirty="0"/>
          </a:p>
        </p:txBody>
      </p:sp>
      <p:sp>
        <p:nvSpPr>
          <p:cNvPr id="31" name="Text 29"/>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8CA0C8"/>
                </a:solidFill>
                <a:latin typeface="Calibri" pitchFamily="34" charset="0"/>
                <a:ea typeface="Calibri" pitchFamily="34" charset="-122"/>
                <a:cs typeface="Calibri" pitchFamily="34" charset="-120"/>
              </a:rPr>
              <a:t>VectorSentry  |  Review II</a:t>
            </a:r>
            <a:endParaRPr lang="en-US" sz="900" dirty="0"/>
          </a:p>
        </p:txBody>
      </p:sp>
      <p:sp>
        <p:nvSpPr>
          <p:cNvPr id="32" name="Text 30"/>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8CA0C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2026-09-15T16:44:17Z</dcterms:created>
  <dcterms:modified xsi:type="dcterms:W3CDTF">2026-09-15T16:44:17Z</dcterms:modified>
</cp:coreProperties>
</file>