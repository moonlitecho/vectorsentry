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19" d="100"/>
          <a:sy n="119" d="100"/>
        </p:scale>
        <p:origin x="23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1648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I'm presenting VectorSentry's Review II — since Review I, we've moved from a proposal to a built, tested, and evaluated system. Today I'll briefly respond to the feedback from Review I, then walk through the literature, the built architecture, real experimental results, how we tested it, and a live demonstration of the system actually running.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anything else, I want to directly answer the three questions the panel raised at Review I, because we took them seriously and they shaped what we prioritized building. On the old papers: these are foundational theory, and we didn't just cite the 1979 knapsack paper — we validated it. Our scheduler, built directly on that formulation, measures a 0.00% mean optimality gap against the exact solver, with a max of 0.14%, on exactly the instance where a naive approach was 88% wrong. On overhead: we now have real numbers. Detection scans the full five-thousand-document benchmark in under 0.6 seconds. Migration only touches the documents actually selected for a fix, not the whole corpus. On complexity: full breakdown is next, with real measured wall-clock times alongside the theoretical bounds.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for context, since you saw this in depth at Review I: mixed-generation embedding contamination silently degrades retrieval quality, because cosine similarity isn't comparable across two different embedding-model generations. It's real — documented in OpenAI and Cohere's own update history. It's silent — no exceptions, no alerts. And it's growing — over twenty commercial vector-database systems have launched in the last five years, all exposed to this. The key difference from Review I: we've now built the benchmark and measured this directly, which is what the rest of today's presentation is about.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research-gap logic from Review I, kept because it's still the spine of the project: detection literature finds anomalies but doesn't say what to do next; patching literature fixes cheaply but uniformly, with no per-document decision under a budget. That gap is exactly a Multiple-Choice Knapsack Problem — which is what we've now actually built and measured, not just proposed.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seven sources directly target detecting or repairing embedding contamination. KNN-OOD, Isolation Forest, and LOF detect anomalies but never say what to do once you've found one — we've now built and measured all three as candidate detectors; KNN-OOD's F1 of 0.51 to 0.57 is why it's our production choice, as noted in the table. Drift-Adapter and the Backward-Compatible-Embeddings paper both show cheap realignment or avoidance is possible, but each applies one uniform strategy — our Patch action adapts Drift-Adapter's mechanism, gated by our own budget decision. MUSE gives us the underlying alignment math.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are our foundation layer. HNSW explains exactly why contamination is dangerous — it assumes a consistent index geometry that contamination silently breaks. The two rows the Review I panel specifically asked about are Sinha and Zoltners, 1979, and Breslau and colleagues, 1999. We're not citing them as historical curiosities — our scheduler is a direct implementation of the 1979 formulation, and we've now measured it: 0.00% mean optimality gap, max 0.14%, against the exact solver. The math holds up, today, on our own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details, as required. We use BEIR SciFact — a real, peer-reviewed IR benchmark with genuine relevance judgments, not something we invented. Five thousand documents keeps the exact-ILP baseline solvable for direct comparison while remaining meaningful. Contamination is introduced by re-embedding a controlled subset with a second real embedding model — all-MiniLM-L12-v2 standing in for a 'new' provider generation against all-MiniLM-L6-v2 as the 'old' one. We swept five contamination ratios against six budget levels — thirty scenarios per method, all run to completion, with a fixed seed for full reproducibility. Query traffic is modeled as Zipf-distributed, directly grounded in the Breslau et al. 1999 paper from our literature review — not an arbitrary choice.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as built and currently running — not a proposal anymore. A live vector database feeds Detect, which scores documents against a baseline-calibrated threshold. Prioritize is our knapsack scheduler, deciding full re-embed, patch, or defer for every flagged document. Migrate builds the fix as a shadow copy — the live index is never touched directly. Verify is the safety gate: golden-query canary check, automatic rollback on failure, retry or defer as appropriate. And the whole loop runs autonomously and continuously in our 'Live Sentry' module — built, integrated, and validated end-to-end on the real 5,000-document benchmark.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four-module design from Review I, now with a status update: every module is implemented, unit-tested, and integrated — this isn't a plan anymore. Detection measures F1 between 0.51 and 0.57 across contamination ratios. Prioritization's frontier-greedy approximation measures a 0.00% mean optimality gap, max 0.14%, against the exact solver. Migration and Verification together correctly aborted 10 of 30 test scenarios where a plan would have regressed production quality. And head-to-head, the full system beats the best Phase-1 baseline in 18 of 30 scenarios. Each of those numbers comes from a completed, real experiment — full methodology and evaluation detail available in our supporting documentation.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our direct, complete answer to the complexity and overhead questions from Review I. Detection is near-linear with an ANN index — measured at under 0.6 seconds for the full five-thousand-document benchmark, across all three detectors we tested. Prioritization's production path, frontier-greedy, is also near-linear — dominated by a sort. The exact ILP solver IS expensive — NP-hard in general — but we deliberately never run it live; it's an offline validation tool we used on small subsamples to prove the greedy approximation is trustworthy. Migration and Verification both scale with k, the number of documents actually being touched, not N, the corpus size — so the overhead is proportional to how contaminated the corpus actually is, not a fixed tax on every query. Bottom line: the only expensive step is intentionally kept off the live system.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genuine destructive testing, not a checkbox. Running the full system at five-thousand-document scale surfaced three real reliability bugs, none of which showed up in smaller smoke tests. First, a shrinking-budget-pool bug that stalled incidents just short of resolution — fixed by sizing budget off a stable reference count. Second, already-fixed documents could be repeatedly rescheduled, starving genuinely contaminated ones — fixed with a monotonic remediated flag. Third, an infinite retry loop when escalating budget couldn't actually fix the real problem — fixed with a hard cap that defers to manual review instead of looping forever. All three are now permanent regression tests, so they can never silently come back — this is exactly the kind of proactive, layered defense the rubric's Risk Assessment and Testing criteria ask for.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Review I, feasibility was an argument — standard tools, provable complexity bounds, a de-risked build order. Today, every one of those claims has evidence behind it. The components are still standard, but now we can point to real measured runtimes. The build order wasn't just theoretically de-risked — it was actually tested at full scale, and the three bugs we found and fixed are direct proof the process works. And autonomous operation isn't a diagram anymore — it's a built, running module, validated end-to-end on the real benchmark.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novelty and creativity claims from Review I are unchanged in substance, but every one now has empirical evidence behind it, not just design reasoning. The knapsack formulation isn't just 'first to our literature' — we measured it beating a naive alternative by 88 percentage points. The safety gate isn't just a design feature — it fired correctly ten real times in testing. The Defer action isn't just philosophically justified — it's in the real scheduler output across every one of our thirty evaluated scenarios.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full reference list — unchanged from Review I, still fifteen individually verified sources in APA format. Thank you — that's VectorSentry's Review II.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5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2A56"/>
          </a:solidFill>
          <a:ln/>
        </p:spPr>
        <p:txBody>
          <a:bodyPr/>
          <a:lstStyle/>
          <a:p>
            <a:endParaRPr lang="en-US"/>
          </a:p>
        </p:txBody>
      </p:sp>
      <p:sp>
        <p:nvSpPr>
          <p:cNvPr id="3" name="Shape 1"/>
          <p:cNvSpPr/>
          <p:nvPr/>
        </p:nvSpPr>
        <p:spPr>
          <a:xfrm>
            <a:off x="8778240" y="-2011680"/>
            <a:ext cx="5943600" cy="5943600"/>
          </a:xfrm>
          <a:prstGeom prst="ellipse">
            <a:avLst/>
          </a:prstGeom>
          <a:solidFill>
            <a:srgbClr val="111B38"/>
          </a:solidFill>
          <a:ln/>
        </p:spPr>
        <p:txBody>
          <a:bodyPr/>
          <a:lstStyle/>
          <a:p>
            <a:endParaRPr lang="en-US"/>
          </a:p>
        </p:txBody>
      </p:sp>
      <p:sp>
        <p:nvSpPr>
          <p:cNvPr id="4" name="Shape 2"/>
          <p:cNvSpPr/>
          <p:nvPr/>
        </p:nvSpPr>
        <p:spPr>
          <a:xfrm>
            <a:off x="9692640" y="4206240"/>
            <a:ext cx="3840480" cy="3840480"/>
          </a:xfrm>
          <a:prstGeom prst="ellipse">
            <a:avLst/>
          </a:prstGeom>
          <a:solidFill>
            <a:srgbClr val="0E7C7B"/>
          </a:solidFill>
          <a:ln/>
        </p:spPr>
        <p:txBody>
          <a:bodyPr/>
          <a:lstStyle/>
          <a:p>
            <a:endParaRPr lang="en-US"/>
          </a:p>
        </p:txBody>
      </p:sp>
      <p:sp>
        <p:nvSpPr>
          <p:cNvPr id="5" name="Text 3"/>
          <p:cNvSpPr txBox="1"/>
          <p:nvPr/>
        </p:nvSpPr>
        <p:spPr>
          <a:xfrm>
            <a:off x="640080" y="502920"/>
            <a:ext cx="7315200" cy="320040"/>
          </a:xfrm>
          <a:prstGeom prst="rect">
            <a:avLst/>
          </a:prstGeom>
          <a:noFill/>
          <a:ln/>
        </p:spPr>
        <p:txBody>
          <a:bodyPr wrap="square" lIns="0" tIns="0" rIns="0" bIns="0" rtlCol="0" anchor="ctr"/>
          <a:lstStyle/>
          <a:p>
            <a:pPr marL="0" indent="0">
              <a:buNone/>
            </a:pPr>
            <a:r>
              <a:rPr lang="en-US" sz="1200" kern="0" spc="200" dirty="0">
                <a:solidFill>
                  <a:srgbClr val="8CA0C8"/>
                </a:solidFill>
                <a:latin typeface="Calibri" pitchFamily="34" charset="0"/>
                <a:ea typeface="Calibri" pitchFamily="34" charset="-122"/>
                <a:cs typeface="Calibri" pitchFamily="34" charset="-120"/>
              </a:rPr>
              <a:t>KUMARAGURU COLLEGE OF TECHNOLOGY  •  KSI</a:t>
            </a:r>
            <a:endParaRPr lang="en-US" sz="1200" dirty="0"/>
          </a:p>
        </p:txBody>
      </p:sp>
      <p:sp>
        <p:nvSpPr>
          <p:cNvPr id="6" name="Text 4"/>
          <p:cNvSpPr txBox="1"/>
          <p:nvPr/>
        </p:nvSpPr>
        <p:spPr>
          <a:xfrm>
            <a:off x="640080" y="2057400"/>
            <a:ext cx="9601200" cy="100584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VectorSentry</a:t>
            </a:r>
            <a:endParaRPr lang="en-US" sz="5400" dirty="0"/>
          </a:p>
        </p:txBody>
      </p:sp>
      <p:sp>
        <p:nvSpPr>
          <p:cNvPr id="7" name="Text 5"/>
          <p:cNvSpPr txBox="1"/>
          <p:nvPr/>
        </p:nvSpPr>
        <p:spPr>
          <a:xfrm>
            <a:off x="658368" y="2880360"/>
            <a:ext cx="9418320" cy="777240"/>
          </a:xfrm>
          <a:prstGeom prst="rect">
            <a:avLst/>
          </a:prstGeom>
          <a:noFill/>
          <a:ln/>
        </p:spPr>
        <p:txBody>
          <a:bodyPr wrap="square" lIns="0" tIns="0" rIns="0" bIns="0" rtlCol="0" anchor="ctr"/>
          <a:lstStyle/>
          <a:p>
            <a:pPr marL="0" indent="0">
              <a:lnSpc>
                <a:spcPct val="115000"/>
              </a:lnSpc>
              <a:buNone/>
            </a:pPr>
            <a:r>
              <a:rPr lang="en-US" sz="1900" dirty="0">
                <a:solidFill>
                  <a:srgbClr val="CFE0FA"/>
                </a:solidFill>
                <a:latin typeface="Calibri" pitchFamily="34" charset="0"/>
                <a:ea typeface="Calibri" pitchFamily="34" charset="-122"/>
                <a:cs typeface="Calibri" pitchFamily="34" charset="-120"/>
              </a:rPr>
              <a:t>Budget-Aware Prioritization for Mixed-Generation Embedding</a:t>
            </a:r>
            <a:endParaRPr lang="en-US" sz="1900" dirty="0"/>
          </a:p>
          <a:p>
            <a:pPr marL="0" indent="0">
              <a:lnSpc>
                <a:spcPct val="115000"/>
              </a:lnSpc>
              <a:buNone/>
            </a:pPr>
            <a:r>
              <a:rPr lang="en-US" sz="1900" dirty="0">
                <a:solidFill>
                  <a:srgbClr val="CFE0FA"/>
                </a:solidFill>
                <a:latin typeface="Calibri" pitchFamily="34" charset="0"/>
                <a:ea typeface="Calibri" pitchFamily="34" charset="-122"/>
                <a:cs typeface="Calibri" pitchFamily="34" charset="-120"/>
              </a:rPr>
              <a:t>Contamination in Production Vector Databases</a:t>
            </a:r>
            <a:endParaRPr lang="en-US" sz="1900" dirty="0"/>
          </a:p>
        </p:txBody>
      </p:sp>
      <p:sp>
        <p:nvSpPr>
          <p:cNvPr id="8" name="Text 6"/>
          <p:cNvSpPr txBox="1"/>
          <p:nvPr/>
        </p:nvSpPr>
        <p:spPr>
          <a:xfrm>
            <a:off x="658368" y="3639312"/>
            <a:ext cx="9418320" cy="365760"/>
          </a:xfrm>
          <a:prstGeom prst="rect">
            <a:avLst/>
          </a:prstGeom>
          <a:noFill/>
          <a:ln/>
        </p:spPr>
        <p:txBody>
          <a:bodyPr wrap="square" lIns="0" tIns="0" rIns="0" bIns="0" rtlCol="0" anchor="ctr"/>
          <a:lstStyle/>
          <a:p>
            <a:pPr marL="0" indent="0">
              <a:buNone/>
            </a:pPr>
            <a:r>
              <a:rPr lang="en-US" sz="1700" b="1" i="1" dirty="0">
                <a:solidFill>
                  <a:srgbClr val="E4F3F2"/>
                </a:solidFill>
                <a:latin typeface="Calibri" pitchFamily="34" charset="0"/>
                <a:ea typeface="Calibri" pitchFamily="34" charset="-122"/>
                <a:cs typeface="Calibri" pitchFamily="34" charset="-120"/>
              </a:rPr>
              <a:t>Review II — Built, Tested, and Evaluated</a:t>
            </a:r>
            <a:endParaRPr lang="en-US" sz="1700" dirty="0"/>
          </a:p>
        </p:txBody>
      </p:sp>
      <p:sp>
        <p:nvSpPr>
          <p:cNvPr id="9" name="Shape 7"/>
          <p:cNvSpPr/>
          <p:nvPr/>
        </p:nvSpPr>
        <p:spPr>
          <a:xfrm>
            <a:off x="640079" y="3931920"/>
            <a:ext cx="8054741" cy="1691640"/>
          </a:xfrm>
          <a:prstGeom prst="roundRect">
            <a:avLst>
              <a:gd name="adj" fmla="val 5161"/>
            </a:avLst>
          </a:prstGeom>
          <a:solidFill>
            <a:srgbClr val="16224A"/>
          </a:solidFill>
          <a:ln/>
        </p:spPr>
        <p:txBody>
          <a:bodyPr/>
          <a:lstStyle/>
          <a:p>
            <a:endParaRPr lang="en-US"/>
          </a:p>
        </p:txBody>
      </p:sp>
      <p:sp>
        <p:nvSpPr>
          <p:cNvPr id="10" name="Text 8"/>
          <p:cNvSpPr txBox="1"/>
          <p:nvPr/>
        </p:nvSpPr>
        <p:spPr>
          <a:xfrm>
            <a:off x="868680" y="4590769"/>
            <a:ext cx="7406640" cy="1097280"/>
          </a:xfrm>
          <a:prstGeom prst="rect">
            <a:avLst/>
          </a:prstGeom>
          <a:noFill/>
          <a:ln/>
        </p:spPr>
        <p:txBody>
          <a:bodyPr wrap="square" lIns="0" tIns="0" rIns="0" bIns="0" rtlCol="0" anchor="ctr"/>
          <a:lstStyle/>
          <a:p>
            <a:pPr>
              <a:lnSpc>
                <a:spcPct val="135000"/>
              </a:lnSpc>
            </a:pPr>
            <a:r>
              <a:rPr lang="en-US" sz="1350" b="1" dirty="0">
                <a:solidFill>
                  <a:srgbClr val="CFE0FA"/>
                </a:solidFill>
                <a:latin typeface="Calibri" pitchFamily="34" charset="0"/>
                <a:ea typeface="Calibri" pitchFamily="34" charset="-122"/>
                <a:cs typeface="Calibri" pitchFamily="34" charset="-120"/>
              </a:rPr>
              <a:t>Team Members</a:t>
            </a:r>
          </a:p>
          <a:p>
            <a:pPr>
              <a:lnSpc>
                <a:spcPct val="135000"/>
              </a:lnSpc>
            </a:pPr>
            <a:r>
              <a:rPr lang="en-US" sz="1350" b="1" dirty="0">
                <a:solidFill>
                  <a:srgbClr val="CFE0FA"/>
                </a:solidFill>
                <a:latin typeface="Calibri" pitchFamily="34" charset="0"/>
                <a:ea typeface="Calibri" pitchFamily="34" charset="-122"/>
                <a:cs typeface="Calibri" pitchFamily="34" charset="-120"/>
              </a:rPr>
              <a:t>23BCS005- Abhinav Prabhakaran</a:t>
            </a:r>
          </a:p>
          <a:p>
            <a:pPr>
              <a:lnSpc>
                <a:spcPct val="135000"/>
              </a:lnSpc>
            </a:pPr>
            <a:r>
              <a:rPr lang="en-US" sz="1350" b="1" dirty="0">
                <a:solidFill>
                  <a:srgbClr val="CFE0FA"/>
                </a:solidFill>
                <a:latin typeface="Calibri" pitchFamily="34" charset="0"/>
                <a:ea typeface="Calibri" pitchFamily="34" charset="-122"/>
                <a:cs typeface="Calibri" pitchFamily="34" charset="-120"/>
              </a:rPr>
              <a:t>23BCS010- Adish K Senthil</a:t>
            </a:r>
          </a:p>
          <a:p>
            <a:pPr>
              <a:lnSpc>
                <a:spcPct val="135000"/>
              </a:lnSpc>
            </a:pPr>
            <a:r>
              <a:rPr lang="en-US" sz="1350" b="1" dirty="0">
                <a:solidFill>
                  <a:srgbClr val="CFE0FA"/>
                </a:solidFill>
                <a:latin typeface="Calibri" pitchFamily="34" charset="0"/>
                <a:ea typeface="Calibri" pitchFamily="34" charset="-122"/>
                <a:cs typeface="Calibri" pitchFamily="34" charset="-120"/>
              </a:rPr>
              <a:t>23BCS014- </a:t>
            </a:r>
            <a:r>
              <a:rPr lang="en-US" sz="1350" b="1" dirty="0" err="1">
                <a:solidFill>
                  <a:srgbClr val="CFE0FA"/>
                </a:solidFill>
                <a:latin typeface="Calibri" pitchFamily="34" charset="0"/>
                <a:ea typeface="Calibri" pitchFamily="34" charset="-122"/>
                <a:cs typeface="Calibri" pitchFamily="34" charset="-120"/>
              </a:rPr>
              <a:t>Aksheta</a:t>
            </a:r>
            <a:r>
              <a:rPr lang="en-US" sz="1350" b="1" dirty="0">
                <a:solidFill>
                  <a:srgbClr val="CFE0FA"/>
                </a:solidFill>
                <a:latin typeface="Calibri" pitchFamily="34" charset="0"/>
                <a:ea typeface="Calibri" pitchFamily="34" charset="-122"/>
                <a:cs typeface="Calibri" pitchFamily="34" charset="-120"/>
              </a:rPr>
              <a:t> Rajaram </a:t>
            </a:r>
          </a:p>
          <a:p>
            <a:pPr>
              <a:lnSpc>
                <a:spcPct val="135000"/>
              </a:lnSpc>
            </a:pPr>
            <a:r>
              <a:rPr lang="en-US" sz="1350" b="1" dirty="0">
                <a:solidFill>
                  <a:srgbClr val="CFE0FA"/>
                </a:solidFill>
                <a:latin typeface="Calibri" pitchFamily="34" charset="0"/>
                <a:ea typeface="Calibri" pitchFamily="34" charset="-122"/>
                <a:cs typeface="Calibri" pitchFamily="34" charset="-120"/>
              </a:rPr>
              <a:t>23BCS022- Ashish Mathew Deepak </a:t>
            </a:r>
            <a:r>
              <a:rPr lang="en-US" sz="1350" dirty="0">
                <a:solidFill>
                  <a:srgbClr val="FFFFFF"/>
                </a:solidFill>
                <a:latin typeface="Calibri" pitchFamily="34" charset="0"/>
                <a:ea typeface="Calibri" pitchFamily="34" charset="-122"/>
                <a:cs typeface="Calibri" pitchFamily="34" charset="-120"/>
              </a:rPr>
              <a:t>
</a:t>
            </a:r>
            <a:r>
              <a:rPr lang="en-US" sz="1350" b="1" dirty="0">
                <a:solidFill>
                  <a:srgbClr val="CFE0FA"/>
                </a:solidFill>
                <a:latin typeface="Calibri" pitchFamily="34" charset="0"/>
                <a:ea typeface="Calibri" pitchFamily="34" charset="-122"/>
                <a:cs typeface="Calibri" pitchFamily="34" charset="-120"/>
              </a:rPr>
              <a:t>Guide: </a:t>
            </a:r>
            <a:r>
              <a:rPr lang="en-US" sz="1350" b="1" dirty="0">
                <a:solidFill>
                  <a:srgbClr val="FFFFFF"/>
                </a:solidFill>
                <a:latin typeface="Calibri" pitchFamily="34" charset="0"/>
                <a:ea typeface="Calibri" pitchFamily="34" charset="-122"/>
                <a:cs typeface="Calibri" pitchFamily="34" charset="-120"/>
              </a:rPr>
              <a:t>Dr. Jeba N </a:t>
            </a:r>
            <a:endParaRPr lang="en-US" sz="1350" dirty="0"/>
          </a:p>
          <a:p>
            <a:pPr>
              <a:lnSpc>
                <a:spcPct val="135000"/>
              </a:lnSpc>
            </a:pPr>
            <a:r>
              <a:rPr lang="en-US" sz="1350" dirty="0">
                <a:solidFill>
                  <a:srgbClr val="FFFFFF"/>
                </a:solidFill>
                <a:latin typeface="Calibri" pitchFamily="34" charset="0"/>
                <a:ea typeface="Calibri" pitchFamily="34" charset="-122"/>
                <a:cs typeface="Calibri" pitchFamily="34" charset="-120"/>
              </a:rPr>
              <a:t>
</a:t>
            </a:r>
            <a:r>
              <a:rPr lang="en-US" sz="1350" b="1" dirty="0">
                <a:solidFill>
                  <a:srgbClr val="CFE0FA"/>
                </a:solidFill>
                <a:latin typeface="Calibri" pitchFamily="34" charset="0"/>
                <a:ea typeface="Calibri" pitchFamily="34" charset="-122"/>
                <a:cs typeface="Calibri" pitchFamily="34" charset="-120"/>
              </a:rPr>
              <a:t>Review Date: </a:t>
            </a:r>
            <a:r>
              <a:rPr lang="en-US" sz="1350" b="1" dirty="0">
                <a:solidFill>
                  <a:srgbClr val="FFFFFF"/>
                </a:solidFill>
                <a:latin typeface="Calibri" pitchFamily="34" charset="0"/>
                <a:ea typeface="Calibri" pitchFamily="34" charset="-122"/>
                <a:cs typeface="Calibri" pitchFamily="34" charset="-120"/>
              </a:rPr>
              <a:t>19/09/2026</a:t>
            </a:r>
            <a:r>
              <a:rPr lang="en-US" sz="1350" dirty="0">
                <a:solidFill>
                  <a:srgbClr val="FFFFFF"/>
                </a:solidFill>
                <a:latin typeface="Calibri" pitchFamily="34" charset="0"/>
                <a:ea typeface="Calibri" pitchFamily="34" charset="-122"/>
                <a:cs typeface="Calibri" pitchFamily="34" charset="-120"/>
              </a:rPr>
              <a:t>   |   UG Capstone Projects (2026-27) — Phase I, Review II</a:t>
            </a:r>
            <a:endParaRPr lang="en-US" sz="1350" dirty="0"/>
          </a:p>
        </p:txBody>
      </p:sp>
      <p:sp>
        <p:nvSpPr>
          <p:cNvPr id="11" name="Text 9"/>
          <p:cNvSpPr txBox="1"/>
          <p:nvPr/>
        </p:nvSpPr>
        <p:spPr>
          <a:xfrm>
            <a:off x="640080" y="5760720"/>
            <a:ext cx="7955280" cy="365760"/>
          </a:xfrm>
          <a:prstGeom prst="rect">
            <a:avLst/>
          </a:prstGeom>
          <a:noFill/>
          <a:ln/>
        </p:spPr>
        <p:txBody>
          <a:bodyPr wrap="square" lIns="0" tIns="0" rIns="0" bIns="0" rtlCol="0" anchor="ctr"/>
          <a:lstStyle/>
          <a:p>
            <a:pPr marL="0" indent="0">
              <a:buNone/>
            </a:pP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RESPONSE TO REVIEW I FEEDBACK</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marL="0" indent="0">
              <a:buNone/>
            </a:pPr>
            <a:r>
              <a:rPr lang="en-US" sz="3200" b="1" dirty="0">
                <a:solidFill>
                  <a:srgbClr val="1B2A56"/>
                </a:solidFill>
                <a:latin typeface="Cambria" pitchFamily="34" charset="0"/>
                <a:ea typeface="Cambria" pitchFamily="34" charset="-122"/>
                <a:cs typeface="Cambria" pitchFamily="34" charset="-120"/>
              </a:rPr>
              <a:t>Addressing the Panel's Questions</a:t>
            </a:r>
            <a:endParaRPr lang="en-US" sz="3200" dirty="0"/>
          </a:p>
        </p:txBody>
      </p:sp>
      <p:sp>
        <p:nvSpPr>
          <p:cNvPr id="4" name="Text 2"/>
          <p:cNvSpPr txBox="1"/>
          <p:nvPr/>
        </p:nvSpPr>
        <p:spPr>
          <a:xfrm>
            <a:off x="548640" y="1298448"/>
            <a:ext cx="10972800" cy="274320"/>
          </a:xfrm>
          <a:prstGeom prst="rect">
            <a:avLst/>
          </a:prstGeom>
          <a:noFill/>
          <a:ln/>
        </p:spPr>
        <p:txBody>
          <a:bodyPr wrap="square" lIns="0" tIns="0" rIns="0" bIns="0" rtlCol="0" anchor="ctr"/>
          <a:lstStyle/>
          <a:p>
            <a:pPr marL="0" indent="0">
              <a:buNone/>
            </a:pPr>
            <a:r>
              <a:rPr lang="en-US" sz="1100" i="1" dirty="0">
                <a:solidFill>
                  <a:srgbClr val="5A6472"/>
                </a:solidFill>
                <a:latin typeface="Calibri" pitchFamily="34" charset="0"/>
                <a:ea typeface="Calibri" pitchFamily="34" charset="-122"/>
                <a:cs typeface="Calibri" pitchFamily="34" charset="-120"/>
              </a:rPr>
              <a:t>Three questions from Review I, answered directly — with evidence, not just argument.</a:t>
            </a:r>
            <a:endParaRPr lang="en-US" sz="1100" dirty="0"/>
          </a:p>
        </p:txBody>
      </p:sp>
      <p:sp>
        <p:nvSpPr>
          <p:cNvPr id="5" name="Shape 3"/>
          <p:cNvSpPr/>
          <p:nvPr/>
        </p:nvSpPr>
        <p:spPr>
          <a:xfrm>
            <a:off x="548640" y="1691640"/>
            <a:ext cx="11109960" cy="1417320"/>
          </a:xfrm>
          <a:prstGeom prst="roundRect">
            <a:avLst>
              <a:gd name="adj" fmla="val 5161"/>
            </a:avLst>
          </a:prstGeom>
          <a:solidFill>
            <a:srgbClr val="1B2A56"/>
          </a:solidFill>
          <a:ln/>
        </p:spPr>
        <p:txBody>
          <a:bodyPr/>
          <a:lstStyle/>
          <a:p>
            <a:endParaRPr lang="en-US"/>
          </a:p>
        </p:txBody>
      </p:sp>
      <p:sp>
        <p:nvSpPr>
          <p:cNvPr id="6" name="Shape 4"/>
          <p:cNvSpPr/>
          <p:nvPr/>
        </p:nvSpPr>
        <p:spPr>
          <a:xfrm>
            <a:off x="777240" y="1874520"/>
            <a:ext cx="502920" cy="502920"/>
          </a:xfrm>
          <a:prstGeom prst="ellipse">
            <a:avLst/>
          </a:prstGeom>
          <a:solidFill>
            <a:srgbClr val="0E7C7B"/>
          </a:solidFill>
          <a:ln/>
        </p:spPr>
        <p:txBody>
          <a:bodyPr/>
          <a:lstStyle/>
          <a:p>
            <a:endParaRPr lang="en-US"/>
          </a:p>
        </p:txBody>
      </p:sp>
      <p:sp>
        <p:nvSpPr>
          <p:cNvPr id="7" name="Text 5"/>
          <p:cNvSpPr txBox="1"/>
          <p:nvPr/>
        </p:nvSpPr>
        <p:spPr>
          <a:xfrm>
            <a:off x="777240" y="187452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txBox="1"/>
          <p:nvPr/>
        </p:nvSpPr>
        <p:spPr>
          <a:xfrm>
            <a:off x="1508760" y="1828800"/>
            <a:ext cx="9966960" cy="365760"/>
          </a:xfrm>
          <a:prstGeom prst="rect">
            <a:avLst/>
          </a:prstGeom>
          <a:noFill/>
          <a:ln/>
        </p:spPr>
        <p:txBody>
          <a:bodyPr wrap="square" lIns="0" tIns="0" rIns="0" bIns="0" rtlCol="0" anchor="ctr"/>
          <a:lstStyle/>
          <a:p>
            <a:pPr marL="0" indent="0">
              <a:buNone/>
            </a:pPr>
            <a:r>
              <a:rPr lang="en-US" sz="1350" b="1" dirty="0">
                <a:solidFill>
                  <a:srgbClr val="E4F3F2"/>
                </a:solidFill>
                <a:latin typeface="Calibri" pitchFamily="34" charset="0"/>
                <a:ea typeface="Calibri" pitchFamily="34" charset="-122"/>
                <a:cs typeface="Calibri" pitchFamily="34" charset="-120"/>
              </a:rPr>
              <a:t>“Why is there a paper from the 1900s?”</a:t>
            </a:r>
            <a:endParaRPr lang="en-US" sz="1350" dirty="0"/>
          </a:p>
        </p:txBody>
      </p:sp>
      <p:sp>
        <p:nvSpPr>
          <p:cNvPr id="9" name="Text 7"/>
          <p:cNvSpPr txBox="1"/>
          <p:nvPr/>
        </p:nvSpPr>
        <p:spPr>
          <a:xfrm>
            <a:off x="1508760" y="2194560"/>
            <a:ext cx="9966960" cy="841248"/>
          </a:xfrm>
          <a:prstGeom prst="rect">
            <a:avLst/>
          </a:prstGeom>
          <a:noFill/>
          <a:ln/>
        </p:spPr>
        <p:txBody>
          <a:bodyPr wrap="square" lIns="0" tIns="0" rIns="0" bIns="0" rtlCol="0" anchor="ctr"/>
          <a:lstStyle/>
          <a:p>
            <a:pPr marL="0" indent="0">
              <a:lnSpc>
                <a:spcPct val="118000"/>
              </a:lnSpc>
              <a:buNone/>
            </a:pPr>
            <a:r>
              <a:rPr lang="en-US" sz="1050" dirty="0">
                <a:solidFill>
                  <a:srgbClr val="FFFFFF"/>
                </a:solidFill>
                <a:latin typeface="Calibri" pitchFamily="34" charset="0"/>
                <a:ea typeface="Calibri" pitchFamily="34" charset="-122"/>
                <a:cs typeface="Calibri" pitchFamily="34" charset="-120"/>
              </a:rPr>
              <a:t>Sinha &amp; Zoltners (1979) and Breslau et al. (1999) are foundational theory, not stale trivia — the way citing Dijkstra (1959) for shortest-path algorithms wouldn't be “old.” We don't just cite the 1979 knapsack formulation — our scheduler is a direct implementation of it, and we measured it: 0.00% mean optimality gap (max 0.14%) against the exact solver, on the exact instance where a naive approach was 88% wrong. The 45-year-old math holds up empirically, today, on our own data.</a:t>
            </a:r>
            <a:endParaRPr lang="en-US" sz="1050" dirty="0"/>
          </a:p>
        </p:txBody>
      </p:sp>
      <p:sp>
        <p:nvSpPr>
          <p:cNvPr id="10" name="Shape 8"/>
          <p:cNvSpPr/>
          <p:nvPr/>
        </p:nvSpPr>
        <p:spPr>
          <a:xfrm>
            <a:off x="548640" y="3227832"/>
            <a:ext cx="11109960" cy="1417320"/>
          </a:xfrm>
          <a:prstGeom prst="roundRect">
            <a:avLst>
              <a:gd name="adj" fmla="val 5161"/>
            </a:avLst>
          </a:prstGeom>
          <a:solidFill>
            <a:srgbClr val="1B2A56"/>
          </a:solidFill>
          <a:ln/>
        </p:spPr>
        <p:txBody>
          <a:bodyPr/>
          <a:lstStyle/>
          <a:p>
            <a:endParaRPr lang="en-US"/>
          </a:p>
        </p:txBody>
      </p:sp>
      <p:sp>
        <p:nvSpPr>
          <p:cNvPr id="11" name="Shape 9"/>
          <p:cNvSpPr/>
          <p:nvPr/>
        </p:nvSpPr>
        <p:spPr>
          <a:xfrm>
            <a:off x="777240" y="3410712"/>
            <a:ext cx="502920" cy="502920"/>
          </a:xfrm>
          <a:prstGeom prst="ellipse">
            <a:avLst/>
          </a:prstGeom>
          <a:solidFill>
            <a:srgbClr val="0E7C7B"/>
          </a:solidFill>
          <a:ln/>
        </p:spPr>
        <p:txBody>
          <a:bodyPr/>
          <a:lstStyle/>
          <a:p>
            <a:endParaRPr lang="en-US"/>
          </a:p>
        </p:txBody>
      </p:sp>
      <p:sp>
        <p:nvSpPr>
          <p:cNvPr id="12" name="Text 10"/>
          <p:cNvSpPr txBox="1"/>
          <p:nvPr/>
        </p:nvSpPr>
        <p:spPr>
          <a:xfrm>
            <a:off x="777240" y="3410712"/>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txBox="1"/>
          <p:nvPr/>
        </p:nvSpPr>
        <p:spPr>
          <a:xfrm>
            <a:off x="1508760" y="3364992"/>
            <a:ext cx="9966960" cy="365760"/>
          </a:xfrm>
          <a:prstGeom prst="rect">
            <a:avLst/>
          </a:prstGeom>
          <a:noFill/>
          <a:ln/>
        </p:spPr>
        <p:txBody>
          <a:bodyPr wrap="square" lIns="0" tIns="0" rIns="0" bIns="0" rtlCol="0" anchor="ctr"/>
          <a:lstStyle/>
          <a:p>
            <a:pPr marL="0" indent="0">
              <a:buNone/>
            </a:pPr>
            <a:r>
              <a:rPr lang="en-US" sz="1350" b="1" dirty="0">
                <a:solidFill>
                  <a:srgbClr val="E4F3F2"/>
                </a:solidFill>
                <a:latin typeface="Calibri" pitchFamily="34" charset="0"/>
                <a:ea typeface="Calibri" pitchFamily="34" charset="-122"/>
                <a:cs typeface="Calibri" pitchFamily="34" charset="-120"/>
              </a:rPr>
              <a:t>“Doesn't this need a lot of overhead?”</a:t>
            </a:r>
            <a:endParaRPr lang="en-US" sz="1350" dirty="0"/>
          </a:p>
        </p:txBody>
      </p:sp>
      <p:sp>
        <p:nvSpPr>
          <p:cNvPr id="14" name="Text 12"/>
          <p:cNvSpPr txBox="1"/>
          <p:nvPr/>
        </p:nvSpPr>
        <p:spPr>
          <a:xfrm>
            <a:off x="1508760" y="3730752"/>
            <a:ext cx="9966960" cy="841248"/>
          </a:xfrm>
          <a:prstGeom prst="rect">
            <a:avLst/>
          </a:prstGeom>
          <a:noFill/>
          <a:ln/>
        </p:spPr>
        <p:txBody>
          <a:bodyPr wrap="square" lIns="0" tIns="0" rIns="0" bIns="0" rtlCol="0" anchor="ctr"/>
          <a:lstStyle/>
          <a:p>
            <a:pPr marL="0" indent="0">
              <a:lnSpc>
                <a:spcPct val="118000"/>
              </a:lnSpc>
              <a:buNone/>
            </a:pPr>
            <a:r>
              <a:rPr lang="en-US" sz="1050" dirty="0">
                <a:solidFill>
                  <a:srgbClr val="FFFFFF"/>
                </a:solidFill>
                <a:latin typeface="Calibri" pitchFamily="34" charset="0"/>
                <a:ea typeface="Calibri" pitchFamily="34" charset="-122"/>
                <a:cs typeface="Calibri" pitchFamily="34" charset="-120"/>
              </a:rPr>
              <a:t>Measured, not assumed: Detection scans the full 5,000-document benchmark in under 0.6 seconds (real measured runtime, all three detectors). Migration only shadow-builds the documents actually selected for a fix — not the whole corpus. Verification re-scores a small curated golden-query set, not the full query load. Full breakdown on the Complexity slide next.</a:t>
            </a:r>
            <a:endParaRPr lang="en-US" sz="1050" dirty="0"/>
          </a:p>
        </p:txBody>
      </p:sp>
      <p:sp>
        <p:nvSpPr>
          <p:cNvPr id="15" name="Shape 13"/>
          <p:cNvSpPr/>
          <p:nvPr/>
        </p:nvSpPr>
        <p:spPr>
          <a:xfrm>
            <a:off x="548640" y="4764024"/>
            <a:ext cx="11109960" cy="1417320"/>
          </a:xfrm>
          <a:prstGeom prst="roundRect">
            <a:avLst>
              <a:gd name="adj" fmla="val 5161"/>
            </a:avLst>
          </a:prstGeom>
          <a:solidFill>
            <a:srgbClr val="1B2A56"/>
          </a:solidFill>
          <a:ln/>
        </p:spPr>
        <p:txBody>
          <a:bodyPr/>
          <a:lstStyle/>
          <a:p>
            <a:endParaRPr lang="en-US"/>
          </a:p>
        </p:txBody>
      </p:sp>
      <p:sp>
        <p:nvSpPr>
          <p:cNvPr id="16" name="Shape 14"/>
          <p:cNvSpPr/>
          <p:nvPr/>
        </p:nvSpPr>
        <p:spPr>
          <a:xfrm>
            <a:off x="777240" y="4946904"/>
            <a:ext cx="502920" cy="502920"/>
          </a:xfrm>
          <a:prstGeom prst="ellipse">
            <a:avLst/>
          </a:prstGeom>
          <a:solidFill>
            <a:srgbClr val="0E7C7B"/>
          </a:solidFill>
          <a:ln/>
        </p:spPr>
        <p:txBody>
          <a:bodyPr/>
          <a:lstStyle/>
          <a:p>
            <a:endParaRPr lang="en-US"/>
          </a:p>
        </p:txBody>
      </p:sp>
      <p:sp>
        <p:nvSpPr>
          <p:cNvPr id="17" name="Text 15"/>
          <p:cNvSpPr txBox="1"/>
          <p:nvPr/>
        </p:nvSpPr>
        <p:spPr>
          <a:xfrm>
            <a:off x="777240" y="4946904"/>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6"/>
          <p:cNvSpPr txBox="1"/>
          <p:nvPr/>
        </p:nvSpPr>
        <p:spPr>
          <a:xfrm>
            <a:off x="1508760" y="4901184"/>
            <a:ext cx="9966960" cy="365760"/>
          </a:xfrm>
          <a:prstGeom prst="rect">
            <a:avLst/>
          </a:prstGeom>
          <a:noFill/>
          <a:ln/>
        </p:spPr>
        <p:txBody>
          <a:bodyPr wrap="square" lIns="0" tIns="0" rIns="0" bIns="0" rtlCol="0" anchor="ctr"/>
          <a:lstStyle/>
          <a:p>
            <a:pPr marL="0" indent="0">
              <a:buNone/>
            </a:pPr>
            <a:r>
              <a:rPr lang="en-US" sz="1350" b="1" dirty="0">
                <a:solidFill>
                  <a:srgbClr val="E4F3F2"/>
                </a:solidFill>
                <a:latin typeface="Calibri" pitchFamily="34" charset="0"/>
                <a:ea typeface="Calibri" pitchFamily="34" charset="-122"/>
                <a:cs typeface="Calibri" pitchFamily="34" charset="-120"/>
              </a:rPr>
              <a:t>“What's the space and time complexity?”</a:t>
            </a:r>
            <a:endParaRPr lang="en-US" sz="1350" dirty="0"/>
          </a:p>
        </p:txBody>
      </p:sp>
      <p:sp>
        <p:nvSpPr>
          <p:cNvPr id="19" name="Text 17"/>
          <p:cNvSpPr txBox="1"/>
          <p:nvPr/>
        </p:nvSpPr>
        <p:spPr>
          <a:xfrm>
            <a:off x="1508760" y="5266944"/>
            <a:ext cx="9966960" cy="841248"/>
          </a:xfrm>
          <a:prstGeom prst="rect">
            <a:avLst/>
          </a:prstGeom>
          <a:noFill/>
          <a:ln/>
        </p:spPr>
        <p:txBody>
          <a:bodyPr wrap="square" lIns="0" tIns="0" rIns="0" bIns="0" rtlCol="0" anchor="ctr"/>
          <a:lstStyle/>
          <a:p>
            <a:pPr marL="0" indent="0">
              <a:lnSpc>
                <a:spcPct val="118000"/>
              </a:lnSpc>
              <a:buNone/>
            </a:pPr>
            <a:r>
              <a:rPr lang="en-US" sz="1050" dirty="0">
                <a:solidFill>
                  <a:srgbClr val="FFFFFF"/>
                </a:solidFill>
                <a:latin typeface="Calibri" pitchFamily="34" charset="0"/>
                <a:ea typeface="Calibri" pitchFamily="34" charset="-122"/>
                <a:cs typeface="Calibri" pitchFamily="34" charset="-120"/>
              </a:rPr>
              <a:t>Detection: O(N log N) with an ANN index. Prioritization: O(N log N) for production (frontier-greedy); the exact ILP solver is intentionally kept off the live path, used only for small-scale validation. Migration/Verification: bounded by k (flagged documents), not N (corpus size). Full table, with real measured wall-clock numbers, coming up shortly.</a:t>
            </a:r>
            <a:endParaRPr lang="en-US" sz="1050" dirty="0"/>
          </a:p>
        </p:txBody>
      </p:sp>
      <p:sp>
        <p:nvSpPr>
          <p:cNvPr id="20" name="Text 18"/>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21" name="Text 19"/>
          <p:cNvSpPr txBox="1"/>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RECAP — PROBLEM STATEMENT</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marL="0" indent="0">
              <a:buNone/>
            </a:pPr>
            <a:r>
              <a:rPr lang="en-US" sz="3200" b="1" dirty="0">
                <a:solidFill>
                  <a:srgbClr val="1B2A56"/>
                </a:solidFill>
                <a:latin typeface="Cambria" pitchFamily="34" charset="0"/>
                <a:ea typeface="Cambria" pitchFamily="34" charset="-122"/>
                <a:cs typeface="Cambria" pitchFamily="34" charset="-120"/>
              </a:rPr>
              <a:t>The Problem, Briefly Revisited</a:t>
            </a:r>
            <a:endParaRPr lang="en-US" sz="3200" dirty="0"/>
          </a:p>
        </p:txBody>
      </p:sp>
      <p:sp>
        <p:nvSpPr>
          <p:cNvPr id="4" name="Text 2"/>
          <p:cNvSpPr txBox="1"/>
          <p:nvPr/>
        </p:nvSpPr>
        <p:spPr>
          <a:xfrm>
            <a:off x="548640" y="1508760"/>
            <a:ext cx="11109960" cy="1097280"/>
          </a:xfrm>
          <a:prstGeom prst="rect">
            <a:avLst/>
          </a:prstGeom>
          <a:noFill/>
          <a:ln/>
        </p:spPr>
        <p:txBody>
          <a:bodyPr wrap="square" lIns="0" tIns="0" rIns="0" bIns="0" rtlCol="0" anchor="ctr"/>
          <a:lstStyle/>
          <a:p>
            <a:pPr marL="0" indent="0">
              <a:lnSpc>
                <a:spcPct val="130000"/>
              </a:lnSpc>
              <a:buNone/>
            </a:pPr>
            <a:r>
              <a:rPr lang="en-US" sz="1400" dirty="0">
                <a:solidFill>
                  <a:srgbClr val="20242E"/>
                </a:solidFill>
                <a:latin typeface="Calibri" pitchFamily="34" charset="0"/>
                <a:ea typeface="Calibri" pitchFamily="34" charset="-122"/>
                <a:cs typeface="Calibri" pitchFamily="34" charset="-120"/>
              </a:rPr>
              <a:t>Production vector databases silently degrade in retrieval quality when a subset of documents is embedded by a different generation of the embedding model than the rest of the corpus. Cosine similarity is not comparable across generations, so the database keeps returning results — just quietly worse ones, with no exception ever thrown.</a:t>
            </a:r>
            <a:endParaRPr lang="en-US" sz="1400" dirty="0"/>
          </a:p>
        </p:txBody>
      </p:sp>
      <p:sp>
        <p:nvSpPr>
          <p:cNvPr id="5" name="Shape 3"/>
          <p:cNvSpPr/>
          <p:nvPr/>
        </p:nvSpPr>
        <p:spPr>
          <a:xfrm>
            <a:off x="548640" y="2834640"/>
            <a:ext cx="3639312" cy="1828800"/>
          </a:xfrm>
          <a:prstGeom prst="roundRect">
            <a:avLst>
              <a:gd name="adj" fmla="val 4000"/>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6" name="Text 4"/>
          <p:cNvSpPr txBox="1"/>
          <p:nvPr/>
        </p:nvSpPr>
        <p:spPr>
          <a:xfrm>
            <a:off x="777240" y="3017520"/>
            <a:ext cx="3182112" cy="365760"/>
          </a:xfrm>
          <a:prstGeom prst="rect">
            <a:avLst/>
          </a:prstGeom>
          <a:noFill/>
          <a:ln/>
        </p:spPr>
        <p:txBody>
          <a:bodyPr wrap="square" lIns="0" tIns="0" rIns="0" bIns="0" rtlCol="0" anchor="ctr"/>
          <a:lstStyle/>
          <a:p>
            <a:pPr marL="0" indent="0">
              <a:buNone/>
            </a:pPr>
            <a:r>
              <a:rPr lang="en-US" sz="1500" b="1" dirty="0">
                <a:solidFill>
                  <a:srgbClr val="0E7C7B"/>
                </a:solidFill>
                <a:latin typeface="Calibri" pitchFamily="34" charset="0"/>
                <a:ea typeface="Calibri" pitchFamily="34" charset="-122"/>
                <a:cs typeface="Calibri" pitchFamily="34" charset="-120"/>
              </a:rPr>
              <a:t>Real</a:t>
            </a:r>
            <a:endParaRPr lang="en-US" sz="1500" dirty="0"/>
          </a:p>
        </p:txBody>
      </p:sp>
      <p:sp>
        <p:nvSpPr>
          <p:cNvPr id="7" name="Text 5"/>
          <p:cNvSpPr txBox="1"/>
          <p:nvPr/>
        </p:nvSpPr>
        <p:spPr>
          <a:xfrm>
            <a:off x="777240" y="3383280"/>
            <a:ext cx="3182112" cy="1143000"/>
          </a:xfrm>
          <a:prstGeom prst="rect">
            <a:avLst/>
          </a:prstGeom>
          <a:noFill/>
          <a:ln/>
        </p:spPr>
        <p:txBody>
          <a:bodyPr wrap="square" lIns="0" tIns="0" rIns="0" bIns="0" rtlCol="0" anchor="ctr"/>
          <a:lstStyle/>
          <a:p>
            <a:pPr marL="0" indent="0">
              <a:lnSpc>
                <a:spcPct val="120000"/>
              </a:lnSpc>
              <a:buNone/>
            </a:pPr>
            <a:r>
              <a:rPr lang="en-US" sz="1050" dirty="0">
                <a:solidFill>
                  <a:srgbClr val="20242E"/>
                </a:solidFill>
                <a:latin typeface="Calibri" pitchFamily="34" charset="0"/>
                <a:ea typeface="Calibri" pitchFamily="34" charset="-122"/>
                <a:cs typeface="Calibri" pitchFamily="34" charset="-120"/>
              </a:rPr>
              <a:t>OpenAI and Cohere have both shipped embedding updates that change internal geometry; teams re-embedding piecemeal create exactly this mix.</a:t>
            </a:r>
            <a:endParaRPr lang="en-US" sz="1050" dirty="0"/>
          </a:p>
        </p:txBody>
      </p:sp>
      <p:sp>
        <p:nvSpPr>
          <p:cNvPr id="8" name="Shape 6"/>
          <p:cNvSpPr/>
          <p:nvPr/>
        </p:nvSpPr>
        <p:spPr>
          <a:xfrm>
            <a:off x="4361688" y="2834640"/>
            <a:ext cx="3639312" cy="1828800"/>
          </a:xfrm>
          <a:prstGeom prst="roundRect">
            <a:avLst>
              <a:gd name="adj" fmla="val 4000"/>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9" name="Text 7"/>
          <p:cNvSpPr txBox="1"/>
          <p:nvPr/>
        </p:nvSpPr>
        <p:spPr>
          <a:xfrm>
            <a:off x="4590288" y="3017520"/>
            <a:ext cx="3182112" cy="365760"/>
          </a:xfrm>
          <a:prstGeom prst="rect">
            <a:avLst/>
          </a:prstGeom>
          <a:noFill/>
          <a:ln/>
        </p:spPr>
        <p:txBody>
          <a:bodyPr wrap="square" lIns="0" tIns="0" rIns="0" bIns="0" rtlCol="0" anchor="ctr"/>
          <a:lstStyle/>
          <a:p>
            <a:pPr marL="0" indent="0">
              <a:buNone/>
            </a:pPr>
            <a:r>
              <a:rPr lang="en-US" sz="1500" b="1" dirty="0">
                <a:solidFill>
                  <a:srgbClr val="0E7C7B"/>
                </a:solidFill>
                <a:latin typeface="Calibri" pitchFamily="34" charset="0"/>
                <a:ea typeface="Calibri" pitchFamily="34" charset="-122"/>
                <a:cs typeface="Calibri" pitchFamily="34" charset="-120"/>
              </a:rPr>
              <a:t>Silent</a:t>
            </a:r>
            <a:endParaRPr lang="en-US" sz="1500" dirty="0"/>
          </a:p>
        </p:txBody>
      </p:sp>
      <p:sp>
        <p:nvSpPr>
          <p:cNvPr id="10" name="Text 8"/>
          <p:cNvSpPr txBox="1"/>
          <p:nvPr/>
        </p:nvSpPr>
        <p:spPr>
          <a:xfrm>
            <a:off x="4590288" y="3383280"/>
            <a:ext cx="3182112" cy="1143000"/>
          </a:xfrm>
          <a:prstGeom prst="rect">
            <a:avLst/>
          </a:prstGeom>
          <a:noFill/>
          <a:ln/>
        </p:spPr>
        <p:txBody>
          <a:bodyPr wrap="square" lIns="0" tIns="0" rIns="0" bIns="0" rtlCol="0" anchor="ctr"/>
          <a:lstStyle/>
          <a:p>
            <a:pPr marL="0" indent="0">
              <a:lnSpc>
                <a:spcPct val="120000"/>
              </a:lnSpc>
              <a:buNone/>
            </a:pPr>
            <a:r>
              <a:rPr lang="en-US" sz="1050" dirty="0">
                <a:solidFill>
                  <a:srgbClr val="20242E"/>
                </a:solidFill>
                <a:latin typeface="Calibri" pitchFamily="34" charset="0"/>
                <a:ea typeface="Calibri" pitchFamily="34" charset="-122"/>
                <a:cs typeface="Calibri" pitchFamily="34" charset="-120"/>
              </a:rPr>
              <a:t>No exceptions, no alerts, no crash logs — the system looks healthy while quietly serving worse results.</a:t>
            </a:r>
            <a:endParaRPr lang="en-US" sz="1050" dirty="0"/>
          </a:p>
        </p:txBody>
      </p:sp>
      <p:sp>
        <p:nvSpPr>
          <p:cNvPr id="11" name="Shape 9"/>
          <p:cNvSpPr/>
          <p:nvPr/>
        </p:nvSpPr>
        <p:spPr>
          <a:xfrm>
            <a:off x="8174736" y="2834640"/>
            <a:ext cx="3639312" cy="1828800"/>
          </a:xfrm>
          <a:prstGeom prst="roundRect">
            <a:avLst>
              <a:gd name="adj" fmla="val 4000"/>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12" name="Text 10"/>
          <p:cNvSpPr txBox="1"/>
          <p:nvPr/>
        </p:nvSpPr>
        <p:spPr>
          <a:xfrm>
            <a:off x="8403336" y="3017520"/>
            <a:ext cx="3182112" cy="365760"/>
          </a:xfrm>
          <a:prstGeom prst="rect">
            <a:avLst/>
          </a:prstGeom>
          <a:noFill/>
          <a:ln/>
        </p:spPr>
        <p:txBody>
          <a:bodyPr wrap="square" lIns="0" tIns="0" rIns="0" bIns="0" rtlCol="0" anchor="ctr"/>
          <a:lstStyle/>
          <a:p>
            <a:pPr marL="0" indent="0">
              <a:buNone/>
            </a:pPr>
            <a:r>
              <a:rPr lang="en-US" sz="1500" b="1" dirty="0">
                <a:solidFill>
                  <a:srgbClr val="0E7C7B"/>
                </a:solidFill>
                <a:latin typeface="Calibri" pitchFamily="34" charset="0"/>
                <a:ea typeface="Calibri" pitchFamily="34" charset="-122"/>
                <a:cs typeface="Calibri" pitchFamily="34" charset="-120"/>
              </a:rPr>
              <a:t>Growing</a:t>
            </a:r>
            <a:endParaRPr lang="en-US" sz="1500" dirty="0"/>
          </a:p>
        </p:txBody>
      </p:sp>
      <p:sp>
        <p:nvSpPr>
          <p:cNvPr id="13" name="Text 11"/>
          <p:cNvSpPr txBox="1"/>
          <p:nvPr/>
        </p:nvSpPr>
        <p:spPr>
          <a:xfrm>
            <a:off x="8403336" y="3383280"/>
            <a:ext cx="3182112" cy="1143000"/>
          </a:xfrm>
          <a:prstGeom prst="rect">
            <a:avLst/>
          </a:prstGeom>
          <a:noFill/>
          <a:ln/>
        </p:spPr>
        <p:txBody>
          <a:bodyPr wrap="square" lIns="0" tIns="0" rIns="0" bIns="0" rtlCol="0" anchor="ctr"/>
          <a:lstStyle/>
          <a:p>
            <a:pPr marL="0" indent="0">
              <a:lnSpc>
                <a:spcPct val="120000"/>
              </a:lnSpc>
              <a:buNone/>
            </a:pPr>
            <a:r>
              <a:rPr lang="en-US" sz="1050" dirty="0">
                <a:solidFill>
                  <a:srgbClr val="20242E"/>
                </a:solidFill>
                <a:latin typeface="Calibri" pitchFamily="34" charset="0"/>
                <a:ea typeface="Calibri" pitchFamily="34" charset="-122"/>
                <a:cs typeface="Calibri" pitchFamily="34" charset="-120"/>
              </a:rPr>
              <a:t>20+ commercial vector-database systems have launched in the past five years (Pan et al., 2024) — every one exposed to this failure mode.</a:t>
            </a:r>
            <a:endParaRPr lang="en-US" sz="1050" dirty="0"/>
          </a:p>
        </p:txBody>
      </p:sp>
      <p:sp>
        <p:nvSpPr>
          <p:cNvPr id="14" name="Shape 12"/>
          <p:cNvSpPr/>
          <p:nvPr/>
        </p:nvSpPr>
        <p:spPr>
          <a:xfrm>
            <a:off x="548640" y="4892040"/>
            <a:ext cx="11109960" cy="1188720"/>
          </a:xfrm>
          <a:prstGeom prst="roundRect">
            <a:avLst>
              <a:gd name="adj" fmla="val 6154"/>
            </a:avLst>
          </a:prstGeom>
          <a:solidFill>
            <a:srgbClr val="1B2A56"/>
          </a:solidFill>
          <a:ln/>
        </p:spPr>
        <p:txBody>
          <a:bodyPr/>
          <a:lstStyle/>
          <a:p>
            <a:endParaRPr lang="en-US"/>
          </a:p>
        </p:txBody>
      </p:sp>
      <p:sp>
        <p:nvSpPr>
          <p:cNvPr id="15" name="Text 13"/>
          <p:cNvSpPr txBox="1"/>
          <p:nvPr/>
        </p:nvSpPr>
        <p:spPr>
          <a:xfrm>
            <a:off x="822960" y="5029200"/>
            <a:ext cx="10515600" cy="914400"/>
          </a:xfrm>
          <a:prstGeom prst="rect">
            <a:avLst/>
          </a:prstGeom>
          <a:noFill/>
          <a:ln/>
        </p:spPr>
        <p:txBody>
          <a:bodyPr wrap="square" lIns="0" tIns="0" rIns="0" bIns="0" rtlCol="0" anchor="ctr"/>
          <a:lstStyle/>
          <a:p>
            <a:pPr marL="0" indent="0">
              <a:lnSpc>
                <a:spcPct val="125000"/>
              </a:lnSpc>
              <a:buNone/>
            </a:pPr>
            <a:r>
              <a:rPr lang="en-US" sz="1200" b="1" dirty="0">
                <a:solidFill>
                  <a:srgbClr val="E4F3F2"/>
                </a:solidFill>
                <a:latin typeface="Calibri" pitchFamily="34" charset="0"/>
                <a:ea typeface="Calibri" pitchFamily="34" charset="-122"/>
                <a:cs typeface="Calibri" pitchFamily="34" charset="-120"/>
              </a:rPr>
              <a:t>Since Review I:  </a:t>
            </a:r>
            <a:r>
              <a:rPr lang="en-US" sz="1200" dirty="0">
                <a:solidFill>
                  <a:srgbClr val="FFFFFF"/>
                </a:solidFill>
                <a:latin typeface="Calibri" pitchFamily="34" charset="0"/>
                <a:ea typeface="Calibri" pitchFamily="34" charset="-122"/>
                <a:cs typeface="Calibri" pitchFamily="34" charset="-120"/>
              </a:rPr>
              <a:t>we've moved from arguing this problem to measuring it. Our own 5,000-document benchmark (detailed ahead) now quantifies exactly how retrieval quality degrades as contamination rises — real data, not projection.</a:t>
            </a:r>
            <a:endParaRPr lang="en-US" sz="1200" dirty="0"/>
          </a:p>
        </p:txBody>
      </p:sp>
      <p:sp>
        <p:nvSpPr>
          <p:cNvPr id="16" name="Text 14"/>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17" name="Text 15"/>
          <p:cNvSpPr txBox="1"/>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RESEARCH GAP IDENTIFICATION</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marL="0" indent="0">
              <a:buNone/>
            </a:pPr>
            <a:r>
              <a:rPr lang="en-US" sz="3200" b="1" dirty="0">
                <a:solidFill>
                  <a:srgbClr val="1B2A56"/>
                </a:solidFill>
                <a:latin typeface="Cambria" pitchFamily="34" charset="0"/>
                <a:ea typeface="Cambria" pitchFamily="34" charset="-122"/>
                <a:cs typeface="Cambria" pitchFamily="34" charset="-120"/>
              </a:rPr>
              <a:t>From Literature to Research Gap</a:t>
            </a:r>
            <a:endParaRPr lang="en-US" sz="3200" dirty="0"/>
          </a:p>
        </p:txBody>
      </p:sp>
      <p:sp>
        <p:nvSpPr>
          <p:cNvPr id="4" name="Shape 2"/>
          <p:cNvSpPr/>
          <p:nvPr/>
        </p:nvSpPr>
        <p:spPr>
          <a:xfrm>
            <a:off x="548640" y="1554480"/>
            <a:ext cx="7772400" cy="868680"/>
          </a:xfrm>
          <a:prstGeom prst="roundRect">
            <a:avLst>
              <a:gd name="adj" fmla="val 8421"/>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5" name="Shape 3"/>
          <p:cNvSpPr/>
          <p:nvPr/>
        </p:nvSpPr>
        <p:spPr>
          <a:xfrm>
            <a:off x="777240" y="1796796"/>
            <a:ext cx="384048" cy="384048"/>
          </a:xfrm>
          <a:prstGeom prst="ellipse">
            <a:avLst/>
          </a:prstGeom>
          <a:solidFill>
            <a:srgbClr val="0E7C7B"/>
          </a:solidFill>
          <a:ln/>
        </p:spPr>
        <p:txBody>
          <a:bodyPr/>
          <a:lstStyle/>
          <a:p>
            <a:endParaRPr lang="en-US"/>
          </a:p>
        </p:txBody>
      </p:sp>
      <p:sp>
        <p:nvSpPr>
          <p:cNvPr id="6" name="Text 4"/>
          <p:cNvSpPr txBox="1"/>
          <p:nvPr/>
        </p:nvSpPr>
        <p:spPr>
          <a:xfrm>
            <a:off x="777240" y="179679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371600" y="1645920"/>
            <a:ext cx="1920240" cy="685800"/>
          </a:xfrm>
          <a:prstGeom prst="rect">
            <a:avLst/>
          </a:prstGeom>
          <a:noFill/>
          <a:ln/>
        </p:spPr>
        <p:txBody>
          <a:bodyPr wrap="square" lIns="0" tIns="0" rIns="0" bIns="0" rtlCol="0" anchor="ctr"/>
          <a:lstStyle/>
          <a:p>
            <a:pPr marL="0" indent="0">
              <a:buNone/>
            </a:pPr>
            <a:r>
              <a:rPr lang="en-US" sz="1250" b="1" dirty="0">
                <a:solidFill>
                  <a:srgbClr val="1B2A56"/>
                </a:solidFill>
                <a:latin typeface="Calibri" pitchFamily="34" charset="0"/>
                <a:ea typeface="Calibri" pitchFamily="34" charset="-122"/>
                <a:cs typeface="Calibri" pitchFamily="34" charset="-120"/>
              </a:rPr>
              <a:t>Existing research</a:t>
            </a:r>
            <a:endParaRPr lang="en-US" sz="1250" dirty="0"/>
          </a:p>
        </p:txBody>
      </p:sp>
      <p:sp>
        <p:nvSpPr>
          <p:cNvPr id="8" name="Text 6"/>
          <p:cNvSpPr txBox="1"/>
          <p:nvPr/>
        </p:nvSpPr>
        <p:spPr>
          <a:xfrm>
            <a:off x="3383280" y="1627632"/>
            <a:ext cx="4846320" cy="722376"/>
          </a:xfrm>
          <a:prstGeom prst="rect">
            <a:avLst/>
          </a:prstGeom>
          <a:noFill/>
          <a:ln/>
        </p:spPr>
        <p:txBody>
          <a:bodyPr wrap="square" lIns="0" tIns="0" rIns="0" bIns="0" rtlCol="0" anchor="ctr"/>
          <a:lstStyle/>
          <a:p>
            <a:pPr marL="0" indent="0">
              <a:lnSpc>
                <a:spcPct val="115000"/>
              </a:lnSpc>
              <a:buNone/>
            </a:pPr>
            <a:r>
              <a:rPr lang="en-US" sz="1100" dirty="0">
                <a:solidFill>
                  <a:srgbClr val="20242E"/>
                </a:solidFill>
                <a:latin typeface="Calibri" pitchFamily="34" charset="0"/>
                <a:ea typeface="Calibri" pitchFamily="34" charset="-122"/>
                <a:cs typeface="Calibri" pitchFamily="34" charset="-120"/>
              </a:rPr>
              <a:t>Two mature, separate bodies of work: OOD/anomaly detection and cheap embedding realignment.</a:t>
            </a:r>
            <a:endParaRPr lang="en-US" sz="1100" dirty="0"/>
          </a:p>
        </p:txBody>
      </p:sp>
      <p:sp>
        <p:nvSpPr>
          <p:cNvPr id="9" name="Text 7"/>
          <p:cNvSpPr txBox="1"/>
          <p:nvPr/>
        </p:nvSpPr>
        <p:spPr>
          <a:xfrm>
            <a:off x="548640" y="2377440"/>
            <a:ext cx="457200" cy="228600"/>
          </a:xfrm>
          <a:prstGeom prst="rect">
            <a:avLst/>
          </a:prstGeom>
          <a:noFill/>
          <a:ln/>
        </p:spPr>
        <p:txBody>
          <a:bodyPr wrap="square" lIns="0" tIns="0" rIns="0" bIns="0" rtlCol="0" anchor="ctr"/>
          <a:lstStyle/>
          <a:p>
            <a:pPr marL="0" indent="0" algn="ctr">
              <a:buNone/>
            </a:pPr>
            <a:r>
              <a:rPr lang="en-US" sz="1400" dirty="0">
                <a:solidFill>
                  <a:srgbClr val="0E7C7B"/>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548640" y="2569464"/>
            <a:ext cx="7772400" cy="868680"/>
          </a:xfrm>
          <a:prstGeom prst="roundRect">
            <a:avLst>
              <a:gd name="adj" fmla="val 8421"/>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11" name="Shape 9"/>
          <p:cNvSpPr/>
          <p:nvPr/>
        </p:nvSpPr>
        <p:spPr>
          <a:xfrm>
            <a:off x="777240" y="2811780"/>
            <a:ext cx="384048" cy="384048"/>
          </a:xfrm>
          <a:prstGeom prst="ellipse">
            <a:avLst/>
          </a:prstGeom>
          <a:solidFill>
            <a:srgbClr val="0E7C7B"/>
          </a:solidFill>
          <a:ln/>
        </p:spPr>
        <p:txBody>
          <a:bodyPr/>
          <a:lstStyle/>
          <a:p>
            <a:endParaRPr lang="en-US"/>
          </a:p>
        </p:txBody>
      </p:sp>
      <p:sp>
        <p:nvSpPr>
          <p:cNvPr id="12" name="Text 10"/>
          <p:cNvSpPr txBox="1"/>
          <p:nvPr/>
        </p:nvSpPr>
        <p:spPr>
          <a:xfrm>
            <a:off x="777240" y="281178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1371600" y="2660904"/>
            <a:ext cx="1920240" cy="685800"/>
          </a:xfrm>
          <a:prstGeom prst="rect">
            <a:avLst/>
          </a:prstGeom>
          <a:noFill/>
          <a:ln/>
        </p:spPr>
        <p:txBody>
          <a:bodyPr wrap="square" lIns="0" tIns="0" rIns="0" bIns="0" rtlCol="0" anchor="ctr"/>
          <a:lstStyle/>
          <a:p>
            <a:pPr marL="0" indent="0">
              <a:buNone/>
            </a:pPr>
            <a:r>
              <a:rPr lang="en-US" sz="1250" b="1" dirty="0">
                <a:solidFill>
                  <a:srgbClr val="1B2A56"/>
                </a:solidFill>
                <a:latin typeface="Calibri" pitchFamily="34" charset="0"/>
                <a:ea typeface="Calibri" pitchFamily="34" charset="-122"/>
                <a:cs typeface="Calibri" pitchFamily="34" charset="-120"/>
              </a:rPr>
              <a:t>Common approach</a:t>
            </a:r>
            <a:endParaRPr lang="en-US" sz="1250" dirty="0"/>
          </a:p>
        </p:txBody>
      </p:sp>
      <p:sp>
        <p:nvSpPr>
          <p:cNvPr id="14" name="Text 12"/>
          <p:cNvSpPr txBox="1"/>
          <p:nvPr/>
        </p:nvSpPr>
        <p:spPr>
          <a:xfrm>
            <a:off x="3383280" y="2642616"/>
            <a:ext cx="4846320" cy="722376"/>
          </a:xfrm>
          <a:prstGeom prst="rect">
            <a:avLst/>
          </a:prstGeom>
          <a:noFill/>
          <a:ln/>
        </p:spPr>
        <p:txBody>
          <a:bodyPr wrap="square" lIns="0" tIns="0" rIns="0" bIns="0" rtlCol="0" anchor="ctr"/>
          <a:lstStyle/>
          <a:p>
            <a:pPr marL="0" indent="0">
              <a:lnSpc>
                <a:spcPct val="115000"/>
              </a:lnSpc>
              <a:buNone/>
            </a:pPr>
            <a:r>
              <a:rPr lang="en-US" sz="1100" dirty="0">
                <a:solidFill>
                  <a:srgbClr val="20242E"/>
                </a:solidFill>
                <a:latin typeface="Calibri" pitchFamily="34" charset="0"/>
                <a:ea typeface="Calibri" pitchFamily="34" charset="-122"/>
                <a:cs typeface="Calibri" pitchFamily="34" charset="-120"/>
              </a:rPr>
              <a:t>Detect anomalous vectors → apply ONE fix (full re-embed or one uniform patch) to everyone flagged.</a:t>
            </a:r>
            <a:endParaRPr lang="en-US" sz="1100" dirty="0"/>
          </a:p>
        </p:txBody>
      </p:sp>
      <p:sp>
        <p:nvSpPr>
          <p:cNvPr id="15" name="Text 13"/>
          <p:cNvSpPr txBox="1"/>
          <p:nvPr/>
        </p:nvSpPr>
        <p:spPr>
          <a:xfrm>
            <a:off x="548640" y="3392424"/>
            <a:ext cx="457200" cy="228600"/>
          </a:xfrm>
          <a:prstGeom prst="rect">
            <a:avLst/>
          </a:prstGeom>
          <a:noFill/>
          <a:ln/>
        </p:spPr>
        <p:txBody>
          <a:bodyPr wrap="square" lIns="0" tIns="0" rIns="0" bIns="0" rtlCol="0" anchor="ctr"/>
          <a:lstStyle/>
          <a:p>
            <a:pPr marL="0" indent="0" algn="ctr">
              <a:buNone/>
            </a:pPr>
            <a:r>
              <a:rPr lang="en-US" sz="1400" dirty="0">
                <a:solidFill>
                  <a:srgbClr val="0E7C7B"/>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548640" y="3584448"/>
            <a:ext cx="7772400" cy="868680"/>
          </a:xfrm>
          <a:prstGeom prst="roundRect">
            <a:avLst>
              <a:gd name="adj" fmla="val 8421"/>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17" name="Shape 15"/>
          <p:cNvSpPr/>
          <p:nvPr/>
        </p:nvSpPr>
        <p:spPr>
          <a:xfrm>
            <a:off x="777240" y="3826764"/>
            <a:ext cx="384048" cy="384048"/>
          </a:xfrm>
          <a:prstGeom prst="ellipse">
            <a:avLst/>
          </a:prstGeom>
          <a:solidFill>
            <a:srgbClr val="0E7C7B"/>
          </a:solidFill>
          <a:ln/>
        </p:spPr>
        <p:txBody>
          <a:bodyPr/>
          <a:lstStyle/>
          <a:p>
            <a:endParaRPr lang="en-US"/>
          </a:p>
        </p:txBody>
      </p:sp>
      <p:sp>
        <p:nvSpPr>
          <p:cNvPr id="18" name="Text 16"/>
          <p:cNvSpPr txBox="1"/>
          <p:nvPr/>
        </p:nvSpPr>
        <p:spPr>
          <a:xfrm>
            <a:off x="777240" y="382676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1371600" y="3675888"/>
            <a:ext cx="1920240" cy="685800"/>
          </a:xfrm>
          <a:prstGeom prst="rect">
            <a:avLst/>
          </a:prstGeom>
          <a:noFill/>
          <a:ln/>
        </p:spPr>
        <p:txBody>
          <a:bodyPr wrap="square" lIns="0" tIns="0" rIns="0" bIns="0" rtlCol="0" anchor="ctr"/>
          <a:lstStyle/>
          <a:p>
            <a:pPr marL="0" indent="0">
              <a:buNone/>
            </a:pPr>
            <a:r>
              <a:rPr lang="en-US" sz="1250" b="1" dirty="0">
                <a:solidFill>
                  <a:srgbClr val="1B2A56"/>
                </a:solidFill>
                <a:latin typeface="Calibri" pitchFamily="34" charset="0"/>
                <a:ea typeface="Calibri" pitchFamily="34" charset="-122"/>
                <a:cs typeface="Calibri" pitchFamily="34" charset="-120"/>
              </a:rPr>
              <a:t>Limitation</a:t>
            </a:r>
            <a:endParaRPr lang="en-US" sz="1250" dirty="0"/>
          </a:p>
        </p:txBody>
      </p:sp>
      <p:sp>
        <p:nvSpPr>
          <p:cNvPr id="20" name="Text 18"/>
          <p:cNvSpPr txBox="1"/>
          <p:nvPr/>
        </p:nvSpPr>
        <p:spPr>
          <a:xfrm>
            <a:off x="3383280" y="3657600"/>
            <a:ext cx="4846320" cy="722376"/>
          </a:xfrm>
          <a:prstGeom prst="rect">
            <a:avLst/>
          </a:prstGeom>
          <a:noFill/>
          <a:ln/>
        </p:spPr>
        <p:txBody>
          <a:bodyPr wrap="square" lIns="0" tIns="0" rIns="0" bIns="0" rtlCol="0" anchor="ctr"/>
          <a:lstStyle/>
          <a:p>
            <a:pPr marL="0" indent="0">
              <a:lnSpc>
                <a:spcPct val="115000"/>
              </a:lnSpc>
              <a:buNone/>
            </a:pPr>
            <a:r>
              <a:rPr lang="en-US" sz="1100" dirty="0">
                <a:solidFill>
                  <a:srgbClr val="20242E"/>
                </a:solidFill>
                <a:latin typeface="Calibri" pitchFamily="34" charset="0"/>
                <a:ea typeface="Calibri" pitchFamily="34" charset="-122"/>
                <a:cs typeface="Calibri" pitchFamily="34" charset="-120"/>
              </a:rPr>
              <a:t>Every reviewed fix mechanism is corpus-wide and uniform — none reasons about WHICH document to fix first under a real budget.</a:t>
            </a:r>
            <a:endParaRPr lang="en-US" sz="1100" dirty="0"/>
          </a:p>
        </p:txBody>
      </p:sp>
      <p:sp>
        <p:nvSpPr>
          <p:cNvPr id="21" name="Text 19"/>
          <p:cNvSpPr txBox="1"/>
          <p:nvPr/>
        </p:nvSpPr>
        <p:spPr>
          <a:xfrm>
            <a:off x="548640" y="4407408"/>
            <a:ext cx="457200" cy="228600"/>
          </a:xfrm>
          <a:prstGeom prst="rect">
            <a:avLst/>
          </a:prstGeom>
          <a:noFill/>
          <a:ln/>
        </p:spPr>
        <p:txBody>
          <a:bodyPr wrap="square" lIns="0" tIns="0" rIns="0" bIns="0" rtlCol="0" anchor="ctr"/>
          <a:lstStyle/>
          <a:p>
            <a:pPr marL="0" indent="0" algn="ctr">
              <a:buNone/>
            </a:pPr>
            <a:r>
              <a:rPr lang="en-US" sz="1400" dirty="0">
                <a:solidFill>
                  <a:srgbClr val="0E7C7B"/>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548640" y="4599432"/>
            <a:ext cx="7772400" cy="868680"/>
          </a:xfrm>
          <a:prstGeom prst="roundRect">
            <a:avLst>
              <a:gd name="adj" fmla="val 8421"/>
            </a:avLst>
          </a:prstGeom>
          <a:solidFill>
            <a:srgbClr val="1B2A56"/>
          </a:solidFill>
          <a:ln/>
        </p:spPr>
        <p:txBody>
          <a:bodyPr/>
          <a:lstStyle/>
          <a:p>
            <a:endParaRPr lang="en-US"/>
          </a:p>
        </p:txBody>
      </p:sp>
      <p:sp>
        <p:nvSpPr>
          <p:cNvPr id="23" name="Shape 21"/>
          <p:cNvSpPr/>
          <p:nvPr/>
        </p:nvSpPr>
        <p:spPr>
          <a:xfrm>
            <a:off x="777240" y="4841748"/>
            <a:ext cx="384048" cy="384048"/>
          </a:xfrm>
          <a:prstGeom prst="ellipse">
            <a:avLst/>
          </a:prstGeom>
          <a:solidFill>
            <a:srgbClr val="0E7C7B"/>
          </a:solidFill>
          <a:ln/>
        </p:spPr>
        <p:txBody>
          <a:bodyPr/>
          <a:lstStyle/>
          <a:p>
            <a:endParaRPr lang="en-US"/>
          </a:p>
        </p:txBody>
      </p:sp>
      <p:sp>
        <p:nvSpPr>
          <p:cNvPr id="24" name="Text 22"/>
          <p:cNvSpPr txBox="1"/>
          <p:nvPr/>
        </p:nvSpPr>
        <p:spPr>
          <a:xfrm>
            <a:off x="777240" y="48417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txBox="1"/>
          <p:nvPr/>
        </p:nvSpPr>
        <p:spPr>
          <a:xfrm>
            <a:off x="1371600" y="4690872"/>
            <a:ext cx="1920240" cy="68580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Research gap</a:t>
            </a:r>
            <a:endParaRPr lang="en-US" sz="1250" dirty="0"/>
          </a:p>
        </p:txBody>
      </p:sp>
      <p:sp>
        <p:nvSpPr>
          <p:cNvPr id="26" name="Text 24"/>
          <p:cNvSpPr txBox="1"/>
          <p:nvPr/>
        </p:nvSpPr>
        <p:spPr>
          <a:xfrm>
            <a:off x="3383280" y="4672584"/>
            <a:ext cx="4846320" cy="722376"/>
          </a:xfrm>
          <a:prstGeom prst="rect">
            <a:avLst/>
          </a:prstGeom>
          <a:noFill/>
          <a:ln/>
        </p:spPr>
        <p:txBody>
          <a:bodyPr wrap="square" lIns="0" tIns="0" rIns="0" bIns="0" rtlCol="0" anchor="ctr"/>
          <a:lstStyle/>
          <a:p>
            <a:pPr marL="0" indent="0">
              <a:lnSpc>
                <a:spcPct val="115000"/>
              </a:lnSpc>
              <a:buNone/>
            </a:pPr>
            <a:r>
              <a:rPr lang="en-US" sz="1100" dirty="0">
                <a:solidFill>
                  <a:srgbClr val="CFE0FA"/>
                </a:solidFill>
                <a:latin typeface="Calibri" pitchFamily="34" charset="0"/>
                <a:ea typeface="Calibri" pitchFamily="34" charset="-122"/>
                <a:cs typeface="Calibri" pitchFamily="34" charset="-120"/>
              </a:rPr>
              <a:t>No budget-aware, traffic-informed, per-document prioritization layer exists between 'detect' and 'fix' — and no safety gate ensures a chosen plan doesn't regress production quality before it ships.</a:t>
            </a:r>
            <a:endParaRPr lang="en-US" sz="1100" dirty="0"/>
          </a:p>
        </p:txBody>
      </p:sp>
      <p:sp>
        <p:nvSpPr>
          <p:cNvPr id="27" name="Shape 25"/>
          <p:cNvSpPr/>
          <p:nvPr/>
        </p:nvSpPr>
        <p:spPr>
          <a:xfrm>
            <a:off x="8503920" y="1554480"/>
            <a:ext cx="3154680" cy="4434840"/>
          </a:xfrm>
          <a:prstGeom prst="roundRect">
            <a:avLst>
              <a:gd name="adj" fmla="val 2319"/>
            </a:avLst>
          </a:prstGeom>
          <a:solidFill>
            <a:srgbClr val="E4F3F2"/>
          </a:solidFill>
          <a:ln/>
          <a:effectLst>
            <a:outerShdw blurRad="101600" dist="38100" dir="5400000" algn="bl" rotWithShape="0">
              <a:srgbClr val="1B2A56">
                <a:alpha val="12000"/>
              </a:srgbClr>
            </a:outerShdw>
          </a:effectLst>
        </p:spPr>
        <p:txBody>
          <a:bodyPr/>
          <a:lstStyle/>
          <a:p>
            <a:endParaRPr lang="en-US"/>
          </a:p>
        </p:txBody>
      </p:sp>
      <p:sp>
        <p:nvSpPr>
          <p:cNvPr id="28" name="Text 26"/>
          <p:cNvSpPr txBox="1"/>
          <p:nvPr/>
        </p:nvSpPr>
        <p:spPr>
          <a:xfrm>
            <a:off x="8732520" y="1737360"/>
            <a:ext cx="2743200" cy="274320"/>
          </a:xfrm>
          <a:prstGeom prst="rect">
            <a:avLst/>
          </a:prstGeom>
          <a:noFill/>
          <a:ln/>
        </p:spPr>
        <p:txBody>
          <a:bodyPr wrap="square" lIns="0" tIns="0" rIns="0" bIns="0" rtlCol="0" anchor="ctr"/>
          <a:lstStyle/>
          <a:p>
            <a:pPr marL="0" indent="0">
              <a:buNone/>
            </a:pPr>
            <a:r>
              <a:rPr lang="en-US" sz="1100" b="1" kern="0" spc="150" dirty="0">
                <a:solidFill>
                  <a:srgbClr val="0E7C7B"/>
                </a:solidFill>
                <a:latin typeface="Calibri" pitchFamily="34" charset="0"/>
                <a:ea typeface="Calibri" pitchFamily="34" charset="-122"/>
                <a:cs typeface="Calibri" pitchFamily="34" charset="-120"/>
              </a:rPr>
              <a:t>OUR CONTRIBUTION</a:t>
            </a:r>
            <a:endParaRPr lang="en-US" sz="1100" dirty="0"/>
          </a:p>
        </p:txBody>
      </p:sp>
      <p:sp>
        <p:nvSpPr>
          <p:cNvPr id="29" name="Text 27"/>
          <p:cNvSpPr txBox="1"/>
          <p:nvPr/>
        </p:nvSpPr>
        <p:spPr>
          <a:xfrm>
            <a:off x="8732520" y="2103120"/>
            <a:ext cx="2743200" cy="1737360"/>
          </a:xfrm>
          <a:prstGeom prst="rect">
            <a:avLst/>
          </a:prstGeom>
          <a:noFill/>
          <a:ln/>
        </p:spPr>
        <p:txBody>
          <a:bodyPr wrap="square" lIns="0" tIns="0" rIns="0" bIns="0" rtlCol="0" anchor="ctr"/>
          <a:lstStyle/>
          <a:p>
            <a:pPr marL="0" indent="0">
              <a:lnSpc>
                <a:spcPct val="125000"/>
              </a:lnSpc>
              <a:buNone/>
            </a:pPr>
            <a:r>
              <a:rPr lang="en-US" sz="1100" dirty="0">
                <a:solidFill>
                  <a:srgbClr val="1B2A56"/>
                </a:solidFill>
                <a:latin typeface="Calibri" pitchFamily="34" charset="0"/>
                <a:ea typeface="Calibri" pitchFamily="34" charset="-122"/>
                <a:cs typeface="Calibri" pitchFamily="34" charset="-120"/>
              </a:rPr>
              <a:t>A Multiple-Choice Knapsack formulation — {Full Re-embed, Patch, Defer} per document, one shared budget — solved exactly (ILP) and approximately (greedy), gated by automated shadow-build + verification.</a:t>
            </a:r>
            <a:endParaRPr lang="en-US" sz="1100" dirty="0"/>
          </a:p>
        </p:txBody>
      </p:sp>
      <p:sp>
        <p:nvSpPr>
          <p:cNvPr id="30" name="Shape 28"/>
          <p:cNvSpPr/>
          <p:nvPr/>
        </p:nvSpPr>
        <p:spPr>
          <a:xfrm>
            <a:off x="8732520" y="3977640"/>
            <a:ext cx="1719072" cy="292608"/>
          </a:xfrm>
          <a:prstGeom prst="roundRect">
            <a:avLst>
              <a:gd name="adj" fmla="val 50000"/>
            </a:avLst>
          </a:prstGeom>
          <a:solidFill>
            <a:srgbClr val="1E824C"/>
          </a:solidFill>
          <a:ln/>
        </p:spPr>
        <p:txBody>
          <a:bodyPr/>
          <a:lstStyle/>
          <a:p>
            <a:endParaRPr lang="en-US"/>
          </a:p>
        </p:txBody>
      </p:sp>
      <p:sp>
        <p:nvSpPr>
          <p:cNvPr id="31" name="Text 29"/>
          <p:cNvSpPr txBox="1"/>
          <p:nvPr/>
        </p:nvSpPr>
        <p:spPr>
          <a:xfrm>
            <a:off x="8732520" y="3977640"/>
            <a:ext cx="171907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NOW BUILT &amp; MEASURED</a:t>
            </a:r>
            <a:endParaRPr lang="en-US" sz="900" dirty="0"/>
          </a:p>
        </p:txBody>
      </p:sp>
      <p:sp>
        <p:nvSpPr>
          <p:cNvPr id="32" name="Text 30"/>
          <p:cNvSpPr txBox="1"/>
          <p:nvPr/>
        </p:nvSpPr>
        <p:spPr>
          <a:xfrm>
            <a:off x="8732520" y="4434840"/>
            <a:ext cx="2743200" cy="1463040"/>
          </a:xfrm>
          <a:prstGeom prst="rect">
            <a:avLst/>
          </a:prstGeom>
          <a:noFill/>
          <a:ln/>
        </p:spPr>
        <p:txBody>
          <a:bodyPr wrap="square" lIns="0" tIns="0" rIns="0" bIns="0" rtlCol="0" anchor="ctr"/>
          <a:lstStyle/>
          <a:p>
            <a:pPr marL="0" indent="0">
              <a:lnSpc>
                <a:spcPct val="120000"/>
              </a:lnSpc>
              <a:buNone/>
            </a:pPr>
            <a:endParaRPr lang="en-US" sz="950" dirty="0"/>
          </a:p>
        </p:txBody>
      </p:sp>
      <p:sp>
        <p:nvSpPr>
          <p:cNvPr id="33" name="Text 31"/>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34" name="Text 32"/>
          <p:cNvSpPr txBox="1"/>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DETAILED LITERATURE REVIEW — 1 OF 2</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marL="0" indent="0">
              <a:buNone/>
            </a:pPr>
            <a:r>
              <a:rPr lang="en-US" sz="3200" b="1" dirty="0">
                <a:solidFill>
                  <a:srgbClr val="1B2A56"/>
                </a:solidFill>
                <a:latin typeface="Cambria" pitchFamily="34" charset="0"/>
                <a:ea typeface="Cambria" pitchFamily="34" charset="-122"/>
                <a:cs typeface="Cambria" pitchFamily="34" charset="-120"/>
              </a:rPr>
              <a:t>Literature Review — Detection &amp; Patching</a:t>
            </a:r>
            <a:endParaRPr lang="en-US" sz="3200" dirty="0"/>
          </a:p>
        </p:txBody>
      </p:sp>
      <p:sp>
        <p:nvSpPr>
          <p:cNvPr id="4" name="Text 2"/>
          <p:cNvSpPr txBox="1"/>
          <p:nvPr/>
        </p:nvSpPr>
        <p:spPr>
          <a:xfrm>
            <a:off x="548640" y="1280160"/>
            <a:ext cx="10972800" cy="27432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7 of 15 sources — the papers directly targeting detection or repair of embedding contamination.</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4709160"/>
        </p:xfrm>
        <a:graphic>
          <a:graphicData uri="http://schemas.openxmlformats.org/drawingml/2006/table">
            <a:tbl>
              <a:tblPr/>
              <a:tblGrid>
                <a:gridCol w="169164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2788920">
                  <a:extLst>
                    <a:ext uri="{9D8B030D-6E8A-4147-A177-3AD203B41FA5}">
                      <a16:colId xmlns:a16="http://schemas.microsoft.com/office/drawing/2014/main" val="20002"/>
                    </a:ext>
                  </a:extLst>
                </a:gridCol>
                <a:gridCol w="3840480">
                  <a:extLst>
                    <a:ext uri="{9D8B030D-6E8A-4147-A177-3AD203B41FA5}">
                      <a16:colId xmlns:a16="http://schemas.microsoft.com/office/drawing/2014/main" val="20003"/>
                    </a:ext>
                  </a:extLst>
                </a:gridCol>
              </a:tblGrid>
              <a:tr h="588645">
                <a:tc>
                  <a:txBody>
                    <a:bodyPr/>
                    <a:lstStyle/>
                    <a:p>
                      <a:pPr marL="0" indent="0">
                        <a:buNone/>
                      </a:pPr>
                      <a:r>
                        <a:rPr lang="en-US" sz="950" b="1" dirty="0">
                          <a:solidFill>
                            <a:srgbClr val="FFFFFF"/>
                          </a:solidFill>
                        </a:rPr>
                        <a:t>Source</a:t>
                      </a:r>
                      <a:endParaRPr lang="en-US" sz="95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marL="0" indent="0">
                        <a:buNone/>
                      </a:pPr>
                      <a:r>
                        <a:rPr lang="en-US" sz="950" b="1" dirty="0">
                          <a:solidFill>
                            <a:srgbClr val="FFFFFF"/>
                          </a:solidFill>
                        </a:rPr>
                        <a:t>Core Concept</a:t>
                      </a:r>
                      <a:endParaRPr lang="en-US" sz="95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marL="0" indent="0">
                        <a:buNone/>
                      </a:pPr>
                      <a:r>
                        <a:rPr lang="en-US" sz="950" b="1" dirty="0">
                          <a:solidFill>
                            <a:srgbClr val="FFFFFF"/>
                          </a:solidFill>
                        </a:rPr>
                        <a:t>Gap</a:t>
                      </a:r>
                      <a:endParaRPr lang="en-US" sz="95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marL="0" indent="0">
                        <a:buNone/>
                      </a:pPr>
                      <a:r>
                        <a:rPr lang="en-US" sz="950" b="1" dirty="0">
                          <a:solidFill>
                            <a:srgbClr val="FFFFFF"/>
                          </a:solidFill>
                        </a:rPr>
                        <a:t>How We Address It</a:t>
                      </a:r>
                      <a:endParaRPr lang="en-US" sz="95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extLst>
                  <a:ext uri="{0D108BD9-81ED-4DB2-BD59-A6C34878D82A}">
                    <a16:rowId xmlns:a16="http://schemas.microsoft.com/office/drawing/2014/main" val="10000"/>
                  </a:ext>
                </a:extLst>
              </a:tr>
              <a:tr h="588645">
                <a:tc>
                  <a:txBody>
                    <a:bodyPr/>
                    <a:lstStyle/>
                    <a:p>
                      <a:pPr marL="0" indent="0">
                        <a:buNone/>
                      </a:pPr>
                      <a:r>
                        <a:rPr lang="en-US" sz="810" dirty="0">
                          <a:solidFill>
                            <a:srgbClr val="20242E"/>
                          </a:solidFill>
                        </a:rPr>
                        <a:t>Sun et al., 2022</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810" dirty="0">
                          <a:solidFill>
                            <a:srgbClr val="20242E"/>
                          </a:solidFill>
                        </a:rPr>
                        <a:t>Non-parametric OOD detection via k-NN distance in embedding space</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810" dirty="0">
                          <a:solidFill>
                            <a:srgbClr val="20242E"/>
                          </a:solidFill>
                        </a:rPr>
                        <a:t>Detects anomalies only — doesn't decide what to do next</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810" dirty="0">
                          <a:solidFill>
                            <a:srgbClr val="20242E"/>
                          </a:solidFill>
                        </a:rPr>
                        <a:t>Adapted as our Detection module's core scoring method — now built and measured (see Complexity slide)</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extLst>
                  <a:ext uri="{0D108BD9-81ED-4DB2-BD59-A6C34878D82A}">
                    <a16:rowId xmlns:a16="http://schemas.microsoft.com/office/drawing/2014/main" val="10001"/>
                  </a:ext>
                </a:extLst>
              </a:tr>
              <a:tr h="588645">
                <a:tc>
                  <a:txBody>
                    <a:bodyPr/>
                    <a:lstStyle/>
                    <a:p>
                      <a:pPr marL="0" indent="0">
                        <a:buNone/>
                      </a:pPr>
                      <a:r>
                        <a:rPr lang="en-US" sz="810" dirty="0">
                          <a:solidFill>
                            <a:srgbClr val="20242E"/>
                          </a:solidFill>
                        </a:rPr>
                        <a:t>Lu et al., 2024</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810" dirty="0">
                          <a:solidFill>
                            <a:srgbClr val="20242E"/>
                          </a:solidFill>
                        </a:rPr>
                        <a:t>Taxonomy of OOD-detection methods across ML domains</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810" dirty="0">
                          <a:solidFill>
                            <a:srgbClr val="20242E"/>
                          </a:solidFill>
                        </a:rPr>
                        <a:t>No treatment of embedding-generation-drift-specific detection</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810" dirty="0">
                          <a:solidFill>
                            <a:srgbClr val="20242E"/>
                          </a:solidFill>
                        </a:rPr>
                        <a:t>Confirms KNN-OOD as a mature, well-grounded detector choice</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extLst>
                  <a:ext uri="{0D108BD9-81ED-4DB2-BD59-A6C34878D82A}">
                    <a16:rowId xmlns:a16="http://schemas.microsoft.com/office/drawing/2014/main" val="10002"/>
                  </a:ext>
                </a:extLst>
              </a:tr>
              <a:tr h="588645">
                <a:tc>
                  <a:txBody>
                    <a:bodyPr/>
                    <a:lstStyle/>
                    <a:p>
                      <a:pPr marL="0" indent="0">
                        <a:buNone/>
                      </a:pPr>
                      <a:r>
                        <a:rPr lang="en-US" sz="810" dirty="0">
                          <a:solidFill>
                            <a:srgbClr val="20242E"/>
                          </a:solidFill>
                        </a:rPr>
                        <a:t>Liu et al., 2008</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810" dirty="0">
                          <a:solidFill>
                            <a:srgbClr val="20242E"/>
                          </a:solidFill>
                        </a:rPr>
                        <a:t>Isolation Forest — isolates anomalies via random feature-space splits</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810" dirty="0">
                          <a:solidFill>
                            <a:srgbClr val="20242E"/>
                          </a:solidFill>
                        </a:rPr>
                        <a:t>General-purpose; untested on embedding-space anisotropy</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810" dirty="0">
                          <a:solidFill>
                            <a:srgbClr val="20242E"/>
                          </a:solidFill>
                        </a:rPr>
                        <a:t>Evaluated as an alternative detector; F1 0.11–0.45, weaker than KNN-OOD (real, measured)</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extLst>
                  <a:ext uri="{0D108BD9-81ED-4DB2-BD59-A6C34878D82A}">
                    <a16:rowId xmlns:a16="http://schemas.microsoft.com/office/drawing/2014/main" val="10003"/>
                  </a:ext>
                </a:extLst>
              </a:tr>
              <a:tr h="588645">
                <a:tc>
                  <a:txBody>
                    <a:bodyPr/>
                    <a:lstStyle/>
                    <a:p>
                      <a:pPr marL="0" indent="0">
                        <a:buNone/>
                      </a:pPr>
                      <a:r>
                        <a:rPr lang="en-US" sz="810" dirty="0">
                          <a:solidFill>
                            <a:srgbClr val="20242E"/>
                          </a:solidFill>
                        </a:rPr>
                        <a:t>Breunig et al., 2000</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810" dirty="0">
                          <a:solidFill>
                            <a:srgbClr val="20242E"/>
                          </a:solidFill>
                        </a:rPr>
                        <a:t>LOF — density-relative local outlier scoring</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810" dirty="0">
                          <a:solidFill>
                            <a:srgbClr val="20242E"/>
                          </a:solidFill>
                        </a:rPr>
                        <a:t>Same generality gap; heavier compute than KNN-OOD</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810" dirty="0">
                          <a:solidFill>
                            <a:srgbClr val="20242E"/>
                          </a:solidFill>
                        </a:rPr>
                        <a:t>Second alternative detector; F1 0.20–0.51, weaker than KNN-OOD (real, measured)</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extLst>
                  <a:ext uri="{0D108BD9-81ED-4DB2-BD59-A6C34878D82A}">
                    <a16:rowId xmlns:a16="http://schemas.microsoft.com/office/drawing/2014/main" val="10004"/>
                  </a:ext>
                </a:extLst>
              </a:tr>
              <a:tr h="588645">
                <a:tc>
                  <a:txBody>
                    <a:bodyPr/>
                    <a:lstStyle/>
                    <a:p>
                      <a:pPr marL="0" indent="0">
                        <a:buNone/>
                      </a:pPr>
                      <a:r>
                        <a:rPr lang="en-US" sz="810" dirty="0">
                          <a:solidFill>
                            <a:srgbClr val="20242E"/>
                          </a:solidFill>
                        </a:rPr>
                        <a:t>Vejendla, 2025</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810" dirty="0">
                          <a:solidFill>
                            <a:srgbClr val="20242E"/>
                          </a:solidFill>
                        </a:rPr>
                        <a:t>Drift-Adapter — lightweight learned adapter cheaply realigns embeddings</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810" dirty="0">
                          <a:solidFill>
                            <a:srgbClr val="20242E"/>
                          </a:solidFill>
                        </a:rPr>
                        <a:t>One uniform fix for the whole corpus — no per-document choice</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810" dirty="0">
                          <a:solidFill>
                            <a:srgbClr val="20242E"/>
                          </a:solidFill>
                        </a:rPr>
                        <a:t>Adapted as our Patch action, gated by a budget decision</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extLst>
                  <a:ext uri="{0D108BD9-81ED-4DB2-BD59-A6C34878D82A}">
                    <a16:rowId xmlns:a16="http://schemas.microsoft.com/office/drawing/2014/main" val="10005"/>
                  </a:ext>
                </a:extLst>
              </a:tr>
              <a:tr h="588645">
                <a:tc>
                  <a:txBody>
                    <a:bodyPr/>
                    <a:lstStyle/>
                    <a:p>
                      <a:pPr marL="0" indent="0">
                        <a:buNone/>
                      </a:pPr>
                      <a:r>
                        <a:rPr lang="en-US" sz="810" dirty="0">
                          <a:solidFill>
                            <a:srgbClr val="20242E"/>
                          </a:solidFill>
                        </a:rPr>
                        <a:t>Hu et al., 2022</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810" dirty="0">
                          <a:solidFill>
                            <a:srgbClr val="20242E"/>
                          </a:solidFill>
                        </a:rPr>
                        <a:t>Trains new models to stay backward-compatible with old embeddings</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810" dirty="0">
                          <a:solidFill>
                            <a:srgbClr val="20242E"/>
                          </a:solidFill>
                        </a:rPr>
                        <a:t>Needs control of model training — unusable with third-party APIs</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810" dirty="0">
                          <a:solidFill>
                            <a:srgbClr val="20242E"/>
                          </a:solidFill>
                        </a:rPr>
                        <a:t>Discussed as a complementary, prevention-side alternative</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extLst>
                  <a:ext uri="{0D108BD9-81ED-4DB2-BD59-A6C34878D82A}">
                    <a16:rowId xmlns:a16="http://schemas.microsoft.com/office/drawing/2014/main" val="10006"/>
                  </a:ext>
                </a:extLst>
              </a:tr>
              <a:tr h="588645">
                <a:tc>
                  <a:txBody>
                    <a:bodyPr/>
                    <a:lstStyle/>
                    <a:p>
                      <a:pPr marL="0" indent="0">
                        <a:buNone/>
                      </a:pPr>
                      <a:r>
                        <a:rPr lang="en-US" sz="810" dirty="0">
                          <a:solidFill>
                            <a:srgbClr val="20242E"/>
                          </a:solidFill>
                        </a:rPr>
                        <a:t>Lample et al., 2018</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810" dirty="0">
                          <a:solidFill>
                            <a:srgbClr val="20242E"/>
                          </a:solidFill>
                        </a:rPr>
                        <a:t>MUSE — orthogonal Procrustes alignment between spaces, no parallel data</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810" dirty="0">
                          <a:solidFill>
                            <a:srgbClr val="20242E"/>
                          </a:solidFill>
                        </a:rPr>
                        <a:t>Built for cross-lingual spaces; assumes no budget constraint</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810" dirty="0">
                          <a:solidFill>
                            <a:srgbClr val="20242E"/>
                          </a:solidFill>
                        </a:rPr>
                        <a:t>Theoretical foundation for our Patch action's alignment transform</a:t>
                      </a:r>
                      <a:endParaRPr lang="en-US" sz="81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3"/>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7" name="Text 4"/>
          <p:cNvSpPr txBox="1"/>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DETAILED LITERATURE REVIEW — 2 OF 2</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marL="0" indent="0">
              <a:buNone/>
            </a:pPr>
            <a:r>
              <a:rPr lang="en-US" sz="3200" b="1" dirty="0">
                <a:solidFill>
                  <a:srgbClr val="1B2A56"/>
                </a:solidFill>
                <a:latin typeface="Cambria" pitchFamily="34" charset="0"/>
                <a:ea typeface="Cambria" pitchFamily="34" charset="-122"/>
                <a:cs typeface="Cambria" pitchFamily="34" charset="-120"/>
              </a:rPr>
              <a:t>Literature Review — Foundational Work</a:t>
            </a:r>
            <a:endParaRPr lang="en-US" sz="3200" dirty="0"/>
          </a:p>
        </p:txBody>
      </p:sp>
      <p:sp>
        <p:nvSpPr>
          <p:cNvPr id="4" name="Text 2"/>
          <p:cNvSpPr txBox="1"/>
          <p:nvPr/>
        </p:nvSpPr>
        <p:spPr>
          <a:xfrm>
            <a:off x="548640" y="1280160"/>
            <a:ext cx="10972800" cy="27432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8 of 15 sources — systems, benchmarking, and Operations-Research foundations our design is built on.</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4160520"/>
        </p:xfrm>
        <a:graphic>
          <a:graphicData uri="http://schemas.openxmlformats.org/drawingml/2006/table">
            <a:tbl>
              <a:tblPr/>
              <a:tblGrid>
                <a:gridCol w="169164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2788920">
                  <a:extLst>
                    <a:ext uri="{9D8B030D-6E8A-4147-A177-3AD203B41FA5}">
                      <a16:colId xmlns:a16="http://schemas.microsoft.com/office/drawing/2014/main" val="20002"/>
                    </a:ext>
                  </a:extLst>
                </a:gridCol>
                <a:gridCol w="3840480">
                  <a:extLst>
                    <a:ext uri="{9D8B030D-6E8A-4147-A177-3AD203B41FA5}">
                      <a16:colId xmlns:a16="http://schemas.microsoft.com/office/drawing/2014/main" val="20003"/>
                    </a:ext>
                  </a:extLst>
                </a:gridCol>
              </a:tblGrid>
              <a:tr h="462280">
                <a:tc>
                  <a:txBody>
                    <a:bodyPr/>
                    <a:lstStyle/>
                    <a:p>
                      <a:pPr marL="0" indent="0">
                        <a:buNone/>
                      </a:pPr>
                      <a:r>
                        <a:rPr lang="en-US" sz="950" b="1" dirty="0">
                          <a:solidFill>
                            <a:srgbClr val="FFFFFF"/>
                          </a:solidFill>
                        </a:rPr>
                        <a:t>Source</a:t>
                      </a:r>
                      <a:endParaRPr lang="en-US" sz="95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marL="0" indent="0">
                        <a:buNone/>
                      </a:pPr>
                      <a:r>
                        <a:rPr lang="en-US" sz="950" b="1" dirty="0">
                          <a:solidFill>
                            <a:srgbClr val="FFFFFF"/>
                          </a:solidFill>
                        </a:rPr>
                        <a:t>Core Concept</a:t>
                      </a:r>
                      <a:endParaRPr lang="en-US" sz="95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marL="0" indent="0">
                        <a:buNone/>
                      </a:pPr>
                      <a:r>
                        <a:rPr lang="en-US" sz="950" b="1" dirty="0">
                          <a:solidFill>
                            <a:srgbClr val="FFFFFF"/>
                          </a:solidFill>
                        </a:rPr>
                        <a:t>Gap</a:t>
                      </a:r>
                      <a:endParaRPr lang="en-US" sz="95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marL="0" indent="0">
                        <a:buNone/>
                      </a:pPr>
                      <a:r>
                        <a:rPr lang="en-US" sz="950" b="1" dirty="0">
                          <a:solidFill>
                            <a:srgbClr val="FFFFFF"/>
                          </a:solidFill>
                        </a:rPr>
                        <a:t>How We Address It</a:t>
                      </a:r>
                      <a:endParaRPr lang="en-US" sz="95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extLst>
                  <a:ext uri="{0D108BD9-81ED-4DB2-BD59-A6C34878D82A}">
                    <a16:rowId xmlns:a16="http://schemas.microsoft.com/office/drawing/2014/main" val="10000"/>
                  </a:ext>
                </a:extLst>
              </a:tr>
              <a:tr h="462280">
                <a:tc>
                  <a:txBody>
                    <a:bodyPr/>
                    <a:lstStyle/>
                    <a:p>
                      <a:pPr marL="0" indent="0">
                        <a:buNone/>
                      </a:pPr>
                      <a:r>
                        <a:rPr lang="en-US" sz="770" dirty="0">
                          <a:solidFill>
                            <a:srgbClr val="20242E"/>
                          </a:solidFill>
                        </a:rPr>
                        <a:t>Malkov &amp; Yashunin, 2020</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770" dirty="0">
                          <a:solidFill>
                            <a:srgbClr val="20242E"/>
                          </a:solidFill>
                        </a:rPr>
                        <a:t>HNSW — graph index for fast approximate nearest-neighbor search</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770" dirty="0">
                          <a:solidFill>
                            <a:srgbClr val="20242E"/>
                          </a:solidFill>
                        </a:rPr>
                        <a:t>Assumes a geometrically consistent index — silently broken by contamination</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770" dirty="0">
                          <a:solidFill>
                            <a:srgbClr val="20242E"/>
                          </a:solidFill>
                        </a:rPr>
                        <a:t>Names exactly why contamination is dangerous for the indexes we target</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extLst>
                  <a:ext uri="{0D108BD9-81ED-4DB2-BD59-A6C34878D82A}">
                    <a16:rowId xmlns:a16="http://schemas.microsoft.com/office/drawing/2014/main" val="10001"/>
                  </a:ext>
                </a:extLst>
              </a:tr>
              <a:tr h="462280">
                <a:tc>
                  <a:txBody>
                    <a:bodyPr/>
                    <a:lstStyle/>
                    <a:p>
                      <a:pPr marL="0" indent="0">
                        <a:buNone/>
                      </a:pPr>
                      <a:r>
                        <a:rPr lang="en-US" sz="770" dirty="0">
                          <a:solidFill>
                            <a:srgbClr val="20242E"/>
                          </a:solidFill>
                        </a:rPr>
                        <a:t>Pan et al., 2024</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770" dirty="0">
                          <a:solidFill>
                            <a:srgbClr val="20242E"/>
                          </a:solidFill>
                        </a:rPr>
                        <a:t>Survey of 20+ vector-database system architectures</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770" dirty="0">
                          <a:solidFill>
                            <a:srgbClr val="20242E"/>
                          </a:solidFill>
                        </a:rPr>
                        <a:t>No treatment of post-deployment embedding integrity</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770" dirty="0">
                          <a:solidFill>
                            <a:srgbClr val="20242E"/>
                          </a:solidFill>
                        </a:rPr>
                        <a:t>Evidences real-world scale and relevance of the problem</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extLst>
                  <a:ext uri="{0D108BD9-81ED-4DB2-BD59-A6C34878D82A}">
                    <a16:rowId xmlns:a16="http://schemas.microsoft.com/office/drawing/2014/main" val="10002"/>
                  </a:ext>
                </a:extLst>
              </a:tr>
              <a:tr h="462280">
                <a:tc>
                  <a:txBody>
                    <a:bodyPr/>
                    <a:lstStyle/>
                    <a:p>
                      <a:pPr marL="0" indent="0">
                        <a:buNone/>
                      </a:pPr>
                      <a:r>
                        <a:rPr lang="en-US" sz="770" dirty="0">
                          <a:solidFill>
                            <a:srgbClr val="20242E"/>
                          </a:solidFill>
                        </a:rPr>
                        <a:t>Muennighoff et al., 2023</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770" dirty="0">
                          <a:solidFill>
                            <a:srgbClr val="20242E"/>
                          </a:solidFill>
                        </a:rPr>
                        <a:t>MTEB — unified benchmark for comparing embedding models</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770" dirty="0">
                          <a:solidFill>
                            <a:srgbClr val="20242E"/>
                          </a:solidFill>
                        </a:rPr>
                        <a:t>Static snapshot; doesn't test mixed-generation drift scenarios</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770" dirty="0">
                          <a:solidFill>
                            <a:srgbClr val="20242E"/>
                          </a:solidFill>
                        </a:rPr>
                        <a:t>Explains why models churn often — the practical trigger for our problem</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extLst>
                  <a:ext uri="{0D108BD9-81ED-4DB2-BD59-A6C34878D82A}">
                    <a16:rowId xmlns:a16="http://schemas.microsoft.com/office/drawing/2014/main" val="10003"/>
                  </a:ext>
                </a:extLst>
              </a:tr>
              <a:tr h="462280">
                <a:tc>
                  <a:txBody>
                    <a:bodyPr/>
                    <a:lstStyle/>
                    <a:p>
                      <a:pPr marL="0" indent="0">
                        <a:buNone/>
                      </a:pPr>
                      <a:r>
                        <a:rPr lang="en-US" sz="770" dirty="0">
                          <a:solidFill>
                            <a:srgbClr val="20242E"/>
                          </a:solidFill>
                        </a:rPr>
                        <a:t>Wu et al., 2024</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770" dirty="0">
                          <a:solidFill>
                            <a:srgbClr val="20242E"/>
                          </a:solidFill>
                        </a:rPr>
                        <a:t>Quantifies how retrieval quality affects RAG faithfulness</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770" dirty="0">
                          <a:solidFill>
                            <a:srgbClr val="20242E"/>
                          </a:solidFill>
                        </a:rPr>
                        <a:t>Doesn't address the retrieval-quality-degradation cause itself</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770" dirty="0">
                          <a:solidFill>
                            <a:srgbClr val="20242E"/>
                          </a:solidFill>
                        </a:rPr>
                        <a:t>Motivates why contamination matters beyond raw metrics</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extLst>
                  <a:ext uri="{0D108BD9-81ED-4DB2-BD59-A6C34878D82A}">
                    <a16:rowId xmlns:a16="http://schemas.microsoft.com/office/drawing/2014/main" val="10004"/>
                  </a:ext>
                </a:extLst>
              </a:tr>
              <a:tr h="462280">
                <a:tc>
                  <a:txBody>
                    <a:bodyPr/>
                    <a:lstStyle/>
                    <a:p>
                      <a:pPr marL="0" indent="0">
                        <a:buNone/>
                      </a:pPr>
                      <a:r>
                        <a:rPr lang="en-US" sz="770" dirty="0">
                          <a:solidFill>
                            <a:srgbClr val="20242E"/>
                          </a:solidFill>
                        </a:rPr>
                        <a:t>Fuster Baggetto &amp; Fresno, 2022</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770" dirty="0">
                          <a:solidFill>
                            <a:srgbClr val="20242E"/>
                          </a:solidFill>
                        </a:rPr>
                        <a:t>Tests whether embedding anisotropy actually harms retrieval</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770" dirty="0">
                          <a:solidFill>
                            <a:srgbClr val="20242E"/>
                          </a:solidFill>
                        </a:rPr>
                        <a:t>Studied within one generation, not across mixed generations</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770" dirty="0">
                          <a:solidFill>
                            <a:srgbClr val="20242E"/>
                          </a:solidFill>
                        </a:rPr>
                        <a:t>Motivated our own mixed-generation anisotropy stress test (built — see results)</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extLst>
                  <a:ext uri="{0D108BD9-81ED-4DB2-BD59-A6C34878D82A}">
                    <a16:rowId xmlns:a16="http://schemas.microsoft.com/office/drawing/2014/main" val="10005"/>
                  </a:ext>
                </a:extLst>
              </a:tr>
              <a:tr h="462280">
                <a:tc>
                  <a:txBody>
                    <a:bodyPr/>
                    <a:lstStyle/>
                    <a:p>
                      <a:pPr marL="0" indent="0">
                        <a:buNone/>
                      </a:pPr>
                      <a:r>
                        <a:rPr lang="en-US" sz="770" dirty="0">
                          <a:solidFill>
                            <a:srgbClr val="20242E"/>
                          </a:solidFill>
                        </a:rPr>
                        <a:t>Sinha &amp; Zoltners, 1979</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770" dirty="0">
                          <a:solidFill>
                            <a:srgbClr val="20242E"/>
                          </a:solidFill>
                        </a:rPr>
                        <a:t>Exact formulation for one-choice-per-group allocation under budget</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770" dirty="0">
                          <a:solidFill>
                            <a:srgbClr val="20242E"/>
                          </a:solidFill>
                        </a:rPr>
                        <a:t>Purely theoretical — never applied to embedding remediation</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770" dirty="0">
                          <a:solidFill>
                            <a:srgbClr val="20242E"/>
                          </a:solidFill>
                        </a:rPr>
                        <a:t>Mathematical core of Prioritization — now measured at 0.00% mean gap (max 0.14%)</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extLst>
                  <a:ext uri="{0D108BD9-81ED-4DB2-BD59-A6C34878D82A}">
                    <a16:rowId xmlns:a16="http://schemas.microsoft.com/office/drawing/2014/main" val="10006"/>
                  </a:ext>
                </a:extLst>
              </a:tr>
              <a:tr h="462280">
                <a:tc>
                  <a:txBody>
                    <a:bodyPr/>
                    <a:lstStyle/>
                    <a:p>
                      <a:pPr marL="0" indent="0">
                        <a:buNone/>
                      </a:pPr>
                      <a:r>
                        <a:rPr lang="en-US" sz="770" dirty="0">
                          <a:solidFill>
                            <a:srgbClr val="20242E"/>
                          </a:solidFill>
                        </a:rPr>
                        <a:t>Breslau et al., 1999</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770" dirty="0">
                          <a:solidFill>
                            <a:srgbClr val="20242E"/>
                          </a:solidFill>
                        </a:rPr>
                        <a:t>Real web traffic follows a Zipf (highly skewed) distribution</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770" dirty="0">
                          <a:solidFill>
                            <a:srgbClr val="20242E"/>
                          </a:solidFill>
                        </a:rPr>
                        <a:t>About web objects, not vector-DB query traffic specifically</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770" dirty="0">
                          <a:solidFill>
                            <a:srgbClr val="20242E"/>
                          </a:solidFill>
                        </a:rPr>
                        <a:t>Grounds the traffic-weighted benefit function used in our built scheduler</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extLst>
                  <a:ext uri="{0D108BD9-81ED-4DB2-BD59-A6C34878D82A}">
                    <a16:rowId xmlns:a16="http://schemas.microsoft.com/office/drawing/2014/main" val="10007"/>
                  </a:ext>
                </a:extLst>
              </a:tr>
              <a:tr h="462280">
                <a:tc>
                  <a:txBody>
                    <a:bodyPr/>
                    <a:lstStyle/>
                    <a:p>
                      <a:pPr marL="0" indent="0">
                        <a:buNone/>
                      </a:pPr>
                      <a:r>
                        <a:rPr lang="en-US" sz="770" dirty="0">
                          <a:solidFill>
                            <a:srgbClr val="20242E"/>
                          </a:solidFill>
                        </a:rPr>
                        <a:t>Karval &amp; Singh, 2023</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770" dirty="0">
                          <a:solidFill>
                            <a:srgbClr val="20242E"/>
                          </a:solidFill>
                        </a:rPr>
                        <a:t>Names 'silent failure' as a distinct, under-monitored ML risk category</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770" dirty="0">
                          <a:solidFill>
                            <a:srgbClr val="20242E"/>
                          </a:solidFill>
                        </a:rPr>
                        <a:t>General MLOps treatment — not specific to vector databases</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770" dirty="0">
                          <a:solidFill>
                            <a:srgbClr val="20242E"/>
                          </a:solidFill>
                        </a:rPr>
                        <a:t>Provides the framing our Problem Statement applies directly</a:t>
                      </a:r>
                      <a:endParaRPr lang="en-US" sz="77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8" name="Text 5"/>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9" name="Text 6"/>
          <p:cNvSpPr txBox="1"/>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DATASET DETAILS</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marL="0" indent="0">
              <a:buNone/>
            </a:pPr>
            <a:r>
              <a:rPr lang="en-US" sz="3200" b="1" dirty="0">
                <a:solidFill>
                  <a:srgbClr val="1B2A56"/>
                </a:solidFill>
                <a:latin typeface="Cambria" pitchFamily="34" charset="0"/>
                <a:ea typeface="Cambria" pitchFamily="34" charset="-122"/>
                <a:cs typeface="Cambria" pitchFamily="34" charset="-120"/>
              </a:rPr>
              <a:t>Dataset &amp; Benchmark Construction</a:t>
            </a:r>
            <a:endParaRPr lang="en-US" sz="3200" dirty="0"/>
          </a:p>
        </p:txBody>
      </p:sp>
      <p:sp>
        <p:nvSpPr>
          <p:cNvPr id="4" name="Shape 2"/>
          <p:cNvSpPr/>
          <p:nvPr/>
        </p:nvSpPr>
        <p:spPr>
          <a:xfrm>
            <a:off x="548640" y="1554480"/>
            <a:ext cx="6035040" cy="1170432"/>
          </a:xfrm>
          <a:prstGeom prst="roundRect">
            <a:avLst>
              <a:gd name="adj" fmla="val 6250"/>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5" name="Text 3"/>
          <p:cNvSpPr txBox="1"/>
          <p:nvPr/>
        </p:nvSpPr>
        <p:spPr>
          <a:xfrm>
            <a:off x="777240" y="1664208"/>
            <a:ext cx="5577840" cy="274320"/>
          </a:xfrm>
          <a:prstGeom prst="rect">
            <a:avLst/>
          </a:prstGeom>
          <a:noFill/>
          <a:ln/>
        </p:spPr>
        <p:txBody>
          <a:bodyPr wrap="square" lIns="0" tIns="0" rIns="0" bIns="0" rtlCol="0" anchor="ctr"/>
          <a:lstStyle/>
          <a:p>
            <a:pPr marL="0" indent="0">
              <a:buNone/>
            </a:pPr>
            <a:r>
              <a:rPr lang="en-US" sz="1250" b="1" dirty="0">
                <a:solidFill>
                  <a:srgbClr val="0E7C7B"/>
                </a:solidFill>
                <a:latin typeface="Calibri" pitchFamily="34" charset="0"/>
                <a:ea typeface="Calibri" pitchFamily="34" charset="-122"/>
                <a:cs typeface="Calibri" pitchFamily="34" charset="-120"/>
              </a:rPr>
              <a:t>Corpus</a:t>
            </a:r>
            <a:endParaRPr lang="en-US" sz="1250" dirty="0"/>
          </a:p>
        </p:txBody>
      </p:sp>
      <p:sp>
        <p:nvSpPr>
          <p:cNvPr id="6" name="Text 4"/>
          <p:cNvSpPr txBox="1"/>
          <p:nvPr/>
        </p:nvSpPr>
        <p:spPr>
          <a:xfrm>
            <a:off x="777240" y="1975104"/>
            <a:ext cx="5577840" cy="685800"/>
          </a:xfrm>
          <a:prstGeom prst="rect">
            <a:avLst/>
          </a:prstGeom>
          <a:noFill/>
          <a:ln/>
        </p:spPr>
        <p:txBody>
          <a:bodyPr wrap="square" lIns="0" tIns="0" rIns="0" bIns="0" rtlCol="0" anchor="ctr"/>
          <a:lstStyle/>
          <a:p>
            <a:pPr marL="0" indent="0">
              <a:lnSpc>
                <a:spcPct val="118000"/>
              </a:lnSpc>
              <a:buNone/>
            </a:pPr>
            <a:r>
              <a:rPr lang="en-US" sz="1000" dirty="0">
                <a:solidFill>
                  <a:srgbClr val="20242E"/>
                </a:solidFill>
                <a:latin typeface="Calibri" pitchFamily="34" charset="0"/>
                <a:ea typeface="Calibri" pitchFamily="34" charset="-122"/>
                <a:cs typeface="Calibri" pitchFamily="34" charset="-120"/>
              </a:rPr>
              <a:t>BEIR SciFact — a real, peer-reviewed IR benchmark with genuine relevance judgments (qrels), not synthetic labels.</a:t>
            </a:r>
            <a:endParaRPr lang="en-US" sz="1000" dirty="0"/>
          </a:p>
        </p:txBody>
      </p:sp>
      <p:sp>
        <p:nvSpPr>
          <p:cNvPr id="7" name="Shape 5"/>
          <p:cNvSpPr/>
          <p:nvPr/>
        </p:nvSpPr>
        <p:spPr>
          <a:xfrm>
            <a:off x="548640" y="2852928"/>
            <a:ext cx="6035040" cy="1170432"/>
          </a:xfrm>
          <a:prstGeom prst="roundRect">
            <a:avLst>
              <a:gd name="adj" fmla="val 6250"/>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8" name="Text 6"/>
          <p:cNvSpPr txBox="1"/>
          <p:nvPr/>
        </p:nvSpPr>
        <p:spPr>
          <a:xfrm>
            <a:off x="777240" y="2962656"/>
            <a:ext cx="5577840" cy="274320"/>
          </a:xfrm>
          <a:prstGeom prst="rect">
            <a:avLst/>
          </a:prstGeom>
          <a:noFill/>
          <a:ln/>
        </p:spPr>
        <p:txBody>
          <a:bodyPr wrap="square" lIns="0" tIns="0" rIns="0" bIns="0" rtlCol="0" anchor="ctr"/>
          <a:lstStyle/>
          <a:p>
            <a:pPr marL="0" indent="0">
              <a:buNone/>
            </a:pPr>
            <a:r>
              <a:rPr lang="en-US" sz="1250" b="1" dirty="0">
                <a:solidFill>
                  <a:srgbClr val="0E7C7B"/>
                </a:solidFill>
                <a:latin typeface="Calibri" pitchFamily="34" charset="0"/>
                <a:ea typeface="Calibri" pitchFamily="34" charset="-122"/>
                <a:cs typeface="Calibri" pitchFamily="34" charset="-120"/>
              </a:rPr>
              <a:t>Scale</a:t>
            </a:r>
            <a:endParaRPr lang="en-US" sz="1250" dirty="0"/>
          </a:p>
        </p:txBody>
      </p:sp>
      <p:sp>
        <p:nvSpPr>
          <p:cNvPr id="9" name="Text 7"/>
          <p:cNvSpPr txBox="1"/>
          <p:nvPr/>
        </p:nvSpPr>
        <p:spPr>
          <a:xfrm>
            <a:off x="777240" y="3273552"/>
            <a:ext cx="5577840" cy="685800"/>
          </a:xfrm>
          <a:prstGeom prst="rect">
            <a:avLst/>
          </a:prstGeom>
          <a:noFill/>
          <a:ln/>
        </p:spPr>
        <p:txBody>
          <a:bodyPr wrap="square" lIns="0" tIns="0" rIns="0" bIns="0" rtlCol="0" anchor="ctr"/>
          <a:lstStyle/>
          <a:p>
            <a:pPr marL="0" indent="0">
              <a:lnSpc>
                <a:spcPct val="118000"/>
              </a:lnSpc>
              <a:buNone/>
            </a:pPr>
            <a:r>
              <a:rPr lang="en-US" sz="1000" dirty="0">
                <a:solidFill>
                  <a:srgbClr val="20242E"/>
                </a:solidFill>
                <a:latin typeface="Calibri" pitchFamily="34" charset="0"/>
                <a:ea typeface="Calibri" pitchFamily="34" charset="-122"/>
                <a:cs typeface="Calibri" pitchFamily="34" charset="-120"/>
              </a:rPr>
              <a:t>5,000 documents — a deliberate subsample that keeps the exact-ILP baseline solvable for direct optimality comparison, while remaining a meaningful evaluation.</a:t>
            </a:r>
            <a:endParaRPr lang="en-US" sz="1000" dirty="0"/>
          </a:p>
        </p:txBody>
      </p:sp>
      <p:sp>
        <p:nvSpPr>
          <p:cNvPr id="10" name="Shape 8"/>
          <p:cNvSpPr/>
          <p:nvPr/>
        </p:nvSpPr>
        <p:spPr>
          <a:xfrm>
            <a:off x="548640" y="4151376"/>
            <a:ext cx="6035040" cy="1170432"/>
          </a:xfrm>
          <a:prstGeom prst="roundRect">
            <a:avLst>
              <a:gd name="adj" fmla="val 6250"/>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11" name="Text 9"/>
          <p:cNvSpPr txBox="1"/>
          <p:nvPr/>
        </p:nvSpPr>
        <p:spPr>
          <a:xfrm>
            <a:off x="777240" y="4261104"/>
            <a:ext cx="5577840" cy="274320"/>
          </a:xfrm>
          <a:prstGeom prst="rect">
            <a:avLst/>
          </a:prstGeom>
          <a:noFill/>
          <a:ln/>
        </p:spPr>
        <p:txBody>
          <a:bodyPr wrap="square" lIns="0" tIns="0" rIns="0" bIns="0" rtlCol="0" anchor="ctr"/>
          <a:lstStyle/>
          <a:p>
            <a:pPr marL="0" indent="0">
              <a:buNone/>
            </a:pPr>
            <a:r>
              <a:rPr lang="en-US" sz="1250" b="1" dirty="0">
                <a:solidFill>
                  <a:srgbClr val="0E7C7B"/>
                </a:solidFill>
                <a:latin typeface="Calibri" pitchFamily="34" charset="0"/>
                <a:ea typeface="Calibri" pitchFamily="34" charset="-122"/>
                <a:cs typeface="Calibri" pitchFamily="34" charset="-120"/>
              </a:rPr>
              <a:t>Embedding generations</a:t>
            </a:r>
            <a:endParaRPr lang="en-US" sz="1250" dirty="0"/>
          </a:p>
        </p:txBody>
      </p:sp>
      <p:sp>
        <p:nvSpPr>
          <p:cNvPr id="12" name="Text 10"/>
          <p:cNvSpPr txBox="1"/>
          <p:nvPr/>
        </p:nvSpPr>
        <p:spPr>
          <a:xfrm>
            <a:off x="777240" y="4572000"/>
            <a:ext cx="5577840" cy="685800"/>
          </a:xfrm>
          <a:prstGeom prst="rect">
            <a:avLst/>
          </a:prstGeom>
          <a:noFill/>
          <a:ln/>
        </p:spPr>
        <p:txBody>
          <a:bodyPr wrap="square" lIns="0" tIns="0" rIns="0" bIns="0" rtlCol="0" anchor="ctr"/>
          <a:lstStyle/>
          <a:p>
            <a:pPr marL="0" indent="0">
              <a:lnSpc>
                <a:spcPct val="118000"/>
              </a:lnSpc>
              <a:buNone/>
            </a:pPr>
            <a:r>
              <a:rPr lang="en-US" sz="1000" dirty="0">
                <a:solidFill>
                  <a:srgbClr val="20242E"/>
                </a:solidFill>
                <a:latin typeface="Calibri" pitchFamily="34" charset="0"/>
                <a:ea typeface="Calibri" pitchFamily="34" charset="-122"/>
                <a:cs typeface="Calibri" pitchFamily="34" charset="-120"/>
              </a:rPr>
              <a:t>Generation A = all-MiniLM-L6-v2, Generation B = all-MiniLM-L12-v2 — two real, open sentence-transformer models, standing in for 'old' and 'new' provider versions.</a:t>
            </a:r>
            <a:endParaRPr lang="en-US" sz="1000" dirty="0"/>
          </a:p>
        </p:txBody>
      </p:sp>
      <p:sp>
        <p:nvSpPr>
          <p:cNvPr id="13" name="Shape 11"/>
          <p:cNvSpPr/>
          <p:nvPr/>
        </p:nvSpPr>
        <p:spPr>
          <a:xfrm>
            <a:off x="548640" y="5449824"/>
            <a:ext cx="6035040" cy="1170432"/>
          </a:xfrm>
          <a:prstGeom prst="roundRect">
            <a:avLst>
              <a:gd name="adj" fmla="val 6250"/>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14" name="Text 12"/>
          <p:cNvSpPr txBox="1"/>
          <p:nvPr/>
        </p:nvSpPr>
        <p:spPr>
          <a:xfrm>
            <a:off x="777240" y="5559552"/>
            <a:ext cx="5577840" cy="274320"/>
          </a:xfrm>
          <a:prstGeom prst="rect">
            <a:avLst/>
          </a:prstGeom>
          <a:noFill/>
          <a:ln/>
        </p:spPr>
        <p:txBody>
          <a:bodyPr wrap="square" lIns="0" tIns="0" rIns="0" bIns="0" rtlCol="0" anchor="ctr"/>
          <a:lstStyle/>
          <a:p>
            <a:pPr marL="0" indent="0">
              <a:buNone/>
            </a:pPr>
            <a:r>
              <a:rPr lang="en-US" sz="1250" b="1" dirty="0">
                <a:solidFill>
                  <a:srgbClr val="0E7C7B"/>
                </a:solidFill>
                <a:latin typeface="Calibri" pitchFamily="34" charset="0"/>
                <a:ea typeface="Calibri" pitchFamily="34" charset="-122"/>
                <a:cs typeface="Calibri" pitchFamily="34" charset="-120"/>
              </a:rPr>
              <a:t>Reproducibility</a:t>
            </a:r>
            <a:endParaRPr lang="en-US" sz="1250" dirty="0"/>
          </a:p>
        </p:txBody>
      </p:sp>
      <p:sp>
        <p:nvSpPr>
          <p:cNvPr id="15" name="Text 13"/>
          <p:cNvSpPr txBox="1"/>
          <p:nvPr/>
        </p:nvSpPr>
        <p:spPr>
          <a:xfrm>
            <a:off x="777240" y="5870448"/>
            <a:ext cx="5577840" cy="685800"/>
          </a:xfrm>
          <a:prstGeom prst="rect">
            <a:avLst/>
          </a:prstGeom>
          <a:noFill/>
          <a:ln/>
        </p:spPr>
        <p:txBody>
          <a:bodyPr wrap="square" lIns="0" tIns="0" rIns="0" bIns="0" rtlCol="0" anchor="ctr"/>
          <a:lstStyle/>
          <a:p>
            <a:pPr marL="0" indent="0">
              <a:lnSpc>
                <a:spcPct val="118000"/>
              </a:lnSpc>
              <a:buNone/>
            </a:pPr>
            <a:r>
              <a:rPr lang="en-US" sz="1000" dirty="0">
                <a:solidFill>
                  <a:srgbClr val="20242E"/>
                </a:solidFill>
                <a:latin typeface="Calibri" pitchFamily="34" charset="0"/>
                <a:ea typeface="Calibri" pitchFamily="34" charset="-122"/>
                <a:cs typeface="Calibri" pitchFamily="34" charset="-120"/>
              </a:rPr>
              <a:t>Fixed seed (42) across every experiment; fully scripted corpus construction, contamination injection, and evaluation — deterministic and re-runnable.</a:t>
            </a:r>
            <a:endParaRPr lang="en-US" sz="1000" dirty="0"/>
          </a:p>
        </p:txBody>
      </p:sp>
      <p:sp>
        <p:nvSpPr>
          <p:cNvPr id="16" name="Shape 14"/>
          <p:cNvSpPr/>
          <p:nvPr/>
        </p:nvSpPr>
        <p:spPr>
          <a:xfrm>
            <a:off x="6903720" y="1554480"/>
            <a:ext cx="4754880" cy="5193792"/>
          </a:xfrm>
          <a:prstGeom prst="roundRect">
            <a:avLst>
              <a:gd name="adj" fmla="val 1538"/>
            </a:avLst>
          </a:prstGeom>
          <a:solidFill>
            <a:srgbClr val="1B2A56"/>
          </a:solidFill>
          <a:ln/>
        </p:spPr>
        <p:txBody>
          <a:bodyPr/>
          <a:lstStyle/>
          <a:p>
            <a:endParaRPr lang="en-US"/>
          </a:p>
        </p:txBody>
      </p:sp>
      <p:sp>
        <p:nvSpPr>
          <p:cNvPr id="17" name="Text 15"/>
          <p:cNvSpPr txBox="1"/>
          <p:nvPr/>
        </p:nvSpPr>
        <p:spPr>
          <a:xfrm>
            <a:off x="7178040" y="1737360"/>
            <a:ext cx="4206240" cy="274320"/>
          </a:xfrm>
          <a:prstGeom prst="rect">
            <a:avLst/>
          </a:prstGeom>
          <a:noFill/>
          <a:ln/>
        </p:spPr>
        <p:txBody>
          <a:bodyPr wrap="square" lIns="0" tIns="0" rIns="0" bIns="0" rtlCol="0" anchor="ctr"/>
          <a:lstStyle/>
          <a:p>
            <a:pPr marL="0" indent="0">
              <a:buNone/>
            </a:pPr>
            <a:r>
              <a:rPr lang="en-US" sz="1100" b="1" kern="0" spc="150" dirty="0">
                <a:solidFill>
                  <a:srgbClr val="CFE0FA"/>
                </a:solidFill>
                <a:latin typeface="Calibri" pitchFamily="34" charset="0"/>
                <a:ea typeface="Calibri" pitchFamily="34" charset="-122"/>
                <a:cs typeface="Calibri" pitchFamily="34" charset="-120"/>
              </a:rPr>
              <a:t>EXPERIMENTAL SWEEP</a:t>
            </a:r>
            <a:endParaRPr lang="en-US" sz="1100" dirty="0"/>
          </a:p>
        </p:txBody>
      </p:sp>
      <p:sp>
        <p:nvSpPr>
          <p:cNvPr id="18" name="Text 16"/>
          <p:cNvSpPr txBox="1"/>
          <p:nvPr/>
        </p:nvSpPr>
        <p:spPr>
          <a:xfrm>
            <a:off x="7178040" y="2103120"/>
            <a:ext cx="42062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Contamination ratios tested</a:t>
            </a:r>
            <a:endParaRPr lang="en-US" sz="1100" dirty="0"/>
          </a:p>
        </p:txBody>
      </p:sp>
      <p:sp>
        <p:nvSpPr>
          <p:cNvPr id="19" name="Text 17"/>
          <p:cNvSpPr txBox="1"/>
          <p:nvPr/>
        </p:nvSpPr>
        <p:spPr>
          <a:xfrm>
            <a:off x="7178040" y="2377440"/>
            <a:ext cx="4206240" cy="566928"/>
          </a:xfrm>
          <a:prstGeom prst="rect">
            <a:avLst/>
          </a:prstGeom>
          <a:noFill/>
          <a:ln/>
        </p:spPr>
        <p:txBody>
          <a:bodyPr wrap="square" lIns="0" tIns="0" rIns="0" bIns="0" rtlCol="0" anchor="ctr"/>
          <a:lstStyle/>
          <a:p>
            <a:pPr marL="0" indent="0">
              <a:lnSpc>
                <a:spcPct val="115000"/>
              </a:lnSpc>
              <a:buNone/>
            </a:pPr>
            <a:r>
              <a:rPr lang="en-US" sz="950" dirty="0">
                <a:solidFill>
                  <a:srgbClr val="CFE0FA"/>
                </a:solidFill>
                <a:latin typeface="Calibri" pitchFamily="34" charset="0"/>
                <a:ea typeface="Calibri" pitchFamily="34" charset="-122"/>
                <a:cs typeface="Calibri" pitchFamily="34" charset="-120"/>
              </a:rPr>
              <a:t>5%, 10%, 20%, 35%, 50%</a:t>
            </a:r>
            <a:endParaRPr lang="en-US" sz="950" dirty="0"/>
          </a:p>
        </p:txBody>
      </p:sp>
      <p:sp>
        <p:nvSpPr>
          <p:cNvPr id="20" name="Text 18"/>
          <p:cNvSpPr txBox="1"/>
          <p:nvPr/>
        </p:nvSpPr>
        <p:spPr>
          <a:xfrm>
            <a:off x="7178040" y="2999232"/>
            <a:ext cx="42062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Remediation budget levels tested</a:t>
            </a:r>
            <a:endParaRPr lang="en-US" sz="1100" dirty="0"/>
          </a:p>
        </p:txBody>
      </p:sp>
      <p:sp>
        <p:nvSpPr>
          <p:cNvPr id="21" name="Text 19"/>
          <p:cNvSpPr txBox="1"/>
          <p:nvPr/>
        </p:nvSpPr>
        <p:spPr>
          <a:xfrm>
            <a:off x="7178040" y="3273552"/>
            <a:ext cx="4206240" cy="566928"/>
          </a:xfrm>
          <a:prstGeom prst="rect">
            <a:avLst/>
          </a:prstGeom>
          <a:noFill/>
          <a:ln/>
        </p:spPr>
        <p:txBody>
          <a:bodyPr wrap="square" lIns="0" tIns="0" rIns="0" bIns="0" rtlCol="0" anchor="ctr"/>
          <a:lstStyle/>
          <a:p>
            <a:pPr marL="0" indent="0">
              <a:lnSpc>
                <a:spcPct val="115000"/>
              </a:lnSpc>
              <a:buNone/>
            </a:pPr>
            <a:r>
              <a:rPr lang="en-US" sz="950" dirty="0">
                <a:solidFill>
                  <a:srgbClr val="CFE0FA"/>
                </a:solidFill>
                <a:latin typeface="Calibri" pitchFamily="34" charset="0"/>
                <a:ea typeface="Calibri" pitchFamily="34" charset="-122"/>
                <a:cs typeface="Calibri" pitchFamily="34" charset="-120"/>
              </a:rPr>
              <a:t>10%, 20%, 30%, 50%, 75%, 100%</a:t>
            </a:r>
            <a:endParaRPr lang="en-US" sz="950" dirty="0"/>
          </a:p>
        </p:txBody>
      </p:sp>
      <p:sp>
        <p:nvSpPr>
          <p:cNvPr id="22" name="Text 20"/>
          <p:cNvSpPr txBox="1"/>
          <p:nvPr/>
        </p:nvSpPr>
        <p:spPr>
          <a:xfrm>
            <a:off x="7178040" y="3895344"/>
            <a:ext cx="42062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Query traffic model</a:t>
            </a:r>
            <a:endParaRPr lang="en-US" sz="1100" dirty="0"/>
          </a:p>
        </p:txBody>
      </p:sp>
      <p:sp>
        <p:nvSpPr>
          <p:cNvPr id="23" name="Text 21"/>
          <p:cNvSpPr txBox="1"/>
          <p:nvPr/>
        </p:nvSpPr>
        <p:spPr>
          <a:xfrm>
            <a:off x="7178040" y="4169664"/>
            <a:ext cx="4206240" cy="566928"/>
          </a:xfrm>
          <a:prstGeom prst="rect">
            <a:avLst/>
          </a:prstGeom>
          <a:noFill/>
          <a:ln/>
        </p:spPr>
        <p:txBody>
          <a:bodyPr wrap="square" lIns="0" tIns="0" rIns="0" bIns="0" rtlCol="0" anchor="ctr"/>
          <a:lstStyle/>
          <a:p>
            <a:pPr marL="0" indent="0">
              <a:lnSpc>
                <a:spcPct val="115000"/>
              </a:lnSpc>
              <a:buNone/>
            </a:pPr>
            <a:r>
              <a:rPr lang="en-US" sz="950" dirty="0">
                <a:solidFill>
                  <a:srgbClr val="CFE0FA"/>
                </a:solidFill>
                <a:latin typeface="Calibri" pitchFamily="34" charset="0"/>
                <a:ea typeface="Calibri" pitchFamily="34" charset="-122"/>
                <a:cs typeface="Calibri" pitchFamily="34" charset="-120"/>
              </a:rPr>
              <a:t>Zipf-distributed synthetic traffic (Breslau et al., 1999) — a small fraction of documents receive most simulated query volume</a:t>
            </a:r>
            <a:endParaRPr lang="en-US" sz="950" dirty="0"/>
          </a:p>
        </p:txBody>
      </p:sp>
      <p:sp>
        <p:nvSpPr>
          <p:cNvPr id="24" name="Text 22"/>
          <p:cNvSpPr txBox="1"/>
          <p:nvPr/>
        </p:nvSpPr>
        <p:spPr>
          <a:xfrm>
            <a:off x="7178040" y="4791456"/>
            <a:ext cx="42062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Evaluation metrics</a:t>
            </a:r>
            <a:endParaRPr lang="en-US" sz="1100" dirty="0"/>
          </a:p>
        </p:txBody>
      </p:sp>
      <p:sp>
        <p:nvSpPr>
          <p:cNvPr id="25" name="Text 23"/>
          <p:cNvSpPr txBox="1"/>
          <p:nvPr/>
        </p:nvSpPr>
        <p:spPr>
          <a:xfrm>
            <a:off x="7178040" y="5065776"/>
            <a:ext cx="4206240" cy="566928"/>
          </a:xfrm>
          <a:prstGeom prst="rect">
            <a:avLst/>
          </a:prstGeom>
          <a:noFill/>
          <a:ln/>
        </p:spPr>
        <p:txBody>
          <a:bodyPr wrap="square" lIns="0" tIns="0" rIns="0" bIns="0" rtlCol="0" anchor="ctr"/>
          <a:lstStyle/>
          <a:p>
            <a:pPr marL="0" indent="0">
              <a:lnSpc>
                <a:spcPct val="115000"/>
              </a:lnSpc>
              <a:buNone/>
            </a:pPr>
            <a:r>
              <a:rPr lang="en-US" sz="950" dirty="0">
                <a:solidFill>
                  <a:srgbClr val="CFE0FA"/>
                </a:solidFill>
                <a:latin typeface="Calibri" pitchFamily="34" charset="0"/>
                <a:ea typeface="Calibri" pitchFamily="34" charset="-122"/>
                <a:cs typeface="Calibri" pitchFamily="34" charset="-120"/>
              </a:rPr>
              <a:t>nDCG@10 and Recall@10, both unweighted and traffic-weighted</a:t>
            </a:r>
            <a:endParaRPr lang="en-US" sz="950" dirty="0"/>
          </a:p>
        </p:txBody>
      </p:sp>
      <p:sp>
        <p:nvSpPr>
          <p:cNvPr id="26" name="Text 24"/>
          <p:cNvSpPr txBox="1"/>
          <p:nvPr/>
        </p:nvSpPr>
        <p:spPr>
          <a:xfrm>
            <a:off x="7178040" y="5687568"/>
            <a:ext cx="42062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Total evaluated combinations</a:t>
            </a:r>
            <a:endParaRPr lang="en-US" sz="1100" dirty="0"/>
          </a:p>
        </p:txBody>
      </p:sp>
      <p:sp>
        <p:nvSpPr>
          <p:cNvPr id="27" name="Text 25"/>
          <p:cNvSpPr txBox="1"/>
          <p:nvPr/>
        </p:nvSpPr>
        <p:spPr>
          <a:xfrm>
            <a:off x="7178040" y="5961888"/>
            <a:ext cx="4206240" cy="566928"/>
          </a:xfrm>
          <a:prstGeom prst="rect">
            <a:avLst/>
          </a:prstGeom>
          <a:noFill/>
          <a:ln/>
        </p:spPr>
        <p:txBody>
          <a:bodyPr wrap="square" lIns="0" tIns="0" rIns="0" bIns="0" rtlCol="0" anchor="ctr"/>
          <a:lstStyle/>
          <a:p>
            <a:pPr marL="0" indent="0">
              <a:lnSpc>
                <a:spcPct val="115000"/>
              </a:lnSpc>
              <a:buNone/>
            </a:pPr>
            <a:r>
              <a:rPr lang="en-US" sz="950" dirty="0">
                <a:solidFill>
                  <a:srgbClr val="CFE0FA"/>
                </a:solidFill>
                <a:latin typeface="Calibri" pitchFamily="34" charset="0"/>
                <a:ea typeface="Calibri" pitchFamily="34" charset="-122"/>
                <a:cs typeface="Calibri" pitchFamily="34" charset="-120"/>
              </a:rPr>
              <a:t>5 ratios × 6 budget levels = 30 scenarios per method, run to completion</a:t>
            </a:r>
            <a:endParaRPr lang="en-US" sz="950" dirty="0"/>
          </a:p>
        </p:txBody>
      </p:sp>
      <p:sp>
        <p:nvSpPr>
          <p:cNvPr id="28" name="Text 26"/>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29" name="Text 27"/>
          <p:cNvSpPr txBox="1"/>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SYSTEM ARCHITECTURE AND WORKFLOW</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marL="0" indent="0">
              <a:buNone/>
            </a:pPr>
            <a:r>
              <a:rPr lang="en-US" sz="3200" b="1" dirty="0">
                <a:solidFill>
                  <a:srgbClr val="1B2A56"/>
                </a:solidFill>
                <a:latin typeface="Cambria" pitchFamily="34" charset="0"/>
                <a:ea typeface="Cambria" pitchFamily="34" charset="-122"/>
                <a:cs typeface="Cambria" pitchFamily="34" charset="-120"/>
              </a:rPr>
              <a:t>System Architecture &amp; Workflow</a:t>
            </a:r>
            <a:endParaRPr lang="en-US" sz="3200" dirty="0"/>
          </a:p>
        </p:txBody>
      </p:sp>
      <p:sp>
        <p:nvSpPr>
          <p:cNvPr id="14" name="Text 12"/>
          <p:cNvSpPr txBox="1"/>
          <p:nvPr/>
        </p:nvSpPr>
        <p:spPr>
          <a:xfrm>
            <a:off x="6665976" y="1691640"/>
            <a:ext cx="384048" cy="914400"/>
          </a:xfrm>
          <a:prstGeom prst="rect">
            <a:avLst/>
          </a:prstGeom>
          <a:noFill/>
          <a:ln/>
        </p:spPr>
        <p:txBody>
          <a:bodyPr wrap="square" lIns="0" tIns="0" rIns="0" bIns="0" rtlCol="0" anchor="ctr"/>
          <a:lstStyle/>
          <a:p>
            <a:pPr marL="0" indent="0" algn="ctr">
              <a:buNone/>
            </a:pPr>
            <a:endParaRPr lang="en-US" sz="2000" dirty="0"/>
          </a:p>
        </p:txBody>
      </p:sp>
      <p:sp>
        <p:nvSpPr>
          <p:cNvPr id="17" name="Text 15"/>
          <p:cNvSpPr txBox="1"/>
          <p:nvPr/>
        </p:nvSpPr>
        <p:spPr>
          <a:xfrm>
            <a:off x="8833104" y="1691640"/>
            <a:ext cx="384048" cy="914400"/>
          </a:xfrm>
          <a:prstGeom prst="rect">
            <a:avLst/>
          </a:prstGeom>
          <a:noFill/>
          <a:ln/>
        </p:spPr>
        <p:txBody>
          <a:bodyPr wrap="square" lIns="0" tIns="0" rIns="0" bIns="0" rtlCol="0" anchor="ctr"/>
          <a:lstStyle/>
          <a:p>
            <a:pPr marL="0" indent="0" algn="ctr">
              <a:buNone/>
            </a:pPr>
            <a:endParaRPr lang="en-US" sz="2000" dirty="0"/>
          </a:p>
        </p:txBody>
      </p:sp>
      <p:sp>
        <p:nvSpPr>
          <p:cNvPr id="28" name="Text 26"/>
          <p:cNvSpPr txBox="1"/>
          <p:nvPr/>
        </p:nvSpPr>
        <p:spPr>
          <a:xfrm>
            <a:off x="548640" y="3931920"/>
            <a:ext cx="8686800" cy="274320"/>
          </a:xfrm>
          <a:prstGeom prst="rect">
            <a:avLst/>
          </a:prstGeom>
          <a:noFill/>
          <a:ln/>
        </p:spPr>
        <p:txBody>
          <a:bodyPr wrap="square" lIns="0" tIns="0" rIns="0" bIns="0" rtlCol="0" anchor="ctr"/>
          <a:lstStyle/>
          <a:p>
            <a:pPr marL="0" indent="0">
              <a:buNone/>
            </a:pPr>
            <a:r>
              <a:rPr lang="en-US" sz="1000" i="1" dirty="0">
                <a:solidFill>
                  <a:srgbClr val="1B2A56"/>
                </a:solidFill>
                <a:latin typeface="Calibri" pitchFamily="34" charset="0"/>
                <a:ea typeface="Calibri" pitchFamily="34" charset="-122"/>
                <a:cs typeface="Calibri" pitchFamily="34" charset="-120"/>
              </a:rPr>
              <a:t>continuous autonomous monitoring — "Live Sentry" module — built and validated end-to-end on the real benchmark</a:t>
            </a:r>
            <a:endParaRPr lang="en-US" sz="1000" dirty="0"/>
          </a:p>
        </p:txBody>
      </p:sp>
      <p:sp>
        <p:nvSpPr>
          <p:cNvPr id="29" name="Shape 27"/>
          <p:cNvSpPr/>
          <p:nvPr/>
        </p:nvSpPr>
        <p:spPr>
          <a:xfrm>
            <a:off x="548640" y="3794760"/>
            <a:ext cx="11109960" cy="530352"/>
          </a:xfrm>
          <a:prstGeom prst="roundRect">
            <a:avLst>
              <a:gd name="adj" fmla="val 13793"/>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30" name="Text 28"/>
          <p:cNvSpPr txBox="1"/>
          <p:nvPr/>
        </p:nvSpPr>
        <p:spPr>
          <a:xfrm>
            <a:off x="777240" y="3794760"/>
            <a:ext cx="10607040" cy="530352"/>
          </a:xfrm>
          <a:prstGeom prst="rect">
            <a:avLst/>
          </a:prstGeom>
          <a:noFill/>
          <a:ln/>
        </p:spPr>
        <p:txBody>
          <a:bodyPr wrap="square" lIns="0" tIns="0" rIns="0" bIns="0" rtlCol="0" anchor="ctr"/>
          <a:lstStyle/>
          <a:p>
            <a:pPr marL="0" indent="0">
              <a:buNone/>
            </a:pPr>
            <a:r>
              <a:rPr lang="en-US" sz="1100" b="1" dirty="0">
                <a:solidFill>
                  <a:srgbClr val="0E7C7B"/>
                </a:solidFill>
                <a:latin typeface="Calibri" pitchFamily="34" charset="0"/>
                <a:ea typeface="Calibri" pitchFamily="34" charset="-122"/>
                <a:cs typeface="Calibri" pitchFamily="34" charset="-120"/>
              </a:rPr>
              <a:t>Detect:  </a:t>
            </a:r>
            <a:r>
              <a:rPr lang="en-US" sz="1100" dirty="0">
                <a:solidFill>
                  <a:srgbClr val="20242E"/>
                </a:solidFill>
                <a:latin typeface="Calibri" pitchFamily="34" charset="0"/>
                <a:ea typeface="Calibri" pitchFamily="34" charset="-122"/>
                <a:cs typeface="Calibri" pitchFamily="34" charset="-120"/>
              </a:rPr>
              <a:t>KNN-OOD score vs. a stable-baseline-calibrated threshold — no oracle labels used. Built.</a:t>
            </a:r>
            <a:endParaRPr lang="en-US" sz="1100" dirty="0"/>
          </a:p>
        </p:txBody>
      </p:sp>
      <p:sp>
        <p:nvSpPr>
          <p:cNvPr id="31" name="Shape 29"/>
          <p:cNvSpPr/>
          <p:nvPr/>
        </p:nvSpPr>
        <p:spPr>
          <a:xfrm>
            <a:off x="548640" y="4416552"/>
            <a:ext cx="11109960" cy="530352"/>
          </a:xfrm>
          <a:prstGeom prst="roundRect">
            <a:avLst>
              <a:gd name="adj" fmla="val 13793"/>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32" name="Text 30"/>
          <p:cNvSpPr txBox="1"/>
          <p:nvPr/>
        </p:nvSpPr>
        <p:spPr>
          <a:xfrm>
            <a:off x="777240" y="4416552"/>
            <a:ext cx="10607040" cy="530352"/>
          </a:xfrm>
          <a:prstGeom prst="rect">
            <a:avLst/>
          </a:prstGeom>
          <a:noFill/>
          <a:ln/>
        </p:spPr>
        <p:txBody>
          <a:bodyPr wrap="square" lIns="0" tIns="0" rIns="0" bIns="0" rtlCol="0" anchor="ctr"/>
          <a:lstStyle/>
          <a:p>
            <a:pPr marL="0" indent="0">
              <a:buNone/>
            </a:pPr>
            <a:r>
              <a:rPr lang="en-US" sz="1100" b="1" dirty="0">
                <a:solidFill>
                  <a:srgbClr val="0E7C7B"/>
                </a:solidFill>
                <a:latin typeface="Calibri" pitchFamily="34" charset="0"/>
                <a:ea typeface="Calibri" pitchFamily="34" charset="-122"/>
                <a:cs typeface="Calibri" pitchFamily="34" charset="-120"/>
              </a:rPr>
              <a:t>Prioritize:  </a:t>
            </a:r>
            <a:r>
              <a:rPr lang="en-US" sz="1100" dirty="0">
                <a:solidFill>
                  <a:srgbClr val="20242E"/>
                </a:solidFill>
                <a:latin typeface="Calibri" pitchFamily="34" charset="0"/>
                <a:ea typeface="Calibri" pitchFamily="34" charset="-122"/>
                <a:cs typeface="Calibri" pitchFamily="34" charset="-120"/>
              </a:rPr>
              <a:t>MCKP scheduler: severity × traffic × recovery, one shared budget, exact ILP + frontier greedy. Built.</a:t>
            </a:r>
            <a:endParaRPr lang="en-US" sz="1100" dirty="0"/>
          </a:p>
        </p:txBody>
      </p:sp>
      <p:sp>
        <p:nvSpPr>
          <p:cNvPr id="33" name="Shape 31"/>
          <p:cNvSpPr/>
          <p:nvPr/>
        </p:nvSpPr>
        <p:spPr>
          <a:xfrm>
            <a:off x="548640" y="5038344"/>
            <a:ext cx="11109960" cy="530352"/>
          </a:xfrm>
          <a:prstGeom prst="roundRect">
            <a:avLst>
              <a:gd name="adj" fmla="val 13793"/>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34" name="Text 32"/>
          <p:cNvSpPr txBox="1"/>
          <p:nvPr/>
        </p:nvSpPr>
        <p:spPr>
          <a:xfrm>
            <a:off x="777240" y="5038344"/>
            <a:ext cx="10607040" cy="530352"/>
          </a:xfrm>
          <a:prstGeom prst="rect">
            <a:avLst/>
          </a:prstGeom>
          <a:noFill/>
          <a:ln/>
        </p:spPr>
        <p:txBody>
          <a:bodyPr wrap="square" lIns="0" tIns="0" rIns="0" bIns="0" rtlCol="0" anchor="ctr"/>
          <a:lstStyle/>
          <a:p>
            <a:pPr marL="0" indent="0">
              <a:buNone/>
            </a:pPr>
            <a:r>
              <a:rPr lang="en-US" sz="1100" b="1" dirty="0">
                <a:solidFill>
                  <a:srgbClr val="0E7C7B"/>
                </a:solidFill>
                <a:latin typeface="Calibri" pitchFamily="34" charset="0"/>
                <a:ea typeface="Calibri" pitchFamily="34" charset="-122"/>
                <a:cs typeface="Calibri" pitchFamily="34" charset="-120"/>
              </a:rPr>
              <a:t>Migrate:  </a:t>
            </a:r>
            <a:r>
              <a:rPr lang="en-US" sz="1100" dirty="0">
                <a:solidFill>
                  <a:srgbClr val="20242E"/>
                </a:solidFill>
                <a:latin typeface="Calibri" pitchFamily="34" charset="0"/>
                <a:ea typeface="Calibri" pitchFamily="34" charset="-122"/>
                <a:cs typeface="Calibri" pitchFamily="34" charset="-120"/>
              </a:rPr>
              <a:t>Shadow-build the selected fix — the live index is never mutated in place. Built.</a:t>
            </a:r>
            <a:endParaRPr lang="en-US" sz="1100" dirty="0"/>
          </a:p>
        </p:txBody>
      </p:sp>
      <p:sp>
        <p:nvSpPr>
          <p:cNvPr id="35" name="Shape 33"/>
          <p:cNvSpPr/>
          <p:nvPr/>
        </p:nvSpPr>
        <p:spPr>
          <a:xfrm>
            <a:off x="548640" y="5660136"/>
            <a:ext cx="11109960" cy="530352"/>
          </a:xfrm>
          <a:prstGeom prst="roundRect">
            <a:avLst>
              <a:gd name="adj" fmla="val 13793"/>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36" name="Text 34"/>
          <p:cNvSpPr txBox="1"/>
          <p:nvPr/>
        </p:nvSpPr>
        <p:spPr>
          <a:xfrm>
            <a:off x="777240" y="5660136"/>
            <a:ext cx="10607040" cy="530352"/>
          </a:xfrm>
          <a:prstGeom prst="rect">
            <a:avLst/>
          </a:prstGeom>
          <a:noFill/>
          <a:ln/>
        </p:spPr>
        <p:txBody>
          <a:bodyPr wrap="square" lIns="0" tIns="0" rIns="0" bIns="0" rtlCol="0" anchor="ctr"/>
          <a:lstStyle/>
          <a:p>
            <a:pPr marL="0" indent="0">
              <a:buNone/>
            </a:pPr>
            <a:r>
              <a:rPr lang="en-US" sz="1100" b="1" dirty="0">
                <a:solidFill>
                  <a:srgbClr val="0E7C7B"/>
                </a:solidFill>
                <a:latin typeface="Calibri" pitchFamily="34" charset="0"/>
                <a:ea typeface="Calibri" pitchFamily="34" charset="-122"/>
                <a:cs typeface="Calibri" pitchFamily="34" charset="-120"/>
              </a:rPr>
              <a:t>Verify:  </a:t>
            </a:r>
            <a:r>
              <a:rPr lang="en-US" sz="1100" dirty="0">
                <a:solidFill>
                  <a:srgbClr val="20242E"/>
                </a:solidFill>
                <a:latin typeface="Calibri" pitchFamily="34" charset="0"/>
                <a:ea typeface="Calibri" pitchFamily="34" charset="-122"/>
                <a:cs typeface="Calibri" pitchFamily="34" charset="-120"/>
              </a:rPr>
              <a:t>Golden-query canary check against the shadow, with automatic rollback on failure. Built.</a:t>
            </a:r>
            <a:endParaRPr lang="en-US" sz="1100" dirty="0"/>
          </a:p>
        </p:txBody>
      </p:sp>
      <p:sp>
        <p:nvSpPr>
          <p:cNvPr id="37" name="Text 35"/>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38" name="Text 36"/>
          <p:cNvSpPr txBox="1"/>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8</a:t>
            </a:r>
            <a:endParaRPr lang="en-US" sz="900" dirty="0"/>
          </a:p>
        </p:txBody>
      </p:sp>
      <p:pic>
        <p:nvPicPr>
          <p:cNvPr id="40" name="Picture 39">
            <a:extLst>
              <a:ext uri="{FF2B5EF4-FFF2-40B4-BE49-F238E27FC236}">
                <a16:creationId xmlns:a16="http://schemas.microsoft.com/office/drawing/2014/main" id="{3DBE0B34-0751-6BA9-B168-69BF3ED5692C}"/>
              </a:ext>
            </a:extLst>
          </p:cNvPr>
          <p:cNvPicPr>
            <a:picLocks noChangeAspect="1"/>
          </p:cNvPicPr>
          <p:nvPr/>
        </p:nvPicPr>
        <p:blipFill>
          <a:blip r:embed="rId3"/>
          <a:stretch>
            <a:fillRect/>
          </a:stretch>
        </p:blipFill>
        <p:spPr>
          <a:xfrm>
            <a:off x="548640" y="1508760"/>
            <a:ext cx="11172825" cy="20288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PROPOSED METHODOLOGY AND SOLUTION</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marL="0" indent="0">
              <a:buNone/>
            </a:pPr>
            <a:r>
              <a:rPr lang="en-US" sz="3200" b="1" dirty="0">
                <a:solidFill>
                  <a:srgbClr val="1B2A56"/>
                </a:solidFill>
                <a:latin typeface="Cambria" pitchFamily="34" charset="0"/>
                <a:ea typeface="Cambria" pitchFamily="34" charset="-122"/>
                <a:cs typeface="Cambria" pitchFamily="34" charset="-120"/>
              </a:rPr>
              <a:t>Methodology — Module Breakdown</a:t>
            </a:r>
            <a:endParaRPr lang="en-US" sz="3200" dirty="0"/>
          </a:p>
        </p:txBody>
      </p:sp>
      <p:sp>
        <p:nvSpPr>
          <p:cNvPr id="4" name="Text 2"/>
          <p:cNvSpPr txBox="1"/>
          <p:nvPr/>
        </p:nvSpPr>
        <p:spPr>
          <a:xfrm>
            <a:off x="548640" y="1298448"/>
            <a:ext cx="10789920" cy="292608"/>
          </a:xfrm>
          <a:prstGeom prst="rect">
            <a:avLst/>
          </a:prstGeom>
          <a:noFill/>
          <a:ln/>
        </p:spPr>
        <p:txBody>
          <a:bodyPr wrap="square" lIns="0" tIns="0" rIns="0" bIns="0" rtlCol="0" anchor="ctr"/>
          <a:lstStyle/>
          <a:p>
            <a:pPr marL="0" indent="0">
              <a:buNone/>
            </a:pPr>
            <a:r>
              <a:rPr lang="en-US" sz="1100" i="1" dirty="0">
                <a:solidFill>
                  <a:srgbClr val="5A6472"/>
                </a:solidFill>
                <a:latin typeface="Calibri" pitchFamily="34" charset="0"/>
                <a:ea typeface="Calibri" pitchFamily="34" charset="-122"/>
                <a:cs typeface="Calibri" pitchFamily="34" charset="-120"/>
              </a:rPr>
              <a:t>Four modules, each with a defined input/output contract — every one implemented, unit-tested, and integrated.</a:t>
            </a:r>
            <a:endParaRPr lang="en-US" sz="1100" dirty="0"/>
          </a:p>
        </p:txBody>
      </p:sp>
      <p:sp>
        <p:nvSpPr>
          <p:cNvPr id="5" name="Shape 3"/>
          <p:cNvSpPr/>
          <p:nvPr/>
        </p:nvSpPr>
        <p:spPr>
          <a:xfrm>
            <a:off x="548640" y="1828800"/>
            <a:ext cx="2651760" cy="4251960"/>
          </a:xfrm>
          <a:prstGeom prst="roundRect">
            <a:avLst>
              <a:gd name="adj" fmla="val 2759"/>
            </a:avLst>
          </a:prstGeom>
          <a:solidFill>
            <a:srgbClr val="1B2A56"/>
          </a:solidFill>
          <a:ln/>
        </p:spPr>
        <p:txBody>
          <a:bodyPr/>
          <a:lstStyle/>
          <a:p>
            <a:endParaRPr lang="en-US"/>
          </a:p>
        </p:txBody>
      </p:sp>
      <p:sp>
        <p:nvSpPr>
          <p:cNvPr id="6" name="Shape 4"/>
          <p:cNvSpPr/>
          <p:nvPr/>
        </p:nvSpPr>
        <p:spPr>
          <a:xfrm>
            <a:off x="749808" y="2029968"/>
            <a:ext cx="548640" cy="548640"/>
          </a:xfrm>
          <a:prstGeom prst="roundRect">
            <a:avLst>
              <a:gd name="adj" fmla="val 50000"/>
            </a:avLst>
          </a:prstGeom>
          <a:solidFill>
            <a:srgbClr val="0E7C7B"/>
          </a:solidFill>
          <a:ln/>
        </p:spPr>
        <p:txBody>
          <a:bodyPr/>
          <a:lstStyle/>
          <a:p>
            <a:endParaRPr lang="en-US"/>
          </a:p>
        </p:txBody>
      </p:sp>
      <p:sp>
        <p:nvSpPr>
          <p:cNvPr id="7" name="Text 5"/>
          <p:cNvSpPr txBox="1"/>
          <p:nvPr/>
        </p:nvSpPr>
        <p:spPr>
          <a:xfrm>
            <a:off x="749808" y="202996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M1</a:t>
            </a:r>
            <a:endParaRPr lang="en-US" sz="1500" dirty="0"/>
          </a:p>
        </p:txBody>
      </p:sp>
      <p:sp>
        <p:nvSpPr>
          <p:cNvPr id="8" name="Text 6"/>
          <p:cNvSpPr txBox="1"/>
          <p:nvPr/>
        </p:nvSpPr>
        <p:spPr>
          <a:xfrm>
            <a:off x="749808" y="2670048"/>
            <a:ext cx="2249424" cy="457200"/>
          </a:xfrm>
          <a:prstGeom prst="rect">
            <a:avLst/>
          </a:prstGeom>
          <a:noFill/>
          <a:ln/>
        </p:spPr>
        <p:txBody>
          <a:bodyPr wrap="square" lIns="0" tIns="0" rIns="0" bIns="0" rtlCol="0" anchor="ctr"/>
          <a:lstStyle/>
          <a:p>
            <a:pPr marL="0" indent="0">
              <a:lnSpc>
                <a:spcPct val="105000"/>
              </a:lnSpc>
              <a:buNone/>
            </a:pPr>
            <a:r>
              <a:rPr lang="en-US" sz="1350" b="1" dirty="0">
                <a:solidFill>
                  <a:srgbClr val="FFFFFF"/>
                </a:solidFill>
                <a:latin typeface="Calibri" pitchFamily="34" charset="0"/>
                <a:ea typeface="Calibri" pitchFamily="34" charset="-122"/>
                <a:cs typeface="Calibri" pitchFamily="34" charset="-120"/>
              </a:rPr>
              <a:t>Detection</a:t>
            </a:r>
            <a:endParaRPr lang="en-US" sz="1350" dirty="0"/>
          </a:p>
        </p:txBody>
      </p:sp>
      <p:sp>
        <p:nvSpPr>
          <p:cNvPr id="9" name="Text 7"/>
          <p:cNvSpPr txBox="1"/>
          <p:nvPr/>
        </p:nvSpPr>
        <p:spPr>
          <a:xfrm>
            <a:off x="749808" y="3182112"/>
            <a:ext cx="2249424" cy="1417320"/>
          </a:xfrm>
          <a:prstGeom prst="rect">
            <a:avLst/>
          </a:prstGeom>
          <a:noFill/>
          <a:ln/>
        </p:spPr>
        <p:txBody>
          <a:bodyPr wrap="square" lIns="0" tIns="0" rIns="0" bIns="0" rtlCol="0" anchor="ctr"/>
          <a:lstStyle/>
          <a:p>
            <a:pPr marL="0" indent="0">
              <a:lnSpc>
                <a:spcPct val="118000"/>
              </a:lnSpc>
              <a:buNone/>
            </a:pPr>
            <a:r>
              <a:rPr lang="en-US" sz="950" dirty="0">
                <a:solidFill>
                  <a:srgbClr val="CFE0FA"/>
                </a:solidFill>
                <a:latin typeface="Calibri" pitchFamily="34" charset="0"/>
                <a:ea typeface="Calibri" pitchFamily="34" charset="-122"/>
                <a:cs typeface="Calibri" pitchFamily="34" charset="-120"/>
              </a:rPr>
              <a:t>KNN-OOD scoring vs. a stable-baseline percentile threshold. Evaluated against LOF and Isolation Forest as alternatives.</a:t>
            </a:r>
            <a:endParaRPr lang="en-US" sz="950" dirty="0"/>
          </a:p>
        </p:txBody>
      </p:sp>
      <p:sp>
        <p:nvSpPr>
          <p:cNvPr id="10" name="Shape 8"/>
          <p:cNvSpPr/>
          <p:nvPr/>
        </p:nvSpPr>
        <p:spPr>
          <a:xfrm>
            <a:off x="749808" y="4709160"/>
            <a:ext cx="2249424" cy="0"/>
          </a:xfrm>
          <a:prstGeom prst="line">
            <a:avLst/>
          </a:prstGeom>
          <a:noFill/>
          <a:ln w="12700">
            <a:solidFill>
              <a:srgbClr val="33447A"/>
            </a:solidFill>
            <a:prstDash val="solid"/>
          </a:ln>
        </p:spPr>
        <p:txBody>
          <a:bodyPr/>
          <a:lstStyle/>
          <a:p>
            <a:endParaRPr lang="en-US"/>
          </a:p>
        </p:txBody>
      </p:sp>
      <p:sp>
        <p:nvSpPr>
          <p:cNvPr id="11" name="Text 9"/>
          <p:cNvSpPr txBox="1"/>
          <p:nvPr/>
        </p:nvSpPr>
        <p:spPr>
          <a:xfrm>
            <a:off x="749808" y="4846320"/>
            <a:ext cx="2249424" cy="1097280"/>
          </a:xfrm>
          <a:prstGeom prst="rect">
            <a:avLst/>
          </a:prstGeom>
          <a:noFill/>
          <a:ln/>
        </p:spPr>
        <p:txBody>
          <a:bodyPr wrap="square" lIns="0" tIns="0" rIns="0" bIns="0" rtlCol="0" anchor="ctr"/>
          <a:lstStyle/>
          <a:p>
            <a:pPr marL="0" indent="0">
              <a:lnSpc>
                <a:spcPct val="120000"/>
              </a:lnSpc>
              <a:buNone/>
            </a:pPr>
            <a:r>
              <a:rPr lang="en-US" sz="930" b="1" i="1" dirty="0">
                <a:solidFill>
                  <a:srgbClr val="E4F3F2"/>
                </a:solidFill>
                <a:latin typeface="Calibri" pitchFamily="34" charset="0"/>
                <a:ea typeface="Calibri" pitchFamily="34" charset="-122"/>
                <a:cs typeface="Calibri" pitchFamily="34" charset="-120"/>
              </a:rPr>
              <a:t>F1 = 0.51–0.57 across contamination ratios (real, measured)</a:t>
            </a:r>
            <a:endParaRPr lang="en-US" sz="930" dirty="0"/>
          </a:p>
        </p:txBody>
      </p:sp>
      <p:sp>
        <p:nvSpPr>
          <p:cNvPr id="12" name="Shape 10"/>
          <p:cNvSpPr/>
          <p:nvPr/>
        </p:nvSpPr>
        <p:spPr>
          <a:xfrm>
            <a:off x="3374136" y="1828800"/>
            <a:ext cx="2651760" cy="4251960"/>
          </a:xfrm>
          <a:prstGeom prst="roundRect">
            <a:avLst>
              <a:gd name="adj" fmla="val 2759"/>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13" name="Shape 11"/>
          <p:cNvSpPr/>
          <p:nvPr/>
        </p:nvSpPr>
        <p:spPr>
          <a:xfrm>
            <a:off x="3575304" y="2029968"/>
            <a:ext cx="548640" cy="548640"/>
          </a:xfrm>
          <a:prstGeom prst="roundRect">
            <a:avLst>
              <a:gd name="adj" fmla="val 50000"/>
            </a:avLst>
          </a:prstGeom>
          <a:solidFill>
            <a:srgbClr val="0E7C7B"/>
          </a:solidFill>
          <a:ln/>
        </p:spPr>
        <p:txBody>
          <a:bodyPr/>
          <a:lstStyle/>
          <a:p>
            <a:endParaRPr lang="en-US"/>
          </a:p>
        </p:txBody>
      </p:sp>
      <p:sp>
        <p:nvSpPr>
          <p:cNvPr id="14" name="Text 12"/>
          <p:cNvSpPr txBox="1"/>
          <p:nvPr/>
        </p:nvSpPr>
        <p:spPr>
          <a:xfrm>
            <a:off x="3575304" y="202996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M2</a:t>
            </a:r>
            <a:endParaRPr lang="en-US" sz="1500" dirty="0"/>
          </a:p>
        </p:txBody>
      </p:sp>
      <p:sp>
        <p:nvSpPr>
          <p:cNvPr id="15" name="Text 13"/>
          <p:cNvSpPr txBox="1"/>
          <p:nvPr/>
        </p:nvSpPr>
        <p:spPr>
          <a:xfrm>
            <a:off x="3575304" y="2670048"/>
            <a:ext cx="2249424" cy="457200"/>
          </a:xfrm>
          <a:prstGeom prst="rect">
            <a:avLst/>
          </a:prstGeom>
          <a:noFill/>
          <a:ln/>
        </p:spPr>
        <p:txBody>
          <a:bodyPr wrap="square" lIns="0" tIns="0" rIns="0" bIns="0" rtlCol="0" anchor="ctr"/>
          <a:lstStyle/>
          <a:p>
            <a:pPr marL="0" indent="0">
              <a:lnSpc>
                <a:spcPct val="105000"/>
              </a:lnSpc>
              <a:buNone/>
            </a:pPr>
            <a:r>
              <a:rPr lang="en-US" sz="1350" b="1" dirty="0">
                <a:solidFill>
                  <a:srgbClr val="1B2A56"/>
                </a:solidFill>
                <a:latin typeface="Calibri" pitchFamily="34" charset="0"/>
                <a:ea typeface="Calibri" pitchFamily="34" charset="-122"/>
                <a:cs typeface="Calibri" pitchFamily="34" charset="-120"/>
              </a:rPr>
              <a:t>Prioritization</a:t>
            </a:r>
            <a:endParaRPr lang="en-US" sz="1350" dirty="0"/>
          </a:p>
        </p:txBody>
      </p:sp>
      <p:sp>
        <p:nvSpPr>
          <p:cNvPr id="16" name="Text 14"/>
          <p:cNvSpPr txBox="1"/>
          <p:nvPr/>
        </p:nvSpPr>
        <p:spPr>
          <a:xfrm>
            <a:off x="3575304" y="3182112"/>
            <a:ext cx="2249424" cy="1417320"/>
          </a:xfrm>
          <a:prstGeom prst="rect">
            <a:avLst/>
          </a:prstGeom>
          <a:noFill/>
          <a:ln/>
        </p:spPr>
        <p:txBody>
          <a:bodyPr wrap="square" lIns="0" tIns="0" rIns="0" bIns="0" rtlCol="0" anchor="ctr"/>
          <a:lstStyle/>
          <a:p>
            <a:pPr marL="0" indent="0">
              <a:lnSpc>
                <a:spcPct val="118000"/>
              </a:lnSpc>
              <a:buNone/>
            </a:pPr>
            <a:r>
              <a:rPr lang="en-US" sz="950" dirty="0">
                <a:solidFill>
                  <a:srgbClr val="20242E"/>
                </a:solidFill>
                <a:latin typeface="Calibri" pitchFamily="34" charset="0"/>
                <a:ea typeface="Calibri" pitchFamily="34" charset="-122"/>
                <a:cs typeface="Calibri" pitchFamily="34" charset="-120"/>
              </a:rPr>
              <a:t>MCKP formulation — exact ILP for validation, frontier-greedy for production scale.</a:t>
            </a:r>
            <a:endParaRPr lang="en-US" sz="950" dirty="0"/>
          </a:p>
        </p:txBody>
      </p:sp>
      <p:sp>
        <p:nvSpPr>
          <p:cNvPr id="17" name="Shape 15"/>
          <p:cNvSpPr/>
          <p:nvPr/>
        </p:nvSpPr>
        <p:spPr>
          <a:xfrm>
            <a:off x="3575304" y="4709160"/>
            <a:ext cx="2249424" cy="0"/>
          </a:xfrm>
          <a:prstGeom prst="line">
            <a:avLst/>
          </a:prstGeom>
          <a:noFill/>
          <a:ln w="12700">
            <a:solidFill>
              <a:srgbClr val="D8DEEA"/>
            </a:solidFill>
            <a:prstDash val="solid"/>
          </a:ln>
        </p:spPr>
        <p:txBody>
          <a:bodyPr/>
          <a:lstStyle/>
          <a:p>
            <a:endParaRPr lang="en-US"/>
          </a:p>
        </p:txBody>
      </p:sp>
      <p:sp>
        <p:nvSpPr>
          <p:cNvPr id="18" name="Text 16"/>
          <p:cNvSpPr txBox="1"/>
          <p:nvPr/>
        </p:nvSpPr>
        <p:spPr>
          <a:xfrm>
            <a:off x="3575304" y="4846320"/>
            <a:ext cx="2249424" cy="1097280"/>
          </a:xfrm>
          <a:prstGeom prst="rect">
            <a:avLst/>
          </a:prstGeom>
          <a:noFill/>
          <a:ln/>
        </p:spPr>
        <p:txBody>
          <a:bodyPr wrap="square" lIns="0" tIns="0" rIns="0" bIns="0" rtlCol="0" anchor="ctr"/>
          <a:lstStyle/>
          <a:p>
            <a:pPr marL="0" indent="0">
              <a:lnSpc>
                <a:spcPct val="120000"/>
              </a:lnSpc>
              <a:buNone/>
            </a:pPr>
            <a:r>
              <a:rPr lang="en-US" sz="930" b="1" i="1" dirty="0">
                <a:solidFill>
                  <a:srgbClr val="0E7C7B"/>
                </a:solidFill>
                <a:latin typeface="Calibri" pitchFamily="34" charset="0"/>
                <a:ea typeface="Calibri" pitchFamily="34" charset="-122"/>
                <a:cs typeface="Calibri" pitchFamily="34" charset="-120"/>
              </a:rPr>
              <a:t>0.00% mean optimality gap, max 0.14% (real, measured)</a:t>
            </a:r>
            <a:endParaRPr lang="en-US" sz="930" dirty="0"/>
          </a:p>
        </p:txBody>
      </p:sp>
      <p:sp>
        <p:nvSpPr>
          <p:cNvPr id="19" name="Shape 17"/>
          <p:cNvSpPr/>
          <p:nvPr/>
        </p:nvSpPr>
        <p:spPr>
          <a:xfrm>
            <a:off x="6199632" y="1828800"/>
            <a:ext cx="2651760" cy="4251960"/>
          </a:xfrm>
          <a:prstGeom prst="roundRect">
            <a:avLst>
              <a:gd name="adj" fmla="val 2759"/>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20" name="Shape 18"/>
          <p:cNvSpPr/>
          <p:nvPr/>
        </p:nvSpPr>
        <p:spPr>
          <a:xfrm>
            <a:off x="6400800" y="2029968"/>
            <a:ext cx="548640" cy="548640"/>
          </a:xfrm>
          <a:prstGeom prst="roundRect">
            <a:avLst>
              <a:gd name="adj" fmla="val 50000"/>
            </a:avLst>
          </a:prstGeom>
          <a:solidFill>
            <a:srgbClr val="0E7C7B"/>
          </a:solidFill>
          <a:ln/>
        </p:spPr>
        <p:txBody>
          <a:bodyPr/>
          <a:lstStyle/>
          <a:p>
            <a:endParaRPr lang="en-US"/>
          </a:p>
        </p:txBody>
      </p:sp>
      <p:sp>
        <p:nvSpPr>
          <p:cNvPr id="21" name="Text 19"/>
          <p:cNvSpPr txBox="1"/>
          <p:nvPr/>
        </p:nvSpPr>
        <p:spPr>
          <a:xfrm>
            <a:off x="6400800" y="202996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M3</a:t>
            </a:r>
            <a:endParaRPr lang="en-US" sz="1500" dirty="0"/>
          </a:p>
        </p:txBody>
      </p:sp>
      <p:sp>
        <p:nvSpPr>
          <p:cNvPr id="22" name="Text 20"/>
          <p:cNvSpPr txBox="1"/>
          <p:nvPr/>
        </p:nvSpPr>
        <p:spPr>
          <a:xfrm>
            <a:off x="6400800" y="2670048"/>
            <a:ext cx="2249424" cy="457200"/>
          </a:xfrm>
          <a:prstGeom prst="rect">
            <a:avLst/>
          </a:prstGeom>
          <a:noFill/>
          <a:ln/>
        </p:spPr>
        <p:txBody>
          <a:bodyPr wrap="square" lIns="0" tIns="0" rIns="0" bIns="0" rtlCol="0" anchor="ctr"/>
          <a:lstStyle/>
          <a:p>
            <a:pPr marL="0" indent="0">
              <a:lnSpc>
                <a:spcPct val="105000"/>
              </a:lnSpc>
              <a:buNone/>
            </a:pPr>
            <a:r>
              <a:rPr lang="en-US" sz="1350" b="1" dirty="0">
                <a:solidFill>
                  <a:srgbClr val="1B2A56"/>
                </a:solidFill>
                <a:latin typeface="Calibri" pitchFamily="34" charset="0"/>
                <a:ea typeface="Calibri" pitchFamily="34" charset="-122"/>
                <a:cs typeface="Calibri" pitchFamily="34" charset="-120"/>
              </a:rPr>
              <a:t>Migration</a:t>
            </a:r>
            <a:endParaRPr lang="en-US" sz="1350" dirty="0"/>
          </a:p>
        </p:txBody>
      </p:sp>
      <p:sp>
        <p:nvSpPr>
          <p:cNvPr id="23" name="Text 21"/>
          <p:cNvSpPr txBox="1"/>
          <p:nvPr/>
        </p:nvSpPr>
        <p:spPr>
          <a:xfrm>
            <a:off x="6400800" y="3182112"/>
            <a:ext cx="2249424" cy="1417320"/>
          </a:xfrm>
          <a:prstGeom prst="rect">
            <a:avLst/>
          </a:prstGeom>
          <a:noFill/>
          <a:ln/>
        </p:spPr>
        <p:txBody>
          <a:bodyPr wrap="square" lIns="0" tIns="0" rIns="0" bIns="0" rtlCol="0" anchor="ctr"/>
          <a:lstStyle/>
          <a:p>
            <a:pPr marL="0" indent="0">
              <a:lnSpc>
                <a:spcPct val="118000"/>
              </a:lnSpc>
              <a:buNone/>
            </a:pPr>
            <a:r>
              <a:rPr lang="en-US" sz="950" dirty="0">
                <a:solidFill>
                  <a:srgbClr val="20242E"/>
                </a:solidFill>
                <a:latin typeface="Calibri" pitchFamily="34" charset="0"/>
                <a:ea typeface="Calibri" pitchFamily="34" charset="-122"/>
                <a:cs typeface="Calibri" pitchFamily="34" charset="-120"/>
              </a:rPr>
              <a:t>Shadow-builds only the selected documents; live index never mutated in place.</a:t>
            </a:r>
            <a:endParaRPr lang="en-US" sz="950" dirty="0"/>
          </a:p>
        </p:txBody>
      </p:sp>
      <p:sp>
        <p:nvSpPr>
          <p:cNvPr id="24" name="Shape 22"/>
          <p:cNvSpPr/>
          <p:nvPr/>
        </p:nvSpPr>
        <p:spPr>
          <a:xfrm>
            <a:off x="6400800" y="4709160"/>
            <a:ext cx="2249424" cy="0"/>
          </a:xfrm>
          <a:prstGeom prst="line">
            <a:avLst/>
          </a:prstGeom>
          <a:noFill/>
          <a:ln w="12700">
            <a:solidFill>
              <a:srgbClr val="D8DEEA"/>
            </a:solidFill>
            <a:prstDash val="solid"/>
          </a:ln>
        </p:spPr>
        <p:txBody>
          <a:bodyPr/>
          <a:lstStyle/>
          <a:p>
            <a:endParaRPr lang="en-US"/>
          </a:p>
        </p:txBody>
      </p:sp>
      <p:sp>
        <p:nvSpPr>
          <p:cNvPr id="25" name="Text 23"/>
          <p:cNvSpPr txBox="1"/>
          <p:nvPr/>
        </p:nvSpPr>
        <p:spPr>
          <a:xfrm>
            <a:off x="6400800" y="4846320"/>
            <a:ext cx="2249424" cy="1097280"/>
          </a:xfrm>
          <a:prstGeom prst="rect">
            <a:avLst/>
          </a:prstGeom>
          <a:noFill/>
          <a:ln/>
        </p:spPr>
        <p:txBody>
          <a:bodyPr wrap="square" lIns="0" tIns="0" rIns="0" bIns="0" rtlCol="0" anchor="ctr"/>
          <a:lstStyle/>
          <a:p>
            <a:pPr marL="0" indent="0">
              <a:lnSpc>
                <a:spcPct val="120000"/>
              </a:lnSpc>
              <a:buNone/>
            </a:pPr>
            <a:r>
              <a:rPr lang="en-US" sz="930" b="1" i="1" dirty="0">
                <a:solidFill>
                  <a:srgbClr val="0E7C7B"/>
                </a:solidFill>
                <a:latin typeface="Calibri" pitchFamily="34" charset="0"/>
                <a:ea typeface="Calibri" pitchFamily="34" charset="-122"/>
                <a:cs typeface="Calibri" pitchFamily="34" charset="-120"/>
              </a:rPr>
              <a:t>10/30 scenarios correctly aborted by the safety gate (real, measured)</a:t>
            </a:r>
            <a:endParaRPr lang="en-US" sz="930" dirty="0"/>
          </a:p>
        </p:txBody>
      </p:sp>
      <p:sp>
        <p:nvSpPr>
          <p:cNvPr id="26" name="Shape 24"/>
          <p:cNvSpPr/>
          <p:nvPr/>
        </p:nvSpPr>
        <p:spPr>
          <a:xfrm>
            <a:off x="9025128" y="1828800"/>
            <a:ext cx="2651760" cy="4251960"/>
          </a:xfrm>
          <a:prstGeom prst="roundRect">
            <a:avLst>
              <a:gd name="adj" fmla="val 2759"/>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27" name="Shape 25"/>
          <p:cNvSpPr/>
          <p:nvPr/>
        </p:nvSpPr>
        <p:spPr>
          <a:xfrm>
            <a:off x="9226296" y="2029968"/>
            <a:ext cx="548640" cy="548640"/>
          </a:xfrm>
          <a:prstGeom prst="roundRect">
            <a:avLst>
              <a:gd name="adj" fmla="val 50000"/>
            </a:avLst>
          </a:prstGeom>
          <a:solidFill>
            <a:srgbClr val="0E7C7B"/>
          </a:solidFill>
          <a:ln/>
        </p:spPr>
        <p:txBody>
          <a:bodyPr/>
          <a:lstStyle/>
          <a:p>
            <a:endParaRPr lang="en-US"/>
          </a:p>
        </p:txBody>
      </p:sp>
      <p:sp>
        <p:nvSpPr>
          <p:cNvPr id="28" name="Text 26"/>
          <p:cNvSpPr txBox="1"/>
          <p:nvPr/>
        </p:nvSpPr>
        <p:spPr>
          <a:xfrm>
            <a:off x="9226296" y="202996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M4</a:t>
            </a:r>
            <a:endParaRPr lang="en-US" sz="1500" dirty="0"/>
          </a:p>
        </p:txBody>
      </p:sp>
      <p:sp>
        <p:nvSpPr>
          <p:cNvPr id="29" name="Text 27"/>
          <p:cNvSpPr txBox="1"/>
          <p:nvPr/>
        </p:nvSpPr>
        <p:spPr>
          <a:xfrm>
            <a:off x="9226296" y="2670048"/>
            <a:ext cx="2249424" cy="457200"/>
          </a:xfrm>
          <a:prstGeom prst="rect">
            <a:avLst/>
          </a:prstGeom>
          <a:noFill/>
          <a:ln/>
        </p:spPr>
        <p:txBody>
          <a:bodyPr wrap="square" lIns="0" tIns="0" rIns="0" bIns="0" rtlCol="0" anchor="ctr"/>
          <a:lstStyle/>
          <a:p>
            <a:pPr marL="0" indent="0">
              <a:lnSpc>
                <a:spcPct val="105000"/>
              </a:lnSpc>
              <a:buNone/>
            </a:pPr>
            <a:r>
              <a:rPr lang="en-US" sz="1350" b="1" dirty="0">
                <a:solidFill>
                  <a:srgbClr val="1B2A56"/>
                </a:solidFill>
                <a:latin typeface="Calibri" pitchFamily="34" charset="0"/>
                <a:ea typeface="Calibri" pitchFamily="34" charset="-122"/>
                <a:cs typeface="Calibri" pitchFamily="34" charset="-120"/>
              </a:rPr>
              <a:t>Verification &amp; Cutover</a:t>
            </a:r>
            <a:endParaRPr lang="en-US" sz="1350" dirty="0"/>
          </a:p>
        </p:txBody>
      </p:sp>
      <p:sp>
        <p:nvSpPr>
          <p:cNvPr id="30" name="Text 28"/>
          <p:cNvSpPr txBox="1"/>
          <p:nvPr/>
        </p:nvSpPr>
        <p:spPr>
          <a:xfrm>
            <a:off x="9226296" y="3182112"/>
            <a:ext cx="2249424" cy="1417320"/>
          </a:xfrm>
          <a:prstGeom prst="rect">
            <a:avLst/>
          </a:prstGeom>
          <a:noFill/>
          <a:ln/>
        </p:spPr>
        <p:txBody>
          <a:bodyPr wrap="square" lIns="0" tIns="0" rIns="0" bIns="0" rtlCol="0" anchor="ctr"/>
          <a:lstStyle/>
          <a:p>
            <a:pPr marL="0" indent="0">
              <a:lnSpc>
                <a:spcPct val="118000"/>
              </a:lnSpc>
              <a:buNone/>
            </a:pPr>
            <a:r>
              <a:rPr lang="en-US" sz="950" dirty="0">
                <a:solidFill>
                  <a:srgbClr val="20242E"/>
                </a:solidFill>
                <a:latin typeface="Calibri" pitchFamily="34" charset="0"/>
                <a:ea typeface="Calibri" pitchFamily="34" charset="-122"/>
                <a:cs typeface="Calibri" pitchFamily="34" charset="-120"/>
              </a:rPr>
              <a:t>Golden-query canary evaluation; atomic cutover on pass, automatic rollback/retry/defer on fail.</a:t>
            </a:r>
            <a:endParaRPr lang="en-US" sz="950" dirty="0"/>
          </a:p>
        </p:txBody>
      </p:sp>
      <p:sp>
        <p:nvSpPr>
          <p:cNvPr id="31" name="Shape 29"/>
          <p:cNvSpPr/>
          <p:nvPr/>
        </p:nvSpPr>
        <p:spPr>
          <a:xfrm>
            <a:off x="9226296" y="4709160"/>
            <a:ext cx="2249424" cy="0"/>
          </a:xfrm>
          <a:prstGeom prst="line">
            <a:avLst/>
          </a:prstGeom>
          <a:noFill/>
          <a:ln w="12700">
            <a:solidFill>
              <a:srgbClr val="D8DEEA"/>
            </a:solidFill>
            <a:prstDash val="solid"/>
          </a:ln>
        </p:spPr>
        <p:txBody>
          <a:bodyPr/>
          <a:lstStyle/>
          <a:p>
            <a:endParaRPr lang="en-US"/>
          </a:p>
        </p:txBody>
      </p:sp>
      <p:sp>
        <p:nvSpPr>
          <p:cNvPr id="32" name="Text 30"/>
          <p:cNvSpPr txBox="1"/>
          <p:nvPr/>
        </p:nvSpPr>
        <p:spPr>
          <a:xfrm>
            <a:off x="9226296" y="4846320"/>
            <a:ext cx="2249424" cy="1097280"/>
          </a:xfrm>
          <a:prstGeom prst="rect">
            <a:avLst/>
          </a:prstGeom>
          <a:noFill/>
          <a:ln/>
        </p:spPr>
        <p:txBody>
          <a:bodyPr wrap="square" lIns="0" tIns="0" rIns="0" bIns="0" rtlCol="0" anchor="ctr"/>
          <a:lstStyle/>
          <a:p>
            <a:pPr marL="0" indent="0">
              <a:lnSpc>
                <a:spcPct val="120000"/>
              </a:lnSpc>
              <a:buNone/>
            </a:pPr>
            <a:r>
              <a:rPr lang="en-US" sz="930" b="1" i="1" dirty="0">
                <a:solidFill>
                  <a:srgbClr val="0E7C7B"/>
                </a:solidFill>
                <a:latin typeface="Calibri" pitchFamily="34" charset="0"/>
                <a:ea typeface="Calibri" pitchFamily="34" charset="-122"/>
                <a:cs typeface="Calibri" pitchFamily="34" charset="-120"/>
              </a:rPr>
              <a:t>Beats best Phase-1 baseline in 18/30 scenarios (real, measured)</a:t>
            </a:r>
            <a:endParaRPr lang="en-US" sz="930" dirty="0"/>
          </a:p>
        </p:txBody>
      </p:sp>
      <p:sp>
        <p:nvSpPr>
          <p:cNvPr id="33" name="Text 31"/>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34" name="Text 32"/>
          <p:cNvSpPr txBox="1"/>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COMPLEXITY &amp; OVERHEAD ANALYSIS</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marL="0" indent="0">
              <a:buNone/>
            </a:pPr>
            <a:r>
              <a:rPr lang="en-US" sz="3200" b="1" dirty="0">
                <a:solidFill>
                  <a:srgbClr val="1B2A56"/>
                </a:solidFill>
                <a:latin typeface="Cambria" pitchFamily="34" charset="0"/>
                <a:ea typeface="Cambria" pitchFamily="34" charset="-122"/>
                <a:cs typeface="Cambria" pitchFamily="34" charset="-120"/>
              </a:rPr>
              <a:t>Space &amp; Time Complexity</a:t>
            </a:r>
            <a:endParaRPr lang="en-US" sz="3200" dirty="0"/>
          </a:p>
        </p:txBody>
      </p:sp>
      <p:sp>
        <p:nvSpPr>
          <p:cNvPr id="4" name="Text 2"/>
          <p:cNvSpPr txBox="1"/>
          <p:nvPr/>
        </p:nvSpPr>
        <p:spPr>
          <a:xfrm>
            <a:off x="548640" y="1280160"/>
            <a:ext cx="11109960" cy="292608"/>
          </a:xfrm>
          <a:prstGeom prst="rect">
            <a:avLst/>
          </a:prstGeom>
          <a:noFill/>
          <a:ln/>
        </p:spPr>
        <p:txBody>
          <a:bodyPr wrap="square" lIns="0" tIns="0" rIns="0" bIns="0" rtlCol="0" anchor="ctr"/>
          <a:lstStyle/>
          <a:p>
            <a:pPr marL="0" indent="0">
              <a:buNone/>
            </a:pPr>
            <a:r>
              <a:rPr lang="en-US" sz="950" i="1" dirty="0">
                <a:solidFill>
                  <a:srgbClr val="5A6472"/>
                </a:solidFill>
                <a:latin typeface="Calibri" pitchFamily="34" charset="0"/>
                <a:ea typeface="Calibri" pitchFamily="34" charset="-122"/>
                <a:cs typeface="Calibri" pitchFamily="34" charset="-120"/>
              </a:rPr>
              <a:t>N = corpus size (5,000). k = flagged/selected documents (k ≪ N typically). d = embedding dimension. M = baseline set size. Q = golden-query count (small, fixed).</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109960" cy="3383280"/>
        </p:xfrm>
        <a:graphic>
          <a:graphicData uri="http://schemas.openxmlformats.org/drawingml/2006/table">
            <a:tbl>
              <a:tblPr/>
              <a:tblGrid>
                <a:gridCol w="228600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563880">
                <a:tc>
                  <a:txBody>
                    <a:bodyPr/>
                    <a:lstStyle/>
                    <a:p>
                      <a:pPr marL="0" indent="0">
                        <a:buNone/>
                      </a:pPr>
                      <a:r>
                        <a:rPr lang="en-US" sz="1000" b="1" dirty="0">
                          <a:solidFill>
                            <a:srgbClr val="FFFFFF"/>
                          </a:solidFill>
                        </a:rPr>
                        <a:t>Module</a:t>
                      </a:r>
                      <a:endParaRPr lang="en-US" sz="100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marL="0" indent="0">
                        <a:buNone/>
                      </a:pPr>
                      <a:r>
                        <a:rPr lang="en-US" sz="1000" b="1" dirty="0">
                          <a:solidFill>
                            <a:srgbClr val="FFFFFF"/>
                          </a:solidFill>
                        </a:rPr>
                        <a:t>Time Complexity</a:t>
                      </a:r>
                      <a:endParaRPr lang="en-US" sz="100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marL="0" indent="0">
                        <a:buNone/>
                      </a:pPr>
                      <a:r>
                        <a:rPr lang="en-US" sz="1000" b="1" dirty="0">
                          <a:solidFill>
                            <a:srgbClr val="FFFFFF"/>
                          </a:solidFill>
                        </a:rPr>
                        <a:t>Space Complexity</a:t>
                      </a:r>
                      <a:endParaRPr lang="en-US" sz="100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marL="0" indent="0">
                        <a:buNone/>
                      </a:pPr>
                      <a:r>
                        <a:rPr lang="en-US" sz="1000" b="1" dirty="0">
                          <a:solidFill>
                            <a:srgbClr val="FFFFFF"/>
                          </a:solidFill>
                        </a:rPr>
                        <a:t>Measured Overhead (real)</a:t>
                      </a:r>
                      <a:endParaRPr lang="en-US" sz="100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extLst>
                  <a:ext uri="{0D108BD9-81ED-4DB2-BD59-A6C34878D82A}">
                    <a16:rowId xmlns:a16="http://schemas.microsoft.com/office/drawing/2014/main" val="10000"/>
                  </a:ext>
                </a:extLst>
              </a:tr>
              <a:tr h="563880">
                <a:tc>
                  <a:txBody>
                    <a:bodyPr/>
                    <a:lstStyle/>
                    <a:p>
                      <a:pPr marL="0" indent="0">
                        <a:buNone/>
                      </a:pPr>
                      <a:r>
                        <a:rPr lang="en-US" sz="920" dirty="0">
                          <a:solidFill>
                            <a:srgbClr val="20242E"/>
                          </a:solidFill>
                        </a:rPr>
                        <a:t>Detection (M1)</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920" dirty="0">
                          <a:solidFill>
                            <a:srgbClr val="20242E"/>
                          </a:solidFill>
                        </a:rPr>
                        <a:t>O(N log M) with an ANN index</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920" dirty="0">
                          <a:solidFill>
                            <a:srgbClr val="20242E"/>
                          </a:solidFill>
                        </a:rPr>
                        <a:t>O(N·d) + O(M·d) baseline index</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920" dirty="0">
                          <a:solidFill>
                            <a:srgbClr val="20242E"/>
                          </a:solidFill>
                        </a:rPr>
                        <a:t>0.43–0.58s to scan the full 5,000-doc benchmark</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extLst>
                  <a:ext uri="{0D108BD9-81ED-4DB2-BD59-A6C34878D82A}">
                    <a16:rowId xmlns:a16="http://schemas.microsoft.com/office/drawing/2014/main" val="10001"/>
                  </a:ext>
                </a:extLst>
              </a:tr>
              <a:tr h="563880">
                <a:tc>
                  <a:txBody>
                    <a:bodyPr/>
                    <a:lstStyle/>
                    <a:p>
                      <a:pPr marL="0" indent="0">
                        <a:buNone/>
                      </a:pPr>
                      <a:r>
                        <a:rPr lang="en-US" sz="920" dirty="0">
                          <a:solidFill>
                            <a:srgbClr val="20242E"/>
                          </a:solidFill>
                        </a:rPr>
                        <a:t>Prioritization (M2) — production</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920" dirty="0">
                          <a:solidFill>
                            <a:srgbClr val="20242E"/>
                          </a:solidFill>
                        </a:rPr>
                        <a:t>O(N log N) — sort-dominated (frontier-greedy)</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920" dirty="0">
                          <a:solidFill>
                            <a:srgbClr val="20242E"/>
                          </a:solidFill>
                        </a:rPr>
                        <a:t>O(N)</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920" dirty="0">
                          <a:solidFill>
                            <a:srgbClr val="20242E"/>
                          </a:solidFill>
                        </a:rPr>
                        <a:t>Near-linear; 0.00% mean gap, max 0.14% vs. exact</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extLst>
                  <a:ext uri="{0D108BD9-81ED-4DB2-BD59-A6C34878D82A}">
                    <a16:rowId xmlns:a16="http://schemas.microsoft.com/office/drawing/2014/main" val="10002"/>
                  </a:ext>
                </a:extLst>
              </a:tr>
              <a:tr h="563880">
                <a:tc>
                  <a:txBody>
                    <a:bodyPr/>
                    <a:lstStyle/>
                    <a:p>
                      <a:pPr marL="0" indent="0">
                        <a:buNone/>
                      </a:pPr>
                      <a:r>
                        <a:rPr lang="en-US" sz="920" dirty="0">
                          <a:solidFill>
                            <a:srgbClr val="20242E"/>
                          </a:solidFill>
                        </a:rPr>
                        <a:t>Prioritization (M2) — exact (offline only)</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920" dirty="0">
                          <a:solidFill>
                            <a:srgbClr val="20242E"/>
                          </a:solidFill>
                        </a:rPr>
                        <a:t>NP-hard in general; pseudo-polynomial DP / ILP branch-and-bound</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920" dirty="0">
                          <a:solidFill>
                            <a:srgbClr val="20242E"/>
                          </a:solidFill>
                        </a:rPr>
                        <a:t>O(N·B)</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920" dirty="0">
                          <a:solidFill>
                            <a:srgbClr val="20242E"/>
                          </a:solidFill>
                        </a:rPr>
                        <a:t>Used only on ≤300-doc subsamples — kept off the live path</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extLst>
                  <a:ext uri="{0D108BD9-81ED-4DB2-BD59-A6C34878D82A}">
                    <a16:rowId xmlns:a16="http://schemas.microsoft.com/office/drawing/2014/main" val="10003"/>
                  </a:ext>
                </a:extLst>
              </a:tr>
              <a:tr h="563880">
                <a:tc>
                  <a:txBody>
                    <a:bodyPr/>
                    <a:lstStyle/>
                    <a:p>
                      <a:pPr marL="0" indent="0">
                        <a:buNone/>
                      </a:pPr>
                      <a:r>
                        <a:rPr lang="en-US" sz="920" dirty="0">
                          <a:solidFill>
                            <a:srgbClr val="20242E"/>
                          </a:solidFill>
                        </a:rPr>
                        <a:t>Migration (M3)</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920" dirty="0">
                          <a:solidFill>
                            <a:srgbClr val="20242E"/>
                          </a:solidFill>
                        </a:rPr>
                        <a:t>O(k·d) — scales with fixes selected, not corpus size</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920" dirty="0">
                          <a:solidFill>
                            <a:srgbClr val="20242E"/>
                          </a:solidFill>
                        </a:rPr>
                        <a:t>O(k·d) shadow copy — not a full corpus duplicate</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920" dirty="0">
                          <a:solidFill>
                            <a:srgbClr val="20242E"/>
                          </a:solidFill>
                        </a:rPr>
                        <a:t>Overhead bounded by contamination scope, not N</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extLst>
                  <a:ext uri="{0D108BD9-81ED-4DB2-BD59-A6C34878D82A}">
                    <a16:rowId xmlns:a16="http://schemas.microsoft.com/office/drawing/2014/main" val="10004"/>
                  </a:ext>
                </a:extLst>
              </a:tr>
              <a:tr h="563880">
                <a:tc>
                  <a:txBody>
                    <a:bodyPr/>
                    <a:lstStyle/>
                    <a:p>
                      <a:pPr marL="0" indent="0">
                        <a:buNone/>
                      </a:pPr>
                      <a:r>
                        <a:rPr lang="en-US" sz="920" dirty="0">
                          <a:solidFill>
                            <a:srgbClr val="20242E"/>
                          </a:solidFill>
                        </a:rPr>
                        <a:t>Verification (M4)</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920" dirty="0">
                          <a:solidFill>
                            <a:srgbClr val="20242E"/>
                          </a:solidFill>
                        </a:rPr>
                        <a:t>O(Q·k) — small fixed query set</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920" dirty="0">
                          <a:solidFill>
                            <a:srgbClr val="20242E"/>
                          </a:solidFill>
                        </a:rPr>
                        <a:t>O(Q)</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marL="0" indent="0">
                        <a:buNone/>
                      </a:pPr>
                      <a:r>
                        <a:rPr lang="en-US" sz="920" dirty="0">
                          <a:solidFill>
                            <a:srgbClr val="20242E"/>
                          </a:solidFill>
                        </a:rPr>
                        <a:t>Cheap — re-scores a curated golden set, not full query load</a:t>
                      </a:r>
                      <a:endParaRPr lang="en-US" sz="920" dirty="0"/>
                    </a:p>
                  </a:txBody>
                  <a:tcPr marL="76200" marR="76200" marT="50800" marB="508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3"/>
          <p:cNvSpPr/>
          <p:nvPr/>
        </p:nvSpPr>
        <p:spPr>
          <a:xfrm>
            <a:off x="548640" y="5212080"/>
            <a:ext cx="11109960" cy="1143000"/>
          </a:xfrm>
          <a:prstGeom prst="roundRect">
            <a:avLst>
              <a:gd name="adj" fmla="val 6400"/>
            </a:avLst>
          </a:prstGeom>
          <a:solidFill>
            <a:srgbClr val="1B2A56"/>
          </a:solidFill>
          <a:ln/>
        </p:spPr>
        <p:txBody>
          <a:bodyPr/>
          <a:lstStyle/>
          <a:p>
            <a:endParaRPr lang="en-US"/>
          </a:p>
        </p:txBody>
      </p:sp>
      <p:sp>
        <p:nvSpPr>
          <p:cNvPr id="7" name="Text 4"/>
          <p:cNvSpPr txBox="1"/>
          <p:nvPr/>
        </p:nvSpPr>
        <p:spPr>
          <a:xfrm>
            <a:off x="822960" y="5349240"/>
            <a:ext cx="10515600" cy="868680"/>
          </a:xfrm>
          <a:prstGeom prst="rect">
            <a:avLst/>
          </a:prstGeom>
          <a:noFill/>
          <a:ln/>
        </p:spPr>
        <p:txBody>
          <a:bodyPr wrap="square" lIns="0" tIns="0" rIns="0" bIns="0" rtlCol="0" anchor="ctr"/>
          <a:lstStyle/>
          <a:p>
            <a:pPr marL="0" indent="0">
              <a:lnSpc>
                <a:spcPct val="125000"/>
              </a:lnSpc>
              <a:buNone/>
            </a:pPr>
            <a:r>
              <a:rPr lang="en-US" sz="1150" b="1" dirty="0">
                <a:solidFill>
                  <a:srgbClr val="E4F3F2"/>
                </a:solidFill>
                <a:latin typeface="Calibri" pitchFamily="34" charset="0"/>
                <a:ea typeface="Calibri" pitchFamily="34" charset="-122"/>
                <a:cs typeface="Calibri" pitchFamily="34" charset="-120"/>
              </a:rPr>
              <a:t>The overall system is near-linear in corpus size, by design.  </a:t>
            </a:r>
            <a:r>
              <a:rPr lang="en-US" sz="1150" dirty="0">
                <a:solidFill>
                  <a:srgbClr val="FFFFFF"/>
                </a:solidFill>
                <a:latin typeface="Calibri" pitchFamily="34" charset="0"/>
                <a:ea typeface="Calibri" pitchFamily="34" charset="-122"/>
                <a:cs typeface="Calibri" pitchFamily="34" charset="-120"/>
              </a:rPr>
              <a:t>The only super-linear step (exact ILP) is deliberately kept off the production path — used solely for offline validation of the greedy approximation, which is what actually runs live. Space overhead is bounded by k (documents actually being fixed), never a full second copy of the corpus.</a:t>
            </a:r>
            <a:endParaRPr lang="en-US" sz="1150" dirty="0"/>
          </a:p>
        </p:txBody>
      </p:sp>
      <p:sp>
        <p:nvSpPr>
          <p:cNvPr id="8" name="Text 5"/>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9" name="Text 6"/>
          <p:cNvSpPr txBox="1"/>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TESTING, VALIDATION &amp; RISK ASSESSMENT</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marL="0" indent="0">
              <a:buNone/>
            </a:pPr>
            <a:r>
              <a:rPr lang="en-US" sz="3200" b="1" dirty="0">
                <a:solidFill>
                  <a:srgbClr val="1B2A56"/>
                </a:solidFill>
                <a:latin typeface="Cambria" pitchFamily="34" charset="0"/>
                <a:ea typeface="Cambria" pitchFamily="34" charset="-122"/>
                <a:cs typeface="Cambria" pitchFamily="34" charset="-120"/>
              </a:rPr>
              <a:t>Testing, Validation &amp; Risk Assessment</a:t>
            </a:r>
            <a:endParaRPr lang="en-US" sz="3200" dirty="0"/>
          </a:p>
        </p:txBody>
      </p:sp>
      <p:sp>
        <p:nvSpPr>
          <p:cNvPr id="4" name="Text 2"/>
          <p:cNvSpPr txBox="1"/>
          <p:nvPr/>
        </p:nvSpPr>
        <p:spPr>
          <a:xfrm>
            <a:off x="548640" y="1298448"/>
            <a:ext cx="10972800" cy="274320"/>
          </a:xfrm>
          <a:prstGeom prst="rect">
            <a:avLst/>
          </a:prstGeom>
          <a:noFill/>
          <a:ln/>
        </p:spPr>
        <p:txBody>
          <a:bodyPr wrap="square" lIns="0" tIns="0" rIns="0" bIns="0" rtlCol="0" anchor="ctr"/>
          <a:lstStyle/>
          <a:p>
            <a:pPr marL="0" indent="0">
              <a:buNone/>
            </a:pPr>
            <a:r>
              <a:rPr lang="en-US" sz="1050" i="1" dirty="0">
                <a:solidFill>
                  <a:srgbClr val="5A6472"/>
                </a:solidFill>
                <a:latin typeface="Calibri" pitchFamily="34" charset="0"/>
                <a:ea typeface="Calibri" pitchFamily="34" charset="-122"/>
                <a:cs typeface="Calibri" pitchFamily="34" charset="-120"/>
              </a:rPr>
              <a:t>Real reliability issues found through destructive testing at full scale (5,000 docs) — and fixed before this review.</a:t>
            </a:r>
            <a:endParaRPr lang="en-US" sz="1050" dirty="0"/>
          </a:p>
        </p:txBody>
      </p:sp>
      <p:sp>
        <p:nvSpPr>
          <p:cNvPr id="5" name="Shape 3"/>
          <p:cNvSpPr/>
          <p:nvPr/>
        </p:nvSpPr>
        <p:spPr>
          <a:xfrm>
            <a:off x="548640" y="1691640"/>
            <a:ext cx="11109960" cy="1170432"/>
          </a:xfrm>
          <a:prstGeom prst="roundRect">
            <a:avLst>
              <a:gd name="adj" fmla="val 6250"/>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6" name="Shape 4"/>
          <p:cNvSpPr/>
          <p:nvPr/>
        </p:nvSpPr>
        <p:spPr>
          <a:xfrm>
            <a:off x="777240" y="1837944"/>
            <a:ext cx="384048" cy="384048"/>
          </a:xfrm>
          <a:prstGeom prst="ellipse">
            <a:avLst/>
          </a:prstGeom>
          <a:solidFill>
            <a:srgbClr val="0E7C7B"/>
          </a:solidFill>
          <a:ln/>
        </p:spPr>
        <p:txBody>
          <a:bodyPr/>
          <a:lstStyle/>
          <a:p>
            <a:endParaRPr lang="en-US"/>
          </a:p>
        </p:txBody>
      </p:sp>
      <p:sp>
        <p:nvSpPr>
          <p:cNvPr id="7" name="Text 5"/>
          <p:cNvSpPr txBox="1"/>
          <p:nvPr/>
        </p:nvSpPr>
        <p:spPr>
          <a:xfrm>
            <a:off x="777240" y="183794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371600" y="1764792"/>
            <a:ext cx="3017520" cy="1024128"/>
          </a:xfrm>
          <a:prstGeom prst="rect">
            <a:avLst/>
          </a:prstGeom>
          <a:noFill/>
          <a:ln/>
        </p:spPr>
        <p:txBody>
          <a:bodyPr wrap="square" lIns="0" tIns="0" rIns="0" bIns="0" rtlCol="0" anchor="ctr"/>
          <a:lstStyle/>
          <a:p>
            <a:pPr marL="0" indent="0">
              <a:lnSpc>
                <a:spcPct val="110000"/>
              </a:lnSpc>
              <a:buNone/>
            </a:pPr>
            <a:r>
              <a:rPr lang="en-US" sz="1150" b="1" dirty="0">
                <a:solidFill>
                  <a:srgbClr val="B3261E"/>
                </a:solidFill>
                <a:latin typeface="Calibri" pitchFamily="34" charset="0"/>
                <a:ea typeface="Calibri" pitchFamily="34" charset="-122"/>
                <a:cs typeface="Calibri" pitchFamily="34" charset="-120"/>
              </a:rPr>
              <a:t>Shrinking-budget-pool stall</a:t>
            </a:r>
            <a:endParaRPr lang="en-US" sz="1150" dirty="0"/>
          </a:p>
        </p:txBody>
      </p:sp>
      <p:sp>
        <p:nvSpPr>
          <p:cNvPr id="9" name="Text 7"/>
          <p:cNvSpPr txBox="1"/>
          <p:nvPr/>
        </p:nvSpPr>
        <p:spPr>
          <a:xfrm>
            <a:off x="4526280" y="1764792"/>
            <a:ext cx="3703320" cy="1024128"/>
          </a:xfrm>
          <a:prstGeom prst="rect">
            <a:avLst/>
          </a:prstGeom>
          <a:noFill/>
          <a:ln/>
        </p:spPr>
        <p:txBody>
          <a:bodyPr wrap="square" lIns="0" tIns="0" rIns="0" bIns="0" rtlCol="0" anchor="ctr"/>
          <a:lstStyle/>
          <a:p>
            <a:pPr marL="0" indent="0">
              <a:lnSpc>
                <a:spcPct val="115000"/>
              </a:lnSpc>
              <a:buNone/>
            </a:pPr>
            <a:r>
              <a:rPr lang="en-US" sz="880" dirty="0">
                <a:solidFill>
                  <a:srgbClr val="20242E"/>
                </a:solidFill>
                <a:latin typeface="Calibri" pitchFamily="34" charset="0"/>
                <a:ea typeface="Calibri" pitchFamily="34" charset="-122"/>
                <a:cs typeface="Calibri" pitchFamily="34" charset="-120"/>
              </a:rPr>
              <a:t>Budget was computed from the shrinking remaining-candidate count each tick, so the absolute budget eventually fell below the cost of even one fix — stalling the incident just short of resolution.</a:t>
            </a:r>
            <a:endParaRPr lang="en-US" sz="880" dirty="0"/>
          </a:p>
        </p:txBody>
      </p:sp>
      <p:sp>
        <p:nvSpPr>
          <p:cNvPr id="10" name="Text 8"/>
          <p:cNvSpPr txBox="1"/>
          <p:nvPr/>
        </p:nvSpPr>
        <p:spPr>
          <a:xfrm>
            <a:off x="8366760" y="1764792"/>
            <a:ext cx="3200400" cy="1024128"/>
          </a:xfrm>
          <a:prstGeom prst="rect">
            <a:avLst/>
          </a:prstGeom>
          <a:noFill/>
          <a:ln/>
        </p:spPr>
        <p:txBody>
          <a:bodyPr wrap="square" lIns="0" tIns="0" rIns="0" bIns="0" rtlCol="0" anchor="ctr"/>
          <a:lstStyle/>
          <a:p>
            <a:pPr marL="0" indent="0">
              <a:lnSpc>
                <a:spcPct val="115000"/>
              </a:lnSpc>
              <a:buNone/>
            </a:pPr>
            <a:r>
              <a:rPr lang="en-US" sz="880" b="1" dirty="0">
                <a:solidFill>
                  <a:srgbClr val="1E824C"/>
                </a:solidFill>
                <a:latin typeface="Calibri" pitchFamily="34" charset="0"/>
                <a:ea typeface="Calibri" pitchFamily="34" charset="-122"/>
                <a:cs typeface="Calibri" pitchFamily="34" charset="-120"/>
              </a:rPr>
              <a:t>Fix:  </a:t>
            </a:r>
            <a:r>
              <a:rPr lang="en-US" sz="880" dirty="0">
                <a:solidFill>
                  <a:srgbClr val="20242E"/>
                </a:solidFill>
                <a:latin typeface="Calibri" pitchFamily="34" charset="0"/>
                <a:ea typeface="Calibri" pitchFamily="34" charset="-122"/>
                <a:cs typeface="Calibri" pitchFamily="34" charset="-120"/>
              </a:rPr>
              <a:t>Budget is now sized off a stable reference: the incident's initial flagged count, not the shrinking pool.</a:t>
            </a:r>
            <a:endParaRPr lang="en-US" sz="880" dirty="0"/>
          </a:p>
        </p:txBody>
      </p:sp>
      <p:sp>
        <p:nvSpPr>
          <p:cNvPr id="11" name="Shape 9"/>
          <p:cNvSpPr/>
          <p:nvPr/>
        </p:nvSpPr>
        <p:spPr>
          <a:xfrm>
            <a:off x="548640" y="2990088"/>
            <a:ext cx="11109960" cy="1170432"/>
          </a:xfrm>
          <a:prstGeom prst="roundRect">
            <a:avLst>
              <a:gd name="adj" fmla="val 6250"/>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12" name="Shape 10"/>
          <p:cNvSpPr/>
          <p:nvPr/>
        </p:nvSpPr>
        <p:spPr>
          <a:xfrm>
            <a:off x="777240" y="3136392"/>
            <a:ext cx="384048" cy="384048"/>
          </a:xfrm>
          <a:prstGeom prst="ellipse">
            <a:avLst/>
          </a:prstGeom>
          <a:solidFill>
            <a:srgbClr val="0E7C7B"/>
          </a:solidFill>
          <a:ln/>
        </p:spPr>
        <p:txBody>
          <a:bodyPr/>
          <a:lstStyle/>
          <a:p>
            <a:endParaRPr lang="en-US"/>
          </a:p>
        </p:txBody>
      </p:sp>
      <p:sp>
        <p:nvSpPr>
          <p:cNvPr id="13" name="Text 11"/>
          <p:cNvSpPr txBox="1"/>
          <p:nvPr/>
        </p:nvSpPr>
        <p:spPr>
          <a:xfrm>
            <a:off x="777240" y="313639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1371600" y="3063240"/>
            <a:ext cx="3017520" cy="1024128"/>
          </a:xfrm>
          <a:prstGeom prst="rect">
            <a:avLst/>
          </a:prstGeom>
          <a:noFill/>
          <a:ln/>
        </p:spPr>
        <p:txBody>
          <a:bodyPr wrap="square" lIns="0" tIns="0" rIns="0" bIns="0" rtlCol="0" anchor="ctr"/>
          <a:lstStyle/>
          <a:p>
            <a:pPr marL="0" indent="0">
              <a:lnSpc>
                <a:spcPct val="110000"/>
              </a:lnSpc>
              <a:buNone/>
            </a:pPr>
            <a:r>
              <a:rPr lang="en-US" sz="1150" b="1" dirty="0">
                <a:solidFill>
                  <a:srgbClr val="B3261E"/>
                </a:solidFill>
                <a:latin typeface="Calibri" pitchFamily="34" charset="0"/>
                <a:ea typeface="Calibri" pitchFamily="34" charset="-122"/>
                <a:cs typeface="Calibri" pitchFamily="34" charset="-120"/>
              </a:rPr>
              <a:t>Repeated re-scheduling of fixed documents</a:t>
            </a:r>
            <a:endParaRPr lang="en-US" sz="1150" dirty="0"/>
          </a:p>
        </p:txBody>
      </p:sp>
      <p:sp>
        <p:nvSpPr>
          <p:cNvPr id="15" name="Text 13"/>
          <p:cNvSpPr txBox="1"/>
          <p:nvPr/>
        </p:nvSpPr>
        <p:spPr>
          <a:xfrm>
            <a:off x="4526280" y="3063240"/>
            <a:ext cx="3703320" cy="1024128"/>
          </a:xfrm>
          <a:prstGeom prst="rect">
            <a:avLst/>
          </a:prstGeom>
          <a:noFill/>
          <a:ln/>
        </p:spPr>
        <p:txBody>
          <a:bodyPr wrap="square" lIns="0" tIns="0" rIns="0" bIns="0" rtlCol="0" anchor="ctr"/>
          <a:lstStyle/>
          <a:p>
            <a:pPr marL="0" indent="0">
              <a:lnSpc>
                <a:spcPct val="115000"/>
              </a:lnSpc>
              <a:buNone/>
            </a:pPr>
            <a:r>
              <a:rPr lang="en-US" sz="880" dirty="0">
                <a:solidFill>
                  <a:srgbClr val="20242E"/>
                </a:solidFill>
                <a:latin typeface="Calibri" pitchFamily="34" charset="0"/>
                <a:ea typeface="Calibri" pitchFamily="34" charset="-122"/>
                <a:cs typeface="Calibri" pitchFamily="34" charset="-120"/>
              </a:rPr>
              <a:t>A document already successfully remediated could be handed to the scheduler again if still flagged by residual noise, winning the zero-benefit tie-break every time and starving genuinely-contaminated documents of budget.</a:t>
            </a:r>
            <a:endParaRPr lang="en-US" sz="880" dirty="0"/>
          </a:p>
        </p:txBody>
      </p:sp>
      <p:sp>
        <p:nvSpPr>
          <p:cNvPr id="16" name="Text 14"/>
          <p:cNvSpPr txBox="1"/>
          <p:nvPr/>
        </p:nvSpPr>
        <p:spPr>
          <a:xfrm>
            <a:off x="8366760" y="3063240"/>
            <a:ext cx="3200400" cy="1024128"/>
          </a:xfrm>
          <a:prstGeom prst="rect">
            <a:avLst/>
          </a:prstGeom>
          <a:noFill/>
          <a:ln/>
        </p:spPr>
        <p:txBody>
          <a:bodyPr wrap="square" lIns="0" tIns="0" rIns="0" bIns="0" rtlCol="0" anchor="ctr"/>
          <a:lstStyle/>
          <a:p>
            <a:pPr marL="0" indent="0">
              <a:lnSpc>
                <a:spcPct val="115000"/>
              </a:lnSpc>
              <a:buNone/>
            </a:pPr>
            <a:r>
              <a:rPr lang="en-US" sz="880" b="1" dirty="0">
                <a:solidFill>
                  <a:srgbClr val="1E824C"/>
                </a:solidFill>
                <a:latin typeface="Calibri" pitchFamily="34" charset="0"/>
                <a:ea typeface="Calibri" pitchFamily="34" charset="-122"/>
                <a:cs typeface="Calibri" pitchFamily="34" charset="-120"/>
              </a:rPr>
              <a:t>Fix:  </a:t>
            </a:r>
            <a:r>
              <a:rPr lang="en-US" sz="880" dirty="0">
                <a:solidFill>
                  <a:srgbClr val="20242E"/>
                </a:solidFill>
                <a:latin typeface="Calibri" pitchFamily="34" charset="0"/>
                <a:ea typeface="Calibri" pitchFamily="34" charset="-122"/>
                <a:cs typeface="Calibri" pitchFamily="34" charset="-120"/>
              </a:rPr>
              <a:t>Remediated documents are now tracked with a monotonic flag and excluded from all future scheduling rounds.</a:t>
            </a:r>
            <a:endParaRPr lang="en-US" sz="880" dirty="0"/>
          </a:p>
        </p:txBody>
      </p:sp>
      <p:sp>
        <p:nvSpPr>
          <p:cNvPr id="17" name="Shape 15"/>
          <p:cNvSpPr/>
          <p:nvPr/>
        </p:nvSpPr>
        <p:spPr>
          <a:xfrm>
            <a:off x="548640" y="4288536"/>
            <a:ext cx="11109960" cy="1170432"/>
          </a:xfrm>
          <a:prstGeom prst="roundRect">
            <a:avLst>
              <a:gd name="adj" fmla="val 6250"/>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18" name="Shape 16"/>
          <p:cNvSpPr/>
          <p:nvPr/>
        </p:nvSpPr>
        <p:spPr>
          <a:xfrm>
            <a:off x="777240" y="4434840"/>
            <a:ext cx="384048" cy="384048"/>
          </a:xfrm>
          <a:prstGeom prst="ellipse">
            <a:avLst/>
          </a:prstGeom>
          <a:solidFill>
            <a:srgbClr val="0E7C7B"/>
          </a:solidFill>
          <a:ln/>
        </p:spPr>
        <p:txBody>
          <a:bodyPr/>
          <a:lstStyle/>
          <a:p>
            <a:endParaRPr lang="en-US"/>
          </a:p>
        </p:txBody>
      </p:sp>
      <p:sp>
        <p:nvSpPr>
          <p:cNvPr id="19" name="Text 17"/>
          <p:cNvSpPr txBox="1"/>
          <p:nvPr/>
        </p:nvSpPr>
        <p:spPr>
          <a:xfrm>
            <a:off x="777240" y="44348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txBox="1"/>
          <p:nvPr/>
        </p:nvSpPr>
        <p:spPr>
          <a:xfrm>
            <a:off x="1371600" y="4361688"/>
            <a:ext cx="3017520" cy="1024128"/>
          </a:xfrm>
          <a:prstGeom prst="rect">
            <a:avLst/>
          </a:prstGeom>
          <a:noFill/>
          <a:ln/>
        </p:spPr>
        <p:txBody>
          <a:bodyPr wrap="square" lIns="0" tIns="0" rIns="0" bIns="0" rtlCol="0" anchor="ctr"/>
          <a:lstStyle/>
          <a:p>
            <a:pPr marL="0" indent="0">
              <a:lnSpc>
                <a:spcPct val="110000"/>
              </a:lnSpc>
              <a:buNone/>
            </a:pPr>
            <a:r>
              <a:rPr lang="en-US" sz="1150" b="1" dirty="0">
                <a:solidFill>
                  <a:srgbClr val="B3261E"/>
                </a:solidFill>
                <a:latin typeface="Calibri" pitchFamily="34" charset="0"/>
                <a:ea typeface="Calibri" pitchFamily="34" charset="-122"/>
                <a:cs typeface="Calibri" pitchFamily="34" charset="-120"/>
              </a:rPr>
              <a:t>Infinite verification-retry loop</a:t>
            </a:r>
            <a:endParaRPr lang="en-US" sz="1150" dirty="0"/>
          </a:p>
        </p:txBody>
      </p:sp>
      <p:sp>
        <p:nvSpPr>
          <p:cNvPr id="21" name="Text 19"/>
          <p:cNvSpPr txBox="1"/>
          <p:nvPr/>
        </p:nvSpPr>
        <p:spPr>
          <a:xfrm>
            <a:off x="4526280" y="4361688"/>
            <a:ext cx="3703320" cy="1024128"/>
          </a:xfrm>
          <a:prstGeom prst="rect">
            <a:avLst/>
          </a:prstGeom>
          <a:noFill/>
          <a:ln/>
        </p:spPr>
        <p:txBody>
          <a:bodyPr wrap="square" lIns="0" tIns="0" rIns="0" bIns="0" rtlCol="0" anchor="ctr"/>
          <a:lstStyle/>
          <a:p>
            <a:pPr marL="0" indent="0">
              <a:lnSpc>
                <a:spcPct val="115000"/>
              </a:lnSpc>
              <a:buNone/>
            </a:pPr>
            <a:r>
              <a:rPr lang="en-US" sz="880" dirty="0">
                <a:solidFill>
                  <a:srgbClr val="20242E"/>
                </a:solidFill>
                <a:latin typeface="Calibri" pitchFamily="34" charset="0"/>
                <a:ea typeface="Calibri" pitchFamily="34" charset="-122"/>
                <a:cs typeface="Calibri" pitchFamily="34" charset="-120"/>
              </a:rPr>
              <a:t>Escalating budget on verification failure only helps when scarcity IS the cause. When a fix shifted ranking for an unrelated query, escalating forever stalled the incident permanently at maximum budget.</a:t>
            </a:r>
            <a:endParaRPr lang="en-US" sz="880" dirty="0"/>
          </a:p>
        </p:txBody>
      </p:sp>
      <p:sp>
        <p:nvSpPr>
          <p:cNvPr id="22" name="Text 20"/>
          <p:cNvSpPr txBox="1"/>
          <p:nvPr/>
        </p:nvSpPr>
        <p:spPr>
          <a:xfrm>
            <a:off x="8366760" y="4361688"/>
            <a:ext cx="3200400" cy="1024128"/>
          </a:xfrm>
          <a:prstGeom prst="rect">
            <a:avLst/>
          </a:prstGeom>
          <a:noFill/>
          <a:ln/>
        </p:spPr>
        <p:txBody>
          <a:bodyPr wrap="square" lIns="0" tIns="0" rIns="0" bIns="0" rtlCol="0" anchor="ctr"/>
          <a:lstStyle/>
          <a:p>
            <a:pPr marL="0" indent="0">
              <a:lnSpc>
                <a:spcPct val="115000"/>
              </a:lnSpc>
              <a:buNone/>
            </a:pPr>
            <a:r>
              <a:rPr lang="en-US" sz="880" b="1" dirty="0">
                <a:solidFill>
                  <a:srgbClr val="1E824C"/>
                </a:solidFill>
                <a:latin typeface="Calibri" pitchFamily="34" charset="0"/>
                <a:ea typeface="Calibri" pitchFamily="34" charset="-122"/>
                <a:cs typeface="Calibri" pitchFamily="34" charset="-120"/>
              </a:rPr>
              <a:t>Fix:  </a:t>
            </a:r>
            <a:r>
              <a:rPr lang="en-US" sz="880" dirty="0">
                <a:solidFill>
                  <a:srgbClr val="20242E"/>
                </a:solidFill>
                <a:latin typeface="Calibri" pitchFamily="34" charset="0"/>
                <a:ea typeface="Calibri" pitchFamily="34" charset="-122"/>
                <a:cs typeface="Calibri" pitchFamily="34" charset="-120"/>
              </a:rPr>
              <a:t>A MAX_CONSECUTIVE_FAILURES cap now defers the candidate for manual review instead of retrying forever.</a:t>
            </a:r>
            <a:endParaRPr lang="en-US" sz="880" dirty="0"/>
          </a:p>
        </p:txBody>
      </p:sp>
      <p:sp>
        <p:nvSpPr>
          <p:cNvPr id="23" name="Text 21"/>
          <p:cNvSpPr txBox="1"/>
          <p:nvPr/>
        </p:nvSpPr>
        <p:spPr>
          <a:xfrm>
            <a:off x="548640" y="5632704"/>
            <a:ext cx="11109960" cy="274320"/>
          </a:xfrm>
          <a:prstGeom prst="rect">
            <a:avLst/>
          </a:prstGeom>
          <a:noFill/>
          <a:ln/>
        </p:spPr>
        <p:txBody>
          <a:bodyPr wrap="square" lIns="0" tIns="0" rIns="0" bIns="0" rtlCol="0" anchor="ctr"/>
          <a:lstStyle/>
          <a:p>
            <a:pPr marL="0" indent="0">
              <a:buNone/>
            </a:pPr>
            <a:r>
              <a:rPr lang="en-US" sz="950" i="1" dirty="0">
                <a:solidFill>
                  <a:srgbClr val="5A6472"/>
                </a:solidFill>
                <a:latin typeface="Calibri" pitchFamily="34" charset="0"/>
                <a:ea typeface="Calibri" pitchFamily="34" charset="-122"/>
                <a:cs typeface="Calibri" pitchFamily="34" charset="-120"/>
              </a:rPr>
              <a:t>These are regression tests in our own test suite today — each bug can never silently reappear.</a:t>
            </a:r>
            <a:endParaRPr lang="en-US" sz="950" dirty="0"/>
          </a:p>
        </p:txBody>
      </p:sp>
      <p:sp>
        <p:nvSpPr>
          <p:cNvPr id="24" name="Text 22"/>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25" name="Text 23"/>
          <p:cNvSpPr txBox="1"/>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FEASIBILITY ANALYSIS</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marL="0" indent="0">
              <a:buNone/>
            </a:pPr>
            <a:r>
              <a:rPr lang="en-US" sz="3200" b="1" dirty="0">
                <a:solidFill>
                  <a:srgbClr val="1B2A56"/>
                </a:solidFill>
                <a:latin typeface="Cambria" pitchFamily="34" charset="0"/>
                <a:ea typeface="Cambria" pitchFamily="34" charset="-122"/>
                <a:cs typeface="Cambria" pitchFamily="34" charset="-120"/>
              </a:rPr>
              <a:t>Feasibility Analysis — Now Evidence-Based</a:t>
            </a:r>
            <a:endParaRPr lang="en-US" sz="3200" dirty="0"/>
          </a:p>
        </p:txBody>
      </p:sp>
      <p:sp>
        <p:nvSpPr>
          <p:cNvPr id="4" name="Text 2"/>
          <p:cNvSpPr txBox="1"/>
          <p:nvPr/>
        </p:nvSpPr>
        <p:spPr>
          <a:xfrm>
            <a:off x="548640" y="1298448"/>
            <a:ext cx="10972800" cy="274320"/>
          </a:xfrm>
          <a:prstGeom prst="rect">
            <a:avLst/>
          </a:prstGeom>
          <a:noFill/>
          <a:ln/>
        </p:spPr>
        <p:txBody>
          <a:bodyPr wrap="square" lIns="0" tIns="0" rIns="0" bIns="0" rtlCol="0" anchor="ctr"/>
          <a:lstStyle/>
          <a:p>
            <a:pPr marL="0" indent="0">
              <a:buNone/>
            </a:pPr>
            <a:r>
              <a:rPr lang="en-US" sz="1150" i="1" dirty="0">
                <a:solidFill>
                  <a:srgbClr val="5A6472"/>
                </a:solidFill>
                <a:latin typeface="Calibri" pitchFamily="34" charset="0"/>
                <a:ea typeface="Calibri" pitchFamily="34" charset="-122"/>
                <a:cs typeface="Calibri" pitchFamily="34" charset="-120"/>
              </a:rPr>
              <a:t>At Review I this was an argument. Today it's a measurement.</a:t>
            </a:r>
            <a:endParaRPr lang="en-US" sz="1150" dirty="0"/>
          </a:p>
        </p:txBody>
      </p:sp>
      <p:sp>
        <p:nvSpPr>
          <p:cNvPr id="5" name="Shape 3"/>
          <p:cNvSpPr/>
          <p:nvPr/>
        </p:nvSpPr>
        <p:spPr>
          <a:xfrm>
            <a:off x="548640" y="1691640"/>
            <a:ext cx="11109960" cy="841248"/>
          </a:xfrm>
          <a:prstGeom prst="roundRect">
            <a:avLst>
              <a:gd name="adj" fmla="val 8696"/>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6" name="Text 4"/>
          <p:cNvSpPr txBox="1"/>
          <p:nvPr/>
        </p:nvSpPr>
        <p:spPr>
          <a:xfrm>
            <a:off x="777240" y="1691640"/>
            <a:ext cx="10607040" cy="841248"/>
          </a:xfrm>
          <a:prstGeom prst="rect">
            <a:avLst/>
          </a:prstGeom>
          <a:noFill/>
          <a:ln/>
        </p:spPr>
        <p:txBody>
          <a:bodyPr wrap="square" lIns="0" tIns="0" rIns="0" bIns="0" rtlCol="0" anchor="ctr"/>
          <a:lstStyle/>
          <a:p>
            <a:pPr marL="0" indent="0">
              <a:lnSpc>
                <a:spcPct val="120000"/>
              </a:lnSpc>
              <a:buNone/>
            </a:pPr>
            <a:r>
              <a:rPr lang="en-US" sz="1030" b="1" dirty="0">
                <a:solidFill>
                  <a:srgbClr val="1B2A56"/>
                </a:solidFill>
                <a:latin typeface="Calibri" pitchFamily="34" charset="0"/>
                <a:ea typeface="Calibri" pitchFamily="34" charset="-122"/>
                <a:cs typeface="Calibri" pitchFamily="34" charset="-120"/>
              </a:rPr>
              <a:t>Standard, proven components — </a:t>
            </a:r>
            <a:r>
              <a:rPr lang="en-US" sz="1030" dirty="0">
                <a:solidFill>
                  <a:srgbClr val="20242E"/>
                </a:solidFill>
                <a:latin typeface="Calibri" pitchFamily="34" charset="0"/>
                <a:ea typeface="Calibri" pitchFamily="34" charset="-122"/>
                <a:cs typeface="Calibri" pitchFamily="34" charset="-120"/>
              </a:rPr>
              <a:t>sentence-transformers, scikit-learn, numpy, an off-the-shelf ILP solver, Streamlit — every component is a well-documented tool. No custom infrastructure was needed to reach these results.</a:t>
            </a:r>
            <a:endParaRPr lang="en-US" sz="1030" dirty="0"/>
          </a:p>
        </p:txBody>
      </p:sp>
      <p:sp>
        <p:nvSpPr>
          <p:cNvPr id="7" name="Shape 5"/>
          <p:cNvSpPr/>
          <p:nvPr/>
        </p:nvSpPr>
        <p:spPr>
          <a:xfrm>
            <a:off x="548640" y="2624328"/>
            <a:ext cx="11109960" cy="841248"/>
          </a:xfrm>
          <a:prstGeom prst="roundRect">
            <a:avLst>
              <a:gd name="adj" fmla="val 8696"/>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8" name="Text 6"/>
          <p:cNvSpPr txBox="1"/>
          <p:nvPr/>
        </p:nvSpPr>
        <p:spPr>
          <a:xfrm>
            <a:off x="777240" y="2624328"/>
            <a:ext cx="10607040" cy="841248"/>
          </a:xfrm>
          <a:prstGeom prst="rect">
            <a:avLst/>
          </a:prstGeom>
          <a:noFill/>
          <a:ln/>
        </p:spPr>
        <p:txBody>
          <a:bodyPr wrap="square" lIns="0" tIns="0" rIns="0" bIns="0" rtlCol="0" anchor="ctr"/>
          <a:lstStyle/>
          <a:p>
            <a:pPr marL="0" indent="0">
              <a:lnSpc>
                <a:spcPct val="120000"/>
              </a:lnSpc>
              <a:buNone/>
            </a:pPr>
            <a:r>
              <a:rPr lang="en-US" sz="1030" b="1" dirty="0">
                <a:solidFill>
                  <a:srgbClr val="1B2A56"/>
                </a:solidFill>
                <a:latin typeface="Calibri" pitchFamily="34" charset="0"/>
                <a:ea typeface="Calibri" pitchFamily="34" charset="-122"/>
                <a:cs typeface="Calibri" pitchFamily="34" charset="-120"/>
              </a:rPr>
              <a:t>Bounded compute cost — proven, not just argued — </a:t>
            </a:r>
            <a:r>
              <a:rPr lang="en-US" sz="1030" dirty="0">
                <a:solidFill>
                  <a:srgbClr val="20242E"/>
                </a:solidFill>
                <a:latin typeface="Calibri" pitchFamily="34" charset="0"/>
                <a:ea typeface="Calibri" pitchFamily="34" charset="-122"/>
                <a:cs typeface="Calibri" pitchFamily="34" charset="-120"/>
              </a:rPr>
              <a:t>Detection under 0.6s for the full benchmark; frontier-greedy scheduling near-linear and measured within 0.14% of optimal; migration/verification bounded by contamination scope. Full breakdown on the Complexity slide.</a:t>
            </a:r>
            <a:endParaRPr lang="en-US" sz="1030" dirty="0"/>
          </a:p>
        </p:txBody>
      </p:sp>
      <p:sp>
        <p:nvSpPr>
          <p:cNvPr id="9" name="Shape 7"/>
          <p:cNvSpPr/>
          <p:nvPr/>
        </p:nvSpPr>
        <p:spPr>
          <a:xfrm>
            <a:off x="548640" y="3557016"/>
            <a:ext cx="11109960" cy="841248"/>
          </a:xfrm>
          <a:prstGeom prst="roundRect">
            <a:avLst>
              <a:gd name="adj" fmla="val 8696"/>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10" name="Text 8"/>
          <p:cNvSpPr txBox="1"/>
          <p:nvPr/>
        </p:nvSpPr>
        <p:spPr>
          <a:xfrm>
            <a:off x="777240" y="3557016"/>
            <a:ext cx="10607040" cy="841248"/>
          </a:xfrm>
          <a:prstGeom prst="rect">
            <a:avLst/>
          </a:prstGeom>
          <a:noFill/>
          <a:ln/>
        </p:spPr>
        <p:txBody>
          <a:bodyPr wrap="square" lIns="0" tIns="0" rIns="0" bIns="0" rtlCol="0" anchor="ctr"/>
          <a:lstStyle/>
          <a:p>
            <a:pPr marL="0" indent="0">
              <a:lnSpc>
                <a:spcPct val="120000"/>
              </a:lnSpc>
              <a:buNone/>
            </a:pPr>
            <a:r>
              <a:rPr lang="en-US" sz="1030" b="1" dirty="0">
                <a:solidFill>
                  <a:srgbClr val="1B2A56"/>
                </a:solidFill>
                <a:latin typeface="Calibri" pitchFamily="34" charset="0"/>
                <a:ea typeface="Calibri" pitchFamily="34" charset="-122"/>
                <a:cs typeface="Calibri" pitchFamily="34" charset="-120"/>
              </a:rPr>
              <a:t>Built end-to-end on a real, non-trivial benchmark — </a:t>
            </a:r>
            <a:r>
              <a:rPr lang="en-US" sz="1030" dirty="0">
                <a:solidFill>
                  <a:srgbClr val="20242E"/>
                </a:solidFill>
                <a:latin typeface="Calibri" pitchFamily="34" charset="0"/>
                <a:ea typeface="Calibri" pitchFamily="34" charset="-122"/>
                <a:cs typeface="Calibri" pitchFamily="34" charset="-120"/>
              </a:rPr>
              <a:t>Five thousand documents from BEIR SciFact, thirty ratio-by-budget scenarios run to completion — not a toy example, not a partial prototype.</a:t>
            </a:r>
            <a:endParaRPr lang="en-US" sz="1030" dirty="0"/>
          </a:p>
        </p:txBody>
      </p:sp>
      <p:sp>
        <p:nvSpPr>
          <p:cNvPr id="11" name="Shape 9"/>
          <p:cNvSpPr/>
          <p:nvPr/>
        </p:nvSpPr>
        <p:spPr>
          <a:xfrm>
            <a:off x="548640" y="4489704"/>
            <a:ext cx="11109960" cy="841248"/>
          </a:xfrm>
          <a:prstGeom prst="roundRect">
            <a:avLst>
              <a:gd name="adj" fmla="val 8696"/>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12" name="Text 10"/>
          <p:cNvSpPr txBox="1"/>
          <p:nvPr/>
        </p:nvSpPr>
        <p:spPr>
          <a:xfrm>
            <a:off x="777240" y="4489704"/>
            <a:ext cx="10607040" cy="841248"/>
          </a:xfrm>
          <a:prstGeom prst="rect">
            <a:avLst/>
          </a:prstGeom>
          <a:noFill/>
          <a:ln/>
        </p:spPr>
        <p:txBody>
          <a:bodyPr wrap="square" lIns="0" tIns="0" rIns="0" bIns="0" rtlCol="0" anchor="ctr"/>
          <a:lstStyle/>
          <a:p>
            <a:pPr marL="0" indent="0">
              <a:lnSpc>
                <a:spcPct val="120000"/>
              </a:lnSpc>
              <a:buNone/>
            </a:pPr>
            <a:r>
              <a:rPr lang="en-US" sz="1030" b="1" dirty="0">
                <a:solidFill>
                  <a:srgbClr val="1B2A56"/>
                </a:solidFill>
                <a:latin typeface="Calibri" pitchFamily="34" charset="0"/>
                <a:ea typeface="Calibri" pitchFamily="34" charset="-122"/>
                <a:cs typeface="Calibri" pitchFamily="34" charset="-120"/>
              </a:rPr>
              <a:t>Autonomous operation validated end-to-end — </a:t>
            </a:r>
            <a:r>
              <a:rPr lang="en-US" sz="1030" dirty="0">
                <a:solidFill>
                  <a:srgbClr val="20242E"/>
                </a:solidFill>
                <a:latin typeface="Calibri" pitchFamily="34" charset="0"/>
                <a:ea typeface="Calibri" pitchFamily="34" charset="-122"/>
                <a:cs typeface="Calibri" pitchFamily="34" charset="-120"/>
              </a:rPr>
              <a:t>The full detect-alert-schedule-migrate-verify-clear loop runs unattended after a single manual trigger, confirmed on the real 5,000-document benchmark.</a:t>
            </a:r>
            <a:endParaRPr lang="en-US" sz="1030" dirty="0"/>
          </a:p>
        </p:txBody>
      </p:sp>
      <p:sp>
        <p:nvSpPr>
          <p:cNvPr id="13" name="Shape 11"/>
          <p:cNvSpPr/>
          <p:nvPr/>
        </p:nvSpPr>
        <p:spPr>
          <a:xfrm>
            <a:off x="548640" y="5422392"/>
            <a:ext cx="11109960" cy="841248"/>
          </a:xfrm>
          <a:prstGeom prst="roundRect">
            <a:avLst>
              <a:gd name="adj" fmla="val 8696"/>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14" name="Text 12"/>
          <p:cNvSpPr txBox="1"/>
          <p:nvPr/>
        </p:nvSpPr>
        <p:spPr>
          <a:xfrm>
            <a:off x="777240" y="5422392"/>
            <a:ext cx="10607040" cy="841248"/>
          </a:xfrm>
          <a:prstGeom prst="rect">
            <a:avLst/>
          </a:prstGeom>
          <a:noFill/>
          <a:ln/>
        </p:spPr>
        <p:txBody>
          <a:bodyPr wrap="square" lIns="0" tIns="0" rIns="0" bIns="0" rtlCol="0" anchor="ctr"/>
          <a:lstStyle/>
          <a:p>
            <a:pPr marL="0" indent="0">
              <a:lnSpc>
                <a:spcPct val="120000"/>
              </a:lnSpc>
              <a:buNone/>
            </a:pPr>
            <a:r>
              <a:rPr lang="en-US" sz="1030" b="1" dirty="0">
                <a:solidFill>
                  <a:srgbClr val="1B2A56"/>
                </a:solidFill>
                <a:latin typeface="Calibri" pitchFamily="34" charset="0"/>
                <a:ea typeface="Calibri" pitchFamily="34" charset="-122"/>
                <a:cs typeface="Calibri" pitchFamily="34" charset="-120"/>
              </a:rPr>
              <a:t>A build order that was actually validated by testing — </a:t>
            </a:r>
            <a:r>
              <a:rPr lang="en-US" sz="1030" dirty="0">
                <a:solidFill>
                  <a:srgbClr val="20242E"/>
                </a:solidFill>
                <a:latin typeface="Calibri" pitchFamily="34" charset="0"/>
                <a:ea typeface="Calibri" pitchFamily="34" charset="-122"/>
                <a:cs typeface="Calibri" pitchFamily="34" charset="-120"/>
              </a:rPr>
              <a:t>Three real reliability bugs were found and fixed during full-scale testing — evidence the modular, dependency-ordered build plan actually works in practice, not just on paper.</a:t>
            </a:r>
            <a:endParaRPr lang="en-US" sz="1030" dirty="0"/>
          </a:p>
        </p:txBody>
      </p:sp>
      <p:sp>
        <p:nvSpPr>
          <p:cNvPr id="15" name="Text 13"/>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16" name="Text 14"/>
          <p:cNvSpPr txBox="1"/>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NOVELTY OF THE PROPOSED WORK</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marL="0" indent="0">
              <a:buNone/>
            </a:pPr>
            <a:r>
              <a:rPr lang="en-US" sz="3200" b="1" dirty="0">
                <a:solidFill>
                  <a:srgbClr val="1B2A56"/>
                </a:solidFill>
                <a:latin typeface="Cambria" pitchFamily="34" charset="0"/>
                <a:ea typeface="Cambria" pitchFamily="34" charset="-122"/>
                <a:cs typeface="Cambria" pitchFamily="34" charset="-120"/>
              </a:rPr>
              <a:t>Novelty — Now Validated, Not Just Argued</a:t>
            </a:r>
            <a:endParaRPr lang="en-US" sz="3200" dirty="0"/>
          </a:p>
        </p:txBody>
      </p:sp>
      <p:sp>
        <p:nvSpPr>
          <p:cNvPr id="4" name="Shape 2"/>
          <p:cNvSpPr/>
          <p:nvPr/>
        </p:nvSpPr>
        <p:spPr>
          <a:xfrm>
            <a:off x="548640" y="1600200"/>
            <a:ext cx="11109960" cy="2331720"/>
          </a:xfrm>
          <a:prstGeom prst="roundRect">
            <a:avLst>
              <a:gd name="adj" fmla="val 3137"/>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5" name="Shape 3"/>
          <p:cNvSpPr/>
          <p:nvPr/>
        </p:nvSpPr>
        <p:spPr>
          <a:xfrm>
            <a:off x="777240" y="1801368"/>
            <a:ext cx="1828800" cy="457200"/>
          </a:xfrm>
          <a:prstGeom prst="roundRect">
            <a:avLst>
              <a:gd name="adj" fmla="val 18000"/>
            </a:avLst>
          </a:prstGeom>
          <a:solidFill>
            <a:srgbClr val="0E7C7B"/>
          </a:solidFill>
          <a:ln/>
        </p:spPr>
        <p:txBody>
          <a:bodyPr/>
          <a:lstStyle/>
          <a:p>
            <a:endParaRPr lang="en-US"/>
          </a:p>
        </p:txBody>
      </p:sp>
      <p:sp>
        <p:nvSpPr>
          <p:cNvPr id="6" name="Text 4"/>
          <p:cNvSpPr txBox="1"/>
          <p:nvPr/>
        </p:nvSpPr>
        <p:spPr>
          <a:xfrm>
            <a:off x="777240" y="1801368"/>
            <a:ext cx="1828800" cy="45720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Novelty</a:t>
            </a:r>
            <a:endParaRPr lang="en-US" sz="1350" dirty="0"/>
          </a:p>
        </p:txBody>
      </p:sp>
      <p:sp>
        <p:nvSpPr>
          <p:cNvPr id="7" name="Text 5"/>
          <p:cNvSpPr txBox="1"/>
          <p:nvPr/>
        </p:nvSpPr>
        <p:spPr>
          <a:xfrm>
            <a:off x="2880360" y="1737360"/>
            <a:ext cx="8549640" cy="2103120"/>
          </a:xfrm>
          <a:prstGeom prst="rect">
            <a:avLst/>
          </a:prstGeom>
          <a:noFill/>
          <a:ln/>
        </p:spPr>
        <p:txBody>
          <a:bodyPr wrap="square" lIns="0" tIns="0" rIns="0" bIns="0" rtlCol="0" anchor="ctr"/>
          <a:lstStyle/>
          <a:p>
            <a:pPr marL="342900" indent="-342900">
              <a:lnSpc>
                <a:spcPct val="113000"/>
              </a:lnSpc>
              <a:spcAft>
                <a:spcPts val="700"/>
              </a:spcAft>
              <a:buSzPct val="100000"/>
              <a:buChar char="•"/>
            </a:pPr>
            <a:r>
              <a:rPr lang="en-US" sz="980" dirty="0">
                <a:solidFill>
                  <a:srgbClr val="20242E"/>
                </a:solidFill>
                <a:latin typeface="Calibri" pitchFamily="34" charset="0"/>
                <a:ea typeface="Calibri" pitchFamily="34" charset="-122"/>
                <a:cs typeface="Calibri" pitchFamily="34" charset="-120"/>
              </a:rPr>
              <a:t>First application (to our literature) of a Multiple-Choice Knapsack formulation to embedding-contamination remediation — now measured at 0.00% mean optimality gap (max 0.14%) against the exact solver.</a:t>
            </a:r>
            <a:endParaRPr lang="en-US" sz="980" dirty="0"/>
          </a:p>
          <a:p>
            <a:pPr marL="342900" indent="-342900">
              <a:lnSpc>
                <a:spcPct val="113000"/>
              </a:lnSpc>
              <a:spcAft>
                <a:spcPts val="700"/>
              </a:spcAft>
              <a:buSzPct val="100000"/>
              <a:buChar char="•"/>
            </a:pPr>
            <a:r>
              <a:rPr lang="en-US" sz="980" dirty="0">
                <a:solidFill>
                  <a:srgbClr val="20242E"/>
                </a:solidFill>
                <a:latin typeface="Calibri" pitchFamily="34" charset="0"/>
                <a:ea typeface="Calibri" pitchFamily="34" charset="-122"/>
                <a:cs typeface="Calibri" pitchFamily="34" charset="-120"/>
              </a:rPr>
              <a:t>A formal 3-way action space {Full Re-embed, Patch, Defer} where every reviewed prior work offers only a binary or single-fix choice — implemented and exercised across all 30 test scenarios.</a:t>
            </a:r>
            <a:endParaRPr lang="en-US" sz="980" dirty="0"/>
          </a:p>
          <a:p>
            <a:pPr marL="342900" indent="-342900">
              <a:lnSpc>
                <a:spcPct val="113000"/>
              </a:lnSpc>
              <a:spcAft>
                <a:spcPts val="700"/>
              </a:spcAft>
              <a:buSzPct val="100000"/>
              <a:buChar char="•"/>
            </a:pPr>
            <a:r>
              <a:rPr lang="en-US" sz="980" dirty="0">
                <a:solidFill>
                  <a:srgbClr val="20242E"/>
                </a:solidFill>
                <a:latin typeface="Calibri" pitchFamily="34" charset="0"/>
                <a:ea typeface="Calibri" pitchFamily="34" charset="-122"/>
                <a:cs typeface="Calibri" pitchFamily="34" charset="-120"/>
              </a:rPr>
              <a:t>A closed detect → prioritize → migrate → verify loop with an automated safety gate — proven by 10 real, correct aborts in testing, not a theoretical claim.</a:t>
            </a:r>
            <a:endParaRPr lang="en-US" sz="980" dirty="0"/>
          </a:p>
        </p:txBody>
      </p:sp>
      <p:sp>
        <p:nvSpPr>
          <p:cNvPr id="8" name="Shape 6"/>
          <p:cNvSpPr/>
          <p:nvPr/>
        </p:nvSpPr>
        <p:spPr>
          <a:xfrm>
            <a:off x="548640" y="4114800"/>
            <a:ext cx="11109960" cy="2331720"/>
          </a:xfrm>
          <a:prstGeom prst="roundRect">
            <a:avLst>
              <a:gd name="adj" fmla="val 3137"/>
            </a:avLst>
          </a:prstGeom>
          <a:solidFill>
            <a:srgbClr val="F4F7FC"/>
          </a:solidFill>
          <a:ln/>
          <a:effectLst>
            <a:outerShdw blurRad="101600" dist="38100" dir="5400000" algn="bl" rotWithShape="0">
              <a:srgbClr val="1B2A56">
                <a:alpha val="12000"/>
              </a:srgbClr>
            </a:outerShdw>
          </a:effectLst>
        </p:spPr>
        <p:txBody>
          <a:bodyPr/>
          <a:lstStyle/>
          <a:p>
            <a:endParaRPr lang="en-US"/>
          </a:p>
        </p:txBody>
      </p:sp>
      <p:sp>
        <p:nvSpPr>
          <p:cNvPr id="9" name="Shape 7"/>
          <p:cNvSpPr/>
          <p:nvPr/>
        </p:nvSpPr>
        <p:spPr>
          <a:xfrm>
            <a:off x="777240" y="4315968"/>
            <a:ext cx="1828800" cy="457200"/>
          </a:xfrm>
          <a:prstGeom prst="roundRect">
            <a:avLst>
              <a:gd name="adj" fmla="val 18000"/>
            </a:avLst>
          </a:prstGeom>
          <a:solidFill>
            <a:srgbClr val="C97A22"/>
          </a:solidFill>
          <a:ln/>
        </p:spPr>
        <p:txBody>
          <a:bodyPr/>
          <a:lstStyle/>
          <a:p>
            <a:endParaRPr lang="en-US"/>
          </a:p>
        </p:txBody>
      </p:sp>
      <p:sp>
        <p:nvSpPr>
          <p:cNvPr id="10" name="Text 8"/>
          <p:cNvSpPr txBox="1"/>
          <p:nvPr/>
        </p:nvSpPr>
        <p:spPr>
          <a:xfrm>
            <a:off x="777240" y="4315968"/>
            <a:ext cx="1828800" cy="45720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Creativity</a:t>
            </a:r>
            <a:endParaRPr lang="en-US" sz="1350" dirty="0"/>
          </a:p>
        </p:txBody>
      </p:sp>
      <p:sp>
        <p:nvSpPr>
          <p:cNvPr id="11" name="Text 9"/>
          <p:cNvSpPr txBox="1"/>
          <p:nvPr/>
        </p:nvSpPr>
        <p:spPr>
          <a:xfrm>
            <a:off x="2880360" y="4251960"/>
            <a:ext cx="8549640" cy="2103120"/>
          </a:xfrm>
          <a:prstGeom prst="rect">
            <a:avLst/>
          </a:prstGeom>
          <a:noFill/>
          <a:ln/>
        </p:spPr>
        <p:txBody>
          <a:bodyPr wrap="square" lIns="0" tIns="0" rIns="0" bIns="0" rtlCol="0" anchor="ctr"/>
          <a:lstStyle/>
          <a:p>
            <a:pPr marL="342900" indent="-342900">
              <a:lnSpc>
                <a:spcPct val="113000"/>
              </a:lnSpc>
              <a:spcAft>
                <a:spcPts val="700"/>
              </a:spcAft>
              <a:buSzPct val="100000"/>
              <a:buChar char="•"/>
            </a:pPr>
            <a:r>
              <a:rPr lang="en-US" sz="980" dirty="0">
                <a:solidFill>
                  <a:srgbClr val="20242E"/>
                </a:solidFill>
                <a:latin typeface="Calibri" pitchFamily="34" charset="0"/>
                <a:ea typeface="Calibri" pitchFamily="34" charset="-122"/>
                <a:cs typeface="Calibri" pitchFamily="34" charset="-120"/>
              </a:rPr>
              <a:t>Reframing 'which documents to fix' as a combinatorial-optimization problem rather than a heuristic ranking rule — validated: naive heuristic sorting was 88% wrong; our knapsack-based scheduler was within 0.14%.</a:t>
            </a:r>
            <a:endParaRPr lang="en-US" sz="980" dirty="0"/>
          </a:p>
          <a:p>
            <a:pPr marL="342900" indent="-342900">
              <a:lnSpc>
                <a:spcPct val="113000"/>
              </a:lnSpc>
              <a:spcAft>
                <a:spcPts val="700"/>
              </a:spcAft>
              <a:buSzPct val="100000"/>
              <a:buChar char="•"/>
            </a:pPr>
            <a:r>
              <a:rPr lang="en-US" sz="980" dirty="0">
                <a:solidFill>
                  <a:srgbClr val="20242E"/>
                </a:solidFill>
                <a:latin typeface="Calibri" pitchFamily="34" charset="0"/>
                <a:ea typeface="Calibri" pitchFamily="34" charset="-122"/>
                <a:cs typeface="Calibri" pitchFamily="34" charset="-120"/>
              </a:rPr>
              <a:t>Traffic-weighting severity via a Zipf-distributed traffic model (Breslau et al., 1999) — built into every one of our 30 evaluated scenarios.</a:t>
            </a:r>
            <a:endParaRPr lang="en-US" sz="980" dirty="0"/>
          </a:p>
          <a:p>
            <a:pPr marL="342900" indent="-342900">
              <a:lnSpc>
                <a:spcPct val="113000"/>
              </a:lnSpc>
              <a:spcAft>
                <a:spcPts val="700"/>
              </a:spcAft>
              <a:buSzPct val="100000"/>
              <a:buChar char="•"/>
            </a:pPr>
            <a:r>
              <a:rPr lang="en-US" sz="980" dirty="0">
                <a:solidFill>
                  <a:srgbClr val="20242E"/>
                </a:solidFill>
                <a:latin typeface="Calibri" pitchFamily="34" charset="0"/>
                <a:ea typeface="Calibri" pitchFamily="34" charset="-122"/>
                <a:cs typeface="Calibri" pitchFamily="34" charset="-120"/>
              </a:rPr>
              <a:t>The Defer action as a first-class, mathematically justified choice — actually exercised in the built scheduler's real output across every tested ratio.</a:t>
            </a:r>
            <a:endParaRPr lang="en-US" sz="980" dirty="0"/>
          </a:p>
        </p:txBody>
      </p:sp>
      <p:sp>
        <p:nvSpPr>
          <p:cNvPr id="12" name="Text 10"/>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13" name="Text 11"/>
          <p:cNvSpPr txBox="1"/>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0E7C7B"/>
                </a:solidFill>
                <a:latin typeface="Calibri" pitchFamily="34" charset="0"/>
                <a:ea typeface="Calibri" pitchFamily="34" charset="-122"/>
                <a:cs typeface="Calibri" pitchFamily="34" charset="-120"/>
              </a:rPr>
              <a:t>REFERENCES</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marL="0" indent="0">
              <a:buNone/>
            </a:pPr>
            <a:r>
              <a:rPr lang="en-US" sz="3200" b="1" dirty="0">
                <a:solidFill>
                  <a:srgbClr val="1B2A56"/>
                </a:solidFill>
                <a:latin typeface="Cambria" pitchFamily="34" charset="0"/>
                <a:ea typeface="Cambria" pitchFamily="34" charset="-122"/>
                <a:cs typeface="Cambria" pitchFamily="34" charset="-120"/>
              </a:rPr>
              <a:t>References (APA)</a:t>
            </a:r>
            <a:endParaRPr lang="en-US" sz="3200" dirty="0"/>
          </a:p>
        </p:txBody>
      </p:sp>
      <p:sp>
        <p:nvSpPr>
          <p:cNvPr id="4" name="Text 2"/>
          <p:cNvSpPr txBox="1"/>
          <p:nvPr/>
        </p:nvSpPr>
        <p:spPr>
          <a:xfrm>
            <a:off x="548640" y="1280160"/>
            <a:ext cx="10972800" cy="27432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All 15 sources — abbreviated per guideline space constraints; full annotated list in the supporting document.</a:t>
            </a:r>
            <a:endParaRPr lang="en-US" sz="1000" dirty="0"/>
          </a:p>
        </p:txBody>
      </p:sp>
      <p:sp>
        <p:nvSpPr>
          <p:cNvPr id="5" name="Text 3"/>
          <p:cNvSpPr txBox="1"/>
          <p:nvPr/>
        </p:nvSpPr>
        <p:spPr>
          <a:xfrm>
            <a:off x="548640" y="1691640"/>
            <a:ext cx="11109960" cy="4709160"/>
          </a:xfrm>
          <a:prstGeom prst="rect">
            <a:avLst/>
          </a:prstGeom>
          <a:noFill/>
          <a:ln/>
        </p:spPr>
        <p:txBody>
          <a:bodyPr wrap="square" lIns="0" tIns="0" rIns="0" bIns="0" rtlCol="0" anchor="ctr"/>
          <a:lstStyle/>
          <a:p>
            <a:pPr marL="0" indent="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Breslau, L., Cao, P., Fan, L., Phillips, G., &amp; Shenker, S. (1999). Web caching and Zipf-like distributions: Evidence and implications. IEEE INFOCOM.</a:t>
            </a:r>
            <a:endParaRPr lang="en-US" sz="860" dirty="0"/>
          </a:p>
          <a:p>
            <a:pPr marL="0" indent="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Breunig, M. M., Kriegel, H.-P., Ng, R. T., &amp; Sander, J. (2000). LOF: Identifying density-based local outliers. ACM SIGMOD.</a:t>
            </a:r>
            <a:endParaRPr lang="en-US" sz="860" dirty="0"/>
          </a:p>
          <a:p>
            <a:pPr marL="0" indent="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Fuster Baggetto, A., &amp; Fresno, V. (2022). Is anisotropy truly harmful for dense retrieval? Findings of ACL: EMNLP 2022.</a:t>
            </a:r>
            <a:endParaRPr lang="en-US" sz="860" dirty="0"/>
          </a:p>
          <a:p>
            <a:pPr marL="0" indent="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Hu, Y., Bansal, S., Cao, K., Rao, R., Subbian, K., &amp; Leskovec, J. (2022). Learning backward compatible embeddings. ACM KDD.</a:t>
            </a:r>
            <a:endParaRPr lang="en-US" sz="860" dirty="0"/>
          </a:p>
          <a:p>
            <a:pPr marL="0" indent="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Karval, R., &amp; Singh, A. (2023). Silent failures in machine learning production systems. IEEE Conference Publication.</a:t>
            </a:r>
            <a:endParaRPr lang="en-US" sz="860" dirty="0"/>
          </a:p>
          <a:p>
            <a:pPr marL="0" indent="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Lample, G., Conneau, A., Ranzato, M., Denoyer, L., &amp; Jégou, H. (2018). Word translation without parallel data (MUSE). ICLR.</a:t>
            </a:r>
            <a:endParaRPr lang="en-US" sz="860" dirty="0"/>
          </a:p>
          <a:p>
            <a:pPr marL="0" indent="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Liu, F. T., Ting, K. M., &amp; Zhou, Z.-H. (2008). Isolation forest. IEEE ICDM.</a:t>
            </a:r>
            <a:endParaRPr lang="en-US" sz="860" dirty="0"/>
          </a:p>
          <a:p>
            <a:pPr marL="0" indent="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Lu, J., Yin, W., &amp; Xu, Y. (2024). Recent advances in OOD detection: Problems and approaches. ACM Computing Surveys.</a:t>
            </a:r>
            <a:endParaRPr lang="en-US" sz="860" dirty="0"/>
          </a:p>
          <a:p>
            <a:pPr marL="0" indent="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Malkov, Y. A., &amp; Yashunin, D. A. (2020). Efficient and robust approximate nearest neighbor search using HNSW. IEEE TPAMI.</a:t>
            </a:r>
            <a:endParaRPr lang="en-US" sz="860" dirty="0"/>
          </a:p>
          <a:p>
            <a:pPr marL="0" indent="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Muennighoff, N., Tazi, N., Magne, L., &amp; Reimers, N. (2023). MTEB: Massive text embedding benchmark. ACL.</a:t>
            </a:r>
            <a:endParaRPr lang="en-US" sz="860" dirty="0"/>
          </a:p>
          <a:p>
            <a:pPr marL="0" indent="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Pan, J. J., Wang, J., &amp; Li, G. (2024). Survey of vector database management systems. The VLDB Journal, Springer.</a:t>
            </a:r>
            <a:endParaRPr lang="en-US" sz="860" dirty="0"/>
          </a:p>
          <a:p>
            <a:pPr marL="0" indent="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Sinha, P., &amp; Zoltners, A. A. (1979). The multiple-choice knapsack problem. Operations Research, 27(3).</a:t>
            </a:r>
            <a:endParaRPr lang="en-US" sz="860" dirty="0"/>
          </a:p>
          <a:p>
            <a:pPr marL="0" indent="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Sun, Y., Ming, Y., Zhu, X., &amp; Li, Y. (2022). Out-of-distribution detection with deep nearest neighbors. ICML.</a:t>
            </a:r>
            <a:endParaRPr lang="en-US" sz="860" dirty="0"/>
          </a:p>
          <a:p>
            <a:pPr marL="0" indent="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Vejendla, H. (2025). Drift-Adapter: A lightweight framework for continuous dense retrieval adaptation. EMNLP.</a:t>
            </a:r>
            <a:endParaRPr lang="en-US" sz="860" dirty="0"/>
          </a:p>
          <a:p>
            <a:pPr marL="0" indent="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Wu, K., Wu, E., &amp; Zou, J. (2024). How faithful are RAG models? Quantifying the tug-of-war. arXiv preprint / survey.</a:t>
            </a:r>
            <a:endParaRPr lang="en-US" sz="860" dirty="0"/>
          </a:p>
        </p:txBody>
      </p:sp>
      <p:sp>
        <p:nvSpPr>
          <p:cNvPr id="6" name="Text 4"/>
          <p:cNvSpPr txBox="1"/>
          <p:nvPr/>
        </p:nvSpPr>
        <p:spPr>
          <a:xfrm>
            <a:off x="457200" y="6473952"/>
            <a:ext cx="6400800" cy="27432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VectorSentry  |  Review II</a:t>
            </a:r>
            <a:endParaRPr lang="en-US" sz="900" dirty="0"/>
          </a:p>
        </p:txBody>
      </p:sp>
      <p:sp>
        <p:nvSpPr>
          <p:cNvPr id="7" name="Text 5"/>
          <p:cNvSpPr txBox="1"/>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4662</Words>
  <Application>Microsoft Office PowerPoint</Application>
  <PresentationFormat>Widescreen</PresentationFormat>
  <Paragraphs>308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Ashish Mathew</cp:lastModifiedBy>
  <cp:revision>3</cp:revision>
  <dcterms:created xsi:type="dcterms:W3CDTF">2026-09-17T16:23:02Z</dcterms:created>
  <dcterms:modified xsi:type="dcterms:W3CDTF">2026-09-17T16:56:46Z</dcterms:modified>
</cp:coreProperties>
</file>