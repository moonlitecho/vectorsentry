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presenting VectorSentry — a proposed system to detect and safely fix a silent failure mode in production vector databases: mixed-generation embedding contamination. This is Review I — our first pitch of the idea. VectorSentry is scoped as a full-year capstone: today I'll walk you through the problem, the literature grounding it, our proposed design, and our year-long execution plan — not finished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a vector database can end up with documents embedded by two different generations of a model — say, half by an old provider version, half by a new one — after an update. Cosine similarity across those two generations is meaningless, but nothing errors out. It just quietly retrieves worse results. Why does this matter enough to spend a year on? Three reasons. First, it's already happening — OpenAI and Cohere have both shipped embedding updates that silently changed their models' internal geometry. Second, it's invisible to normal monitoring — no exceptions, no alerts. Third, the exposure is growing — over twenty commercial vector-database systems have launched in the last five years, and every one faces this same risk. This is Review I, so we haven't run a quantified benchmark yet — that's planned Phase II work, described later in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aim, in one sentence: design and build a budget-aware system that detects mixed-generation embedding contamination and safely prioritizes its remediation, without ever silently shipping a regression. That breaks into three objectives, each with a measurable target we've set for ourselves before writing any code. Detect: we're targeting F1 of at least 0.5 for an unsupervised detector with no ground-truth labels. Prioritize and recover efficiently: we want our fast greedy heuristic within 5% of the true optimum, recovering at least 40% of the achievable quality headroom at just 30% of the budget. Deploy safely: a guarantee, not a hope, that we never silently ship a worse index. Our target consumers are engineering and MLOps teams running production vector databases — especially anyone dependent on a third-party embedding API they don't control, or running at a scale where a full re-embed on every model update just isn't affordable. Scope is bounded deliberately — a laptop-reproducible benchmark, not a live production deployment — which keeps the whole project achievable within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domain is AI/ML applied to information retrieval and MLOps — specifically, the operational side of running vector search systems in production, not just training embedding models. The field is moving fast: RAG has made vector databases a default dependency, and there are now over twenty commercial vector-database products, per a 2024 VLDB Journal survey we cite. Every one of these systems — Pinecone, Weaviate, Milvus — is exposed to the exact contamination problem we're solving, because they all face the same embedding-model-update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seven sources directly target detecting or repairing embedding contamination. Reading across each row: KNN-OOD, Isolation Forest, and LOF detect anomalies but never say what to do once you've found one. Drift-Adapter and the Backward-Compatible-Embeddings paper both show you can cheaply realign or avoid re-embedding entirely — but every one applies its fix as ONE uniform action, with no per-document decision. MUSE gives us the underlying alignment math. The last column is the point of this slide: for every single one of these, we can name exactly how VectorSentry either adapts, extends, or is grounded in that specific paper — not just 'reads'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sources are our foundation layer — none of them is directly 'about' contamination remediation, but each one is load-bearing. HNSW explains exactly why contamination is dangerous — it assumes a consistent index geometry that contamination silently breaks. The vector-DB survey and MTEB establish real-world scale and explain why embedding models churn so often in the first place. The two most important rows for our own methodology are the last four: Sinha and Zoltners' 1979 knapsack paper is the literal mathematical core of our scheduler, and Breslau and colleagues' 1999 Zipf-traffic paper is why our benefit function weights by real query traffic, not just severity. Together with the previous slide, that's how we go from fifteen separate papers to one coherent research gap — which is exactly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logical spine of the whole project. Starting from what's already known — mature detection theory and mature-but-uniform repair mechanisms — I walk down to exactly where the literature stops: nobody decides WHICH document to fix first under a real budget. That's not a vague gap — I can point to it in the comparison table on the previous slide, in the 'gap identified' column, for every single Cluster A and B paper. Our contribution isn't invented from nothing either — the optimization core is a 1979 Operations Research formulation, and the patch mechanism itself is grounded directly in this year's Drift-Adapter paper. What's new is combining them into one budget-aware decision layer with a safety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in one sentence: treat contamination remediation as an incident-response prioritization problem, not a batch job. Concretely, for every document our detector flags, VectorSentry's scheduler picks exactly one of three actions — full re-embed for the documents that matter most, a cheap patch for the ones where partial recovery is good enough, or defer for the ones not worth spending budget on at all. That third option, Defer, is deliberately part of the formal action set, not an afterthought — sometimes the mathematically correct answer really is 'not yet,' and pretending otherwise is how uniform strategies waste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modules ARE the engineering application of this project — they chain together end to end: Detection feeds flagged documents to Prioritization, which produces an action plan; Migration shadow-builds that plan; Verification either cuts it over live or rolls it back. Our methodology follows standard software-engineering modular decomposition — each module has a strict input/output contract, so each can be unit-tested and even swapped independently. Detection and Migration/Verification are adapted from established practice — KNN-OOD from Sun et al. 2022, shadow-build-and-cutover from real zero-downtime deployment patterns. Prioritization, Module 2, is our own contribution — the knapsack formulation grounded in Sinha and Zoltners' 1979 Operations Research paper, applied here for the first time to embedding remediation. We deliberately chose this framework — a well-understood exact optimization technique — over something like reinforcement learning, because it's provably optimal at small scale, has a fast well-understood approximation for production scale, and every decision it makes is explainable, which matters a great deal for a system that's allowed to modify a production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novelty: to the fifteen papers we reviewed, nobody has applied a knapsack formulation to vector-database contamination specifically — knapsack optimization is well-established in Operations Research generally, but not in this domain. Nobody offers a three-way action choice either — it's always 'detect it' or 'here's one fix.' And nobody closes the loop with an automated, verified-safe deployment gate. On creativity — the traffic-weighting idea specifically came from recognizing that real query logs are Zipf-distributed, a fact established in 1999 networking literature, and realizing that fact should directly shape which documents get budget first. That's borrowing an insight from a completely different subfield — caching and CDN traffic — and applying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hypothetical scenario — every production RAG or semantic search system depends on an embedding model that WILL be updated eventually, and Pan et al.'s 2024 survey counts over twenty commercial vector-database systems now deployed. On feasibility, we're not asking you to take it on faith that this can be built — every component is a standard, well-documented tool, the algorithm we're proposing has provable complexity bounds independent of our own implementation, and we've deliberately scoped the benchmark size so the whole build-and-evaluate cycle fits within the year. The four-module breakdown gives us a concrete, de-risked build order, which is exactly what we'll walk through next on the project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roadmap for the full year, not a status report — nothing here is done yet beyond the literature survey and problem formulation you've already seen today. We've deliberately ordered the build so each module only starts once its predecessor is validated: detection first, since prioritization needs a working detector's output to schedule against; migration and verification last, since they depend on both. The final two months are reserved for integration, evaluation, the live autonomous demo, and writing up the final report — building in slack rather than assuming everything goes right on the first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expected outcomes and success criteria, not results — we're deliberately not presenting numbers today because we haven't run the evaluation yet; that's exactly what the year of Phase II work is for. Each one maps directly to an objective from the Objectives slide: a reliable detector, a near-optimal scheduler, better recovery than naive practice, and a safety gate that never silently regresses production. What we're committing to here is accountability — Review II will show the actual measured numbers against these exact targets, including any that we miss, not a filtered highlight reel.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fifteen-source reference list, in APA format. Every one of these was individually verified against the actual publication — author list, venue, and year — before being included; none were taken from memory without checking. The companion document has the complete annotated version with each paper's problem addressed, methodology, dataset, key findings, and limitations, exactly as the literature-survey guideline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56"/>
          </a:solidFill>
          <a:ln/>
        </p:spPr>
      </p:sp>
      <p:sp>
        <p:nvSpPr>
          <p:cNvPr id="3" name="Shape 1"/>
          <p:cNvSpPr/>
          <p:nvPr/>
        </p:nvSpPr>
        <p:spPr>
          <a:xfrm>
            <a:off x="8778240" y="-2011680"/>
            <a:ext cx="5943600" cy="5943600"/>
          </a:xfrm>
          <a:prstGeom prst="ellipse">
            <a:avLst/>
          </a:prstGeom>
          <a:solidFill>
            <a:srgbClr val="111B38"/>
          </a:solidFill>
          <a:ln/>
        </p:spPr>
      </p:sp>
      <p:sp>
        <p:nvSpPr>
          <p:cNvPr id="4" name="Shape 2"/>
          <p:cNvSpPr/>
          <p:nvPr/>
        </p:nvSpPr>
        <p:spPr>
          <a:xfrm>
            <a:off x="9692640" y="4206240"/>
            <a:ext cx="3840480" cy="3840480"/>
          </a:xfrm>
          <a:prstGeom prst="ellipse">
            <a:avLst/>
          </a:prstGeom>
          <a:solidFill>
            <a:srgbClr val="0E7C7B"/>
          </a:solidFill>
          <a:ln/>
        </p:spPr>
      </p:sp>
      <p:sp>
        <p:nvSpPr>
          <p:cNvPr id="5" name="Text 3"/>
          <p:cNvSpPr txBox="1"/>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8CA0C8"/>
                </a:solidFill>
                <a:latin typeface="Calibri" pitchFamily="34" charset="0"/>
                <a:ea typeface="Calibri" pitchFamily="34" charset="-122"/>
                <a:cs typeface="Calibri" pitchFamily="34" charset="-120"/>
              </a:rPr>
              <a:t>KUMARAGURU COLLEGE OF TECHNOLOGY  •  KSI</a:t>
            </a:r>
            <a:endParaRPr lang="en-US" sz="1200" dirty="0"/>
          </a:p>
        </p:txBody>
      </p:sp>
      <p:sp>
        <p:nvSpPr>
          <p:cNvPr id="6" name="Text 4"/>
          <p:cNvSpPr txBox="1"/>
          <p:nvPr/>
        </p:nvSpPr>
        <p:spPr>
          <a:xfrm>
            <a:off x="640080" y="2331720"/>
            <a:ext cx="96012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VectorSentry</a:t>
            </a:r>
            <a:endParaRPr lang="en-US" sz="5400" dirty="0"/>
          </a:p>
        </p:txBody>
      </p:sp>
      <p:sp>
        <p:nvSpPr>
          <p:cNvPr id="7" name="Text 5"/>
          <p:cNvSpPr txBox="1"/>
          <p:nvPr/>
        </p:nvSpPr>
        <p:spPr>
          <a:xfrm>
            <a:off x="658368" y="3246120"/>
            <a:ext cx="9418320" cy="868680"/>
          </a:xfrm>
          <a:prstGeom prst="rect">
            <a:avLst/>
          </a:prstGeom>
          <a:noFill/>
          <a:ln/>
        </p:spPr>
        <p:txBody>
          <a:bodyPr wrap="square" lIns="0" tIns="0" rIns="0" bIns="0" rtlCol="0" anchor="ctr"/>
          <a:lstStyle/>
          <a:p>
            <a:pPr indent="0" marL="0">
              <a:lnSpc>
                <a:spcPct val="115000"/>
              </a:lnSpc>
              <a:buNone/>
            </a:pPr>
            <a:r>
              <a:rPr lang="en-US" sz="1900" dirty="0">
                <a:solidFill>
                  <a:srgbClr val="CFE0FA"/>
                </a:solidFill>
                <a:latin typeface="Calibri" pitchFamily="34" charset="0"/>
                <a:ea typeface="Calibri" pitchFamily="34" charset="-122"/>
                <a:cs typeface="Calibri" pitchFamily="34" charset="-120"/>
              </a:rPr>
              <a:t>Budget-Aware Prioritization for Mixed-Generation Embedding</a:t>
            </a:r>
            <a:endParaRPr lang="en-US" sz="1900" dirty="0"/>
          </a:p>
          <a:p>
            <a:pPr indent="0" marL="0">
              <a:lnSpc>
                <a:spcPct val="115000"/>
              </a:lnSpc>
              <a:buNone/>
            </a:pPr>
            <a:r>
              <a:rPr lang="en-US" sz="1900" dirty="0">
                <a:solidFill>
                  <a:srgbClr val="CFE0FA"/>
                </a:solidFill>
                <a:latin typeface="Calibri" pitchFamily="34" charset="0"/>
                <a:ea typeface="Calibri" pitchFamily="34" charset="-122"/>
                <a:cs typeface="Calibri" pitchFamily="34" charset="-120"/>
              </a:rPr>
              <a:t>Contamination in Production Vector Databases</a:t>
            </a:r>
            <a:endParaRPr lang="en-US" sz="1900" dirty="0"/>
          </a:p>
        </p:txBody>
      </p:sp>
      <p:sp>
        <p:nvSpPr>
          <p:cNvPr id="8" name="Shape 6"/>
          <p:cNvSpPr/>
          <p:nvPr/>
        </p:nvSpPr>
        <p:spPr>
          <a:xfrm>
            <a:off x="640080" y="4434840"/>
            <a:ext cx="7863840" cy="1417320"/>
          </a:xfrm>
          <a:prstGeom prst="roundRect">
            <a:avLst>
              <a:gd name="adj" fmla="val 5161"/>
            </a:avLst>
          </a:prstGeom>
          <a:solidFill>
            <a:srgbClr val="16224A"/>
          </a:solidFill>
          <a:ln/>
        </p:spPr>
      </p:sp>
      <p:sp>
        <p:nvSpPr>
          <p:cNvPr id="9" name="Text 7"/>
          <p:cNvSpPr txBox="1"/>
          <p:nvPr/>
        </p:nvSpPr>
        <p:spPr>
          <a:xfrm>
            <a:off x="868680" y="4617720"/>
            <a:ext cx="7406640" cy="1097280"/>
          </a:xfrm>
          <a:prstGeom prst="rect">
            <a:avLst/>
          </a:prstGeom>
          <a:noFill/>
          <a:ln/>
        </p:spPr>
        <p:txBody>
          <a:bodyPr wrap="square" lIns="0" tIns="0" rIns="0" bIns="0" rtlCol="0" anchor="ctr"/>
          <a:lstStyle/>
          <a:p>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Team Member(s):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[Full Name — Register No. — Department]  (add one line per member)
</a:t>
            </a:r>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Guide: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[Guide Name, Designation]
</a:t>
            </a:r>
            <a:pPr indent="0" marL="0">
              <a:lnSpc>
                <a:spcPct val="135000"/>
              </a:lnSpc>
              <a:buNone/>
            </a:pPr>
            <a:r>
              <a:rPr lang="en-US" sz="1350" b="1" dirty="0">
                <a:solidFill>
                  <a:srgbClr val="CFE0FA"/>
                </a:solidFill>
                <a:latin typeface="Calibri" pitchFamily="34" charset="0"/>
                <a:ea typeface="Calibri" pitchFamily="34" charset="-122"/>
                <a:cs typeface="Calibri" pitchFamily="34" charset="-120"/>
              </a:rPr>
              <a:t>Review Date: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[Confirm exact review date]   |   UG Capstone Projects (2026-27) — Phase I, Review I</a:t>
            </a:r>
            <a:endParaRPr lang="en-US" sz="1350" dirty="0"/>
          </a:p>
        </p:txBody>
      </p:sp>
      <p:sp>
        <p:nvSpPr>
          <p:cNvPr id="10" name="Text 8"/>
          <p:cNvSpPr txBox="1"/>
          <p:nvPr/>
        </p:nvSpPr>
        <p:spPr>
          <a:xfrm>
            <a:off x="640080" y="5989320"/>
            <a:ext cx="7772400" cy="274320"/>
          </a:xfrm>
          <a:prstGeom prst="rect">
            <a:avLst/>
          </a:prstGeom>
          <a:noFill/>
          <a:ln/>
        </p:spPr>
        <p:txBody>
          <a:bodyPr wrap="square" lIns="0" tIns="0" rIns="0" bIns="0" rtlCol="0" anchor="ctr"/>
          <a:lstStyle/>
          <a:p>
            <a:pPr indent="0" marL="0">
              <a:buNone/>
            </a:pPr>
            <a:r>
              <a:rPr lang="en-US" sz="1050" i="1" dirty="0">
                <a:solidFill>
                  <a:srgbClr val="C97A22"/>
                </a:solidFill>
                <a:latin typeface="Calibri" pitchFamily="34" charset="0"/>
                <a:ea typeface="Calibri" pitchFamily="34" charset="-122"/>
                <a:cs typeface="Calibri" pitchFamily="34" charset="-120"/>
              </a:rPr>
              <a:t>Fields in brackets must be completed before presenting — see final checklist.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PROBLEM IDENTIFICATION</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Problem Statement</a:t>
            </a:r>
            <a:endParaRPr lang="en-US" sz="3200" dirty="0"/>
          </a:p>
        </p:txBody>
      </p:sp>
      <p:sp>
        <p:nvSpPr>
          <p:cNvPr id="4" name="Text 2"/>
          <p:cNvSpPr txBox="1"/>
          <p:nvPr/>
        </p:nvSpPr>
        <p:spPr>
          <a:xfrm>
            <a:off x="548640" y="1508760"/>
            <a:ext cx="6035040" cy="2103120"/>
          </a:xfrm>
          <a:prstGeom prst="rect">
            <a:avLst/>
          </a:prstGeom>
          <a:noFill/>
          <a:ln/>
        </p:spPr>
        <p:txBody>
          <a:bodyPr wrap="square" lIns="0" tIns="0" rIns="0" bIns="0" rtlCol="0" anchor="ctr"/>
          <a:lstStyle/>
          <a:p>
            <a:pPr indent="0" marL="0">
              <a:lnSpc>
                <a:spcPct val="130000"/>
              </a:lnSpc>
              <a:buNone/>
            </a:pPr>
            <a:r>
              <a:rPr lang="en-US" sz="1450" dirty="0">
                <a:solidFill>
                  <a:srgbClr val="20242E"/>
                </a:solidFill>
                <a:latin typeface="Calibri" pitchFamily="34" charset="0"/>
                <a:ea typeface="Calibri" pitchFamily="34" charset="-122"/>
                <a:cs typeface="Calibri" pitchFamily="34" charset="-120"/>
              </a:rPr>
              <a:t>Production vector databases silently degrade in retrieval quality when a subset of documents is re-embedded by a different generation of the embedding model than the rest of the corpus — after a provider update, a model migration, or an incomplete backfill. Cosine similarity is not comparable across generations, so the database keeps returning results — just quietly worse ones, with nothing signaling anything is wrong.</a:t>
            </a:r>
            <a:endParaRPr lang="en-US" sz="1450" dirty="0"/>
          </a:p>
        </p:txBody>
      </p:sp>
      <p:sp>
        <p:nvSpPr>
          <p:cNvPr id="5" name="Shape 3"/>
          <p:cNvSpPr/>
          <p:nvPr/>
        </p:nvSpPr>
        <p:spPr>
          <a:xfrm>
            <a:off x="548640" y="3749040"/>
            <a:ext cx="6035040" cy="960120"/>
          </a:xfrm>
          <a:prstGeom prst="roundRect">
            <a:avLst>
              <a:gd name="adj" fmla="val 7619"/>
            </a:avLst>
          </a:prstGeom>
          <a:solidFill>
            <a:srgbClr val="F4F7FC"/>
          </a:solidFill>
          <a:ln/>
          <a:effectLst>
            <a:outerShdw sx="100000" sy="100000" kx="0" ky="0" algn="bl" rotWithShape="0" blurRad="101600" dist="38100" dir="5400000">
              <a:srgbClr val="1B2A56">
                <a:alpha val="12000"/>
              </a:srgbClr>
            </a:outerShdw>
          </a:effectLst>
        </p:spPr>
      </p:sp>
      <p:sp>
        <p:nvSpPr>
          <p:cNvPr id="6" name="Text 4"/>
          <p:cNvSpPr txBox="1"/>
          <p:nvPr/>
        </p:nvSpPr>
        <p:spPr>
          <a:xfrm>
            <a:off x="731520" y="3840480"/>
            <a:ext cx="566928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Root cause</a:t>
            </a:r>
            <a:endParaRPr lang="en-US" sz="1250" dirty="0"/>
          </a:p>
        </p:txBody>
      </p:sp>
      <p:sp>
        <p:nvSpPr>
          <p:cNvPr id="7" name="Text 5"/>
          <p:cNvSpPr txBox="1"/>
          <p:nvPr/>
        </p:nvSpPr>
        <p:spPr>
          <a:xfrm>
            <a:off x="731520" y="4133088"/>
            <a:ext cx="5669280" cy="530352"/>
          </a:xfrm>
          <a:prstGeom prst="rect">
            <a:avLst/>
          </a:prstGeom>
          <a:noFill/>
          <a:ln/>
        </p:spPr>
        <p:txBody>
          <a:bodyPr wrap="square" lIns="0" tIns="0" rIns="0" bIns="0" rtlCol="0" anchor="ctr"/>
          <a:lstStyle/>
          <a:p>
            <a:pPr indent="0" marL="0">
              <a:lnSpc>
                <a:spcPct val="115000"/>
              </a:lnSpc>
              <a:buNone/>
            </a:pPr>
            <a:r>
              <a:rPr lang="en-US" sz="1150" dirty="0">
                <a:solidFill>
                  <a:srgbClr val="20242E"/>
                </a:solidFill>
                <a:latin typeface="Calibri" pitchFamily="34" charset="0"/>
                <a:ea typeface="Calibri" pitchFamily="34" charset="-122"/>
                <a:cs typeface="Calibri" pitchFamily="34" charset="-120"/>
              </a:rPr>
              <a:t>Each embedding-model generation's outputs occupy a different geometry — comparing across generations is mathematically meaningless.</a:t>
            </a:r>
            <a:endParaRPr lang="en-US" sz="1150" dirty="0"/>
          </a:p>
        </p:txBody>
      </p:sp>
      <p:sp>
        <p:nvSpPr>
          <p:cNvPr id="8" name="Shape 6"/>
          <p:cNvSpPr/>
          <p:nvPr/>
        </p:nvSpPr>
        <p:spPr>
          <a:xfrm>
            <a:off x="548640" y="4828032"/>
            <a:ext cx="6035040" cy="960120"/>
          </a:xfrm>
          <a:prstGeom prst="roundRect">
            <a:avLst>
              <a:gd name="adj" fmla="val 7619"/>
            </a:avLst>
          </a:prstGeom>
          <a:solidFill>
            <a:srgbClr val="F4F7FC"/>
          </a:solidFill>
          <a:ln/>
          <a:effectLst>
            <a:outerShdw sx="100000" sy="100000" kx="0" ky="0" algn="bl" rotWithShape="0" blurRad="101600" dist="38100" dir="5400000">
              <a:srgbClr val="1B2A56">
                <a:alpha val="12000"/>
              </a:srgbClr>
            </a:outerShdw>
          </a:effectLst>
        </p:spPr>
      </p:sp>
      <p:sp>
        <p:nvSpPr>
          <p:cNvPr id="9" name="Text 7"/>
          <p:cNvSpPr txBox="1"/>
          <p:nvPr/>
        </p:nvSpPr>
        <p:spPr>
          <a:xfrm>
            <a:off x="731520" y="4919472"/>
            <a:ext cx="5669280" cy="274320"/>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Why it's silent</a:t>
            </a:r>
            <a:endParaRPr lang="en-US" sz="1250" dirty="0"/>
          </a:p>
        </p:txBody>
      </p:sp>
      <p:sp>
        <p:nvSpPr>
          <p:cNvPr id="10" name="Text 8"/>
          <p:cNvSpPr txBox="1"/>
          <p:nvPr/>
        </p:nvSpPr>
        <p:spPr>
          <a:xfrm>
            <a:off x="731520" y="5212080"/>
            <a:ext cx="5669280" cy="530352"/>
          </a:xfrm>
          <a:prstGeom prst="rect">
            <a:avLst/>
          </a:prstGeom>
          <a:noFill/>
          <a:ln/>
        </p:spPr>
        <p:txBody>
          <a:bodyPr wrap="square" lIns="0" tIns="0" rIns="0" bIns="0" rtlCol="0" anchor="ctr"/>
          <a:lstStyle/>
          <a:p>
            <a:pPr indent="0" marL="0">
              <a:lnSpc>
                <a:spcPct val="115000"/>
              </a:lnSpc>
              <a:buNone/>
            </a:pPr>
            <a:r>
              <a:rPr lang="en-US" sz="1150" dirty="0">
                <a:solidFill>
                  <a:srgbClr val="20242E"/>
                </a:solidFill>
                <a:latin typeface="Calibri" pitchFamily="34" charset="0"/>
                <a:ea typeface="Calibri" pitchFamily="34" charset="-122"/>
                <a:cs typeface="Calibri" pitchFamily="34" charset="-120"/>
              </a:rPr>
              <a:t>No exception is thrown. The index still returns k results; only relevance quietly worsens.</a:t>
            </a:r>
            <a:endParaRPr lang="en-US" sz="1150" dirty="0"/>
          </a:p>
        </p:txBody>
      </p:sp>
      <p:sp>
        <p:nvSpPr>
          <p:cNvPr id="11" name="Shape 9"/>
          <p:cNvSpPr/>
          <p:nvPr/>
        </p:nvSpPr>
        <p:spPr>
          <a:xfrm>
            <a:off x="6903720" y="1508760"/>
            <a:ext cx="4754880" cy="4480560"/>
          </a:xfrm>
          <a:prstGeom prst="roundRect">
            <a:avLst>
              <a:gd name="adj" fmla="val 1633"/>
            </a:avLst>
          </a:prstGeom>
          <a:solidFill>
            <a:srgbClr val="1B2A56"/>
          </a:solidFill>
          <a:ln/>
        </p:spPr>
      </p:sp>
      <p:sp>
        <p:nvSpPr>
          <p:cNvPr id="12" name="Text 10"/>
          <p:cNvSpPr txBox="1"/>
          <p:nvPr/>
        </p:nvSpPr>
        <p:spPr>
          <a:xfrm>
            <a:off x="7178040" y="1737360"/>
            <a:ext cx="4206240" cy="274320"/>
          </a:xfrm>
          <a:prstGeom prst="rect">
            <a:avLst/>
          </a:prstGeom>
          <a:noFill/>
          <a:ln/>
        </p:spPr>
        <p:txBody>
          <a:bodyPr wrap="square" lIns="0" tIns="0" rIns="0" bIns="0" rtlCol="0" anchor="ctr"/>
          <a:lstStyle/>
          <a:p>
            <a:pPr indent="0" marL="0">
              <a:buNone/>
            </a:pPr>
            <a:r>
              <a:rPr lang="en-US" sz="1100" b="1" spc="150" kern="0" dirty="0">
                <a:solidFill>
                  <a:srgbClr val="CFE0FA"/>
                </a:solidFill>
                <a:latin typeface="Calibri" pitchFamily="34" charset="0"/>
                <a:ea typeface="Calibri" pitchFamily="34" charset="-122"/>
                <a:cs typeface="Calibri" pitchFamily="34" charset="-120"/>
              </a:rPr>
              <a:t>WHY THIS MATTERS</a:t>
            </a:r>
            <a:endParaRPr lang="en-US" sz="1100" dirty="0"/>
          </a:p>
        </p:txBody>
      </p:sp>
      <p:sp>
        <p:nvSpPr>
          <p:cNvPr id="13" name="Text 11"/>
          <p:cNvSpPr txBox="1"/>
          <p:nvPr/>
        </p:nvSpPr>
        <p:spPr>
          <a:xfrm>
            <a:off x="7178040" y="2148840"/>
            <a:ext cx="42062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It's already happening</a:t>
            </a:r>
            <a:endParaRPr lang="en-US" sz="1250" dirty="0"/>
          </a:p>
        </p:txBody>
      </p:sp>
      <p:sp>
        <p:nvSpPr>
          <p:cNvPr id="14" name="Text 12"/>
          <p:cNvSpPr txBox="1"/>
          <p:nvPr/>
        </p:nvSpPr>
        <p:spPr>
          <a:xfrm>
            <a:off x="7178040" y="2441448"/>
            <a:ext cx="4206240" cy="640080"/>
          </a:xfrm>
          <a:prstGeom prst="rect">
            <a:avLst/>
          </a:prstGeom>
          <a:noFill/>
          <a:ln/>
        </p:spPr>
        <p:txBody>
          <a:bodyPr wrap="square" lIns="0" tIns="0" rIns="0" bIns="0" rtlCol="0" anchor="ctr"/>
          <a:lstStyle/>
          <a:p>
            <a:pPr indent="0" marL="0">
              <a:lnSpc>
                <a:spcPct val="118000"/>
              </a:lnSpc>
              <a:buNone/>
            </a:pPr>
            <a:r>
              <a:rPr lang="en-US" sz="1000" dirty="0">
                <a:solidFill>
                  <a:srgbClr val="CFE0FA"/>
                </a:solidFill>
                <a:latin typeface="Calibri" pitchFamily="34" charset="0"/>
                <a:ea typeface="Calibri" pitchFamily="34" charset="-122"/>
                <a:cs typeface="Calibri" pitchFamily="34" charset="-120"/>
              </a:rPr>
              <a:t>OpenAI updated text-embedding-ada-002 multiple times through 2023; Cohere's embed-v3 differs internally from embed-v2. Teams re-embed piecemeal, creating exactly this mix.</a:t>
            </a:r>
            <a:endParaRPr lang="en-US" sz="1000" dirty="0"/>
          </a:p>
        </p:txBody>
      </p:sp>
      <p:sp>
        <p:nvSpPr>
          <p:cNvPr id="15" name="Text 13"/>
          <p:cNvSpPr txBox="1"/>
          <p:nvPr/>
        </p:nvSpPr>
        <p:spPr>
          <a:xfrm>
            <a:off x="7178040" y="3172968"/>
            <a:ext cx="42062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It's invisible to normal monitoring</a:t>
            </a:r>
            <a:endParaRPr lang="en-US" sz="1250" dirty="0"/>
          </a:p>
        </p:txBody>
      </p:sp>
      <p:sp>
        <p:nvSpPr>
          <p:cNvPr id="16" name="Text 14"/>
          <p:cNvSpPr txBox="1"/>
          <p:nvPr/>
        </p:nvSpPr>
        <p:spPr>
          <a:xfrm>
            <a:off x="7178040" y="3465576"/>
            <a:ext cx="4206240" cy="640080"/>
          </a:xfrm>
          <a:prstGeom prst="rect">
            <a:avLst/>
          </a:prstGeom>
          <a:noFill/>
          <a:ln/>
        </p:spPr>
        <p:txBody>
          <a:bodyPr wrap="square" lIns="0" tIns="0" rIns="0" bIns="0" rtlCol="0" anchor="ctr"/>
          <a:lstStyle/>
          <a:p>
            <a:pPr indent="0" marL="0">
              <a:lnSpc>
                <a:spcPct val="118000"/>
              </a:lnSpc>
              <a:buNone/>
            </a:pPr>
            <a:r>
              <a:rPr lang="en-US" sz="1000" dirty="0">
                <a:solidFill>
                  <a:srgbClr val="CFE0FA"/>
                </a:solidFill>
                <a:latin typeface="Calibri" pitchFamily="34" charset="0"/>
                <a:ea typeface="Calibri" pitchFamily="34" charset="-122"/>
                <a:cs typeface="Calibri" pitchFamily="34" charset="-120"/>
              </a:rPr>
              <a:t>No exceptions, no alerts, no crash logs — the system looks healthy while quietly serving worse results.</a:t>
            </a:r>
            <a:endParaRPr lang="en-US" sz="1000" dirty="0"/>
          </a:p>
        </p:txBody>
      </p:sp>
      <p:sp>
        <p:nvSpPr>
          <p:cNvPr id="17" name="Text 15"/>
          <p:cNvSpPr txBox="1"/>
          <p:nvPr/>
        </p:nvSpPr>
        <p:spPr>
          <a:xfrm>
            <a:off x="7178040" y="4197096"/>
            <a:ext cx="42062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The exposure is growing</a:t>
            </a:r>
            <a:endParaRPr lang="en-US" sz="1250" dirty="0"/>
          </a:p>
        </p:txBody>
      </p:sp>
      <p:sp>
        <p:nvSpPr>
          <p:cNvPr id="18" name="Text 16"/>
          <p:cNvSpPr txBox="1"/>
          <p:nvPr/>
        </p:nvSpPr>
        <p:spPr>
          <a:xfrm>
            <a:off x="7178040" y="4489704"/>
            <a:ext cx="4206240" cy="640080"/>
          </a:xfrm>
          <a:prstGeom prst="rect">
            <a:avLst/>
          </a:prstGeom>
          <a:noFill/>
          <a:ln/>
        </p:spPr>
        <p:txBody>
          <a:bodyPr wrap="square" lIns="0" tIns="0" rIns="0" bIns="0" rtlCol="0" anchor="ctr"/>
          <a:lstStyle/>
          <a:p>
            <a:pPr indent="0" marL="0">
              <a:lnSpc>
                <a:spcPct val="118000"/>
              </a:lnSpc>
              <a:buNone/>
            </a:pPr>
            <a:r>
              <a:rPr lang="en-US" sz="1000" dirty="0">
                <a:solidFill>
                  <a:srgbClr val="CFE0FA"/>
                </a:solidFill>
                <a:latin typeface="Calibri" pitchFamily="34" charset="0"/>
                <a:ea typeface="Calibri" pitchFamily="34" charset="-122"/>
                <a:cs typeface="Calibri" pitchFamily="34" charset="-120"/>
              </a:rPr>
              <a:t>Over 20 commercial vector-database systems have launched in the past five years (Pan et al., 2024), and every one is exposed to this exact failure mode.</a:t>
            </a:r>
            <a:endParaRPr lang="en-US" sz="1000" dirty="0"/>
          </a:p>
        </p:txBody>
      </p:sp>
      <p:sp>
        <p:nvSpPr>
          <p:cNvPr id="19" name="Shape 17"/>
          <p:cNvSpPr/>
          <p:nvPr/>
        </p:nvSpPr>
        <p:spPr>
          <a:xfrm>
            <a:off x="7178040" y="5266944"/>
            <a:ext cx="4206240" cy="0"/>
          </a:xfrm>
          <a:prstGeom prst="line">
            <a:avLst/>
          </a:prstGeom>
          <a:noFill/>
          <a:ln w="12700">
            <a:solidFill>
              <a:srgbClr val="33447A"/>
            </a:solidFill>
            <a:prstDash val="solid"/>
          </a:ln>
        </p:spPr>
      </p:sp>
      <p:sp>
        <p:nvSpPr>
          <p:cNvPr id="20" name="Text 18"/>
          <p:cNvSpPr txBox="1"/>
          <p:nvPr/>
        </p:nvSpPr>
        <p:spPr>
          <a:xfrm>
            <a:off x="7178040" y="5404104"/>
            <a:ext cx="4206240" cy="640080"/>
          </a:xfrm>
          <a:prstGeom prst="rect">
            <a:avLst/>
          </a:prstGeom>
          <a:noFill/>
          <a:ln/>
        </p:spPr>
        <p:txBody>
          <a:bodyPr wrap="square" lIns="0" tIns="0" rIns="0" bIns="0" rtlCol="0" anchor="ctr"/>
          <a:lstStyle/>
          <a:p>
            <a:pPr indent="0" marL="0">
              <a:lnSpc>
                <a:spcPct val="120000"/>
              </a:lnSpc>
              <a:buNone/>
            </a:pPr>
            <a:r>
              <a:rPr lang="en-US" sz="1050" i="1" dirty="0">
                <a:solidFill>
                  <a:srgbClr val="8CA0C8"/>
                </a:solidFill>
                <a:latin typeface="Calibri" pitchFamily="34" charset="0"/>
                <a:ea typeface="Calibri" pitchFamily="34" charset="-122"/>
                <a:cs typeface="Calibri" pitchFamily="34" charset="-120"/>
              </a:rPr>
              <a:t>Real, silent, and growing — that combination is why this is worth solving now, before it causes a visible incident, not after.</a:t>
            </a:r>
            <a:endParaRPr lang="en-US" sz="1050" dirty="0"/>
          </a:p>
        </p:txBody>
      </p:sp>
      <p:sp>
        <p:nvSpPr>
          <p:cNvPr id="21" name="Text 19"/>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22" name="Text 20"/>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OBJECTIVES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Objectives, Scope &amp; Target Users</a:t>
            </a:r>
            <a:endParaRPr lang="en-US" sz="3200" dirty="0"/>
          </a:p>
        </p:txBody>
      </p:sp>
      <p:sp>
        <p:nvSpPr>
          <p:cNvPr id="4" name="Shape 2"/>
          <p:cNvSpPr/>
          <p:nvPr/>
        </p:nvSpPr>
        <p:spPr>
          <a:xfrm>
            <a:off x="548640" y="1325880"/>
            <a:ext cx="11109960" cy="621792"/>
          </a:xfrm>
          <a:prstGeom prst="roundRect">
            <a:avLst>
              <a:gd name="adj" fmla="val 11765"/>
            </a:avLst>
          </a:prstGeom>
          <a:solidFill>
            <a:srgbClr val="1B2A56"/>
          </a:solidFill>
          <a:ln/>
        </p:spPr>
      </p:sp>
      <p:sp>
        <p:nvSpPr>
          <p:cNvPr id="5" name="Text 3"/>
          <p:cNvSpPr txBox="1"/>
          <p:nvPr/>
        </p:nvSpPr>
        <p:spPr>
          <a:xfrm>
            <a:off x="822960" y="1325880"/>
            <a:ext cx="10561320" cy="621792"/>
          </a:xfrm>
          <a:prstGeom prst="rect">
            <a:avLst/>
          </a:prstGeom>
          <a:noFill/>
          <a:ln/>
        </p:spPr>
        <p:txBody>
          <a:bodyPr wrap="square" lIns="0" tIns="0" rIns="0" bIns="0" rtlCol="0" anchor="ctr"/>
          <a:lstStyle/>
          <a:p>
            <a:pPr indent="0" marL="0">
              <a:lnSpc>
                <a:spcPct val="115000"/>
              </a:lnSpc>
              <a:buNone/>
            </a:pPr>
            <a:r>
              <a:rPr lang="en-US" sz="1150" b="1" dirty="0">
                <a:solidFill>
                  <a:srgbClr val="E4F3F2"/>
                </a:solidFill>
                <a:latin typeface="Calibri" pitchFamily="34" charset="0"/>
                <a:ea typeface="Calibri" pitchFamily="34" charset="-122"/>
                <a:cs typeface="Calibri" pitchFamily="34" charset="-120"/>
              </a:rPr>
              <a:t>Main aim:  </a:t>
            </a:r>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Design and build a budget-aware system that detects mixed-generation embedding contamination and safely prioritizes its remediation — recovering the most retrieval quality per unit of cost, without ever silently shipping a regression.</a:t>
            </a:r>
            <a:endParaRPr lang="en-US" sz="1150" dirty="0"/>
          </a:p>
        </p:txBody>
      </p:sp>
      <p:sp>
        <p:nvSpPr>
          <p:cNvPr id="6" name="Shape 4"/>
          <p:cNvSpPr/>
          <p:nvPr/>
        </p:nvSpPr>
        <p:spPr>
          <a:xfrm>
            <a:off x="548640" y="2057400"/>
            <a:ext cx="11109960" cy="804672"/>
          </a:xfrm>
          <a:prstGeom prst="roundRect">
            <a:avLst>
              <a:gd name="adj" fmla="val 9091"/>
            </a:avLst>
          </a:prstGeom>
          <a:solidFill>
            <a:srgbClr val="F4F7FC"/>
          </a:solidFill>
          <a:ln/>
          <a:effectLst>
            <a:outerShdw sx="100000" sy="100000" kx="0" ky="0" algn="bl" rotWithShape="0" blurRad="101600" dist="38100" dir="5400000">
              <a:srgbClr val="1B2A56">
                <a:alpha val="12000"/>
              </a:srgbClr>
            </a:outerShdw>
          </a:effectLst>
        </p:spPr>
      </p:sp>
      <p:sp>
        <p:nvSpPr>
          <p:cNvPr id="7" name="Shape 5"/>
          <p:cNvSpPr/>
          <p:nvPr/>
        </p:nvSpPr>
        <p:spPr>
          <a:xfrm>
            <a:off x="777240" y="2267712"/>
            <a:ext cx="384048" cy="384048"/>
          </a:xfrm>
          <a:prstGeom prst="ellipse">
            <a:avLst/>
          </a:prstGeom>
          <a:solidFill>
            <a:srgbClr val="0E7C7B"/>
          </a:solidFill>
          <a:ln/>
        </p:spPr>
      </p:sp>
      <p:sp>
        <p:nvSpPr>
          <p:cNvPr id="8" name="Text 6"/>
          <p:cNvSpPr txBox="1"/>
          <p:nvPr/>
        </p:nvSpPr>
        <p:spPr>
          <a:xfrm>
            <a:off x="777240" y="22677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371600" y="2130552"/>
            <a:ext cx="4297680" cy="274320"/>
          </a:xfrm>
          <a:prstGeom prst="rect">
            <a:avLst/>
          </a:prstGeom>
          <a:noFill/>
          <a:ln/>
        </p:spPr>
        <p:txBody>
          <a:bodyPr wrap="square" lIns="0" tIns="0" rIns="0" bIns="0" rtlCol="0" anchor="ctr"/>
          <a:lstStyle/>
          <a:p>
            <a:pPr indent="0" marL="0">
              <a:buNone/>
            </a:pPr>
            <a:r>
              <a:rPr lang="en-US" sz="1350" b="1" dirty="0">
                <a:solidFill>
                  <a:srgbClr val="1B2A56"/>
                </a:solidFill>
                <a:latin typeface="Calibri" pitchFamily="34" charset="0"/>
                <a:ea typeface="Calibri" pitchFamily="34" charset="-122"/>
                <a:cs typeface="Calibri" pitchFamily="34" charset="-120"/>
              </a:rPr>
              <a:t>Detect </a:t>
            </a:r>
            <a:pPr indent="0" marL="0">
              <a:buNone/>
            </a:pPr>
            <a:r>
              <a:rPr lang="en-US" sz="1150" i="1" dirty="0">
                <a:solidFill>
                  <a:srgbClr val="0E7C7B"/>
                </a:solidFill>
                <a:latin typeface="Calibri" pitchFamily="34" charset="0"/>
                <a:ea typeface="Calibri" pitchFamily="34" charset="-122"/>
                <a:cs typeface="Calibri" pitchFamily="34" charset="-120"/>
              </a:rPr>
              <a:t>reliably</a:t>
            </a:r>
            <a:endParaRPr lang="en-US" sz="1350" dirty="0"/>
          </a:p>
        </p:txBody>
      </p:sp>
      <p:sp>
        <p:nvSpPr>
          <p:cNvPr id="10" name="Text 8"/>
          <p:cNvSpPr txBox="1"/>
          <p:nvPr/>
        </p:nvSpPr>
        <p:spPr>
          <a:xfrm>
            <a:off x="1371600" y="2404872"/>
            <a:ext cx="4297680" cy="420624"/>
          </a:xfrm>
          <a:prstGeom prst="rect">
            <a:avLst/>
          </a:prstGeom>
          <a:noFill/>
          <a:ln/>
        </p:spPr>
        <p:txBody>
          <a:bodyPr wrap="square" lIns="0" tIns="0" rIns="0" bIns="0" rtlCol="0" anchor="ctr"/>
          <a:lstStyle/>
          <a:p>
            <a:pPr indent="0" marL="0">
              <a:lnSpc>
                <a:spcPct val="108000"/>
              </a:lnSpc>
              <a:buNone/>
            </a:pPr>
            <a:r>
              <a:rPr lang="en-US" sz="930" dirty="0">
                <a:solidFill>
                  <a:srgbClr val="5A6472"/>
                </a:solidFill>
                <a:latin typeface="Calibri" pitchFamily="34" charset="0"/>
                <a:ea typeface="Calibri" pitchFamily="34" charset="-122"/>
                <a:cs typeface="Calibri" pitchFamily="34" charset="-120"/>
              </a:rPr>
              <a:t>Flag mixed-generation contamination with an unsupervised, oracle-free detector.</a:t>
            </a:r>
            <a:endParaRPr lang="en-US" sz="930" dirty="0"/>
          </a:p>
        </p:txBody>
      </p:sp>
      <p:sp>
        <p:nvSpPr>
          <p:cNvPr id="11" name="Shape 9"/>
          <p:cNvSpPr/>
          <p:nvPr/>
        </p:nvSpPr>
        <p:spPr>
          <a:xfrm>
            <a:off x="5806440" y="2148840"/>
            <a:ext cx="0" cy="621792"/>
          </a:xfrm>
          <a:prstGeom prst="line">
            <a:avLst/>
          </a:prstGeom>
          <a:noFill/>
          <a:ln w="12700">
            <a:solidFill>
              <a:srgbClr val="D8DEEA"/>
            </a:solidFill>
            <a:prstDash val="solid"/>
          </a:ln>
        </p:spPr>
      </p:sp>
      <p:sp>
        <p:nvSpPr>
          <p:cNvPr id="12" name="Text 10"/>
          <p:cNvSpPr txBox="1"/>
          <p:nvPr/>
        </p:nvSpPr>
        <p:spPr>
          <a:xfrm>
            <a:off x="6035040" y="2130552"/>
            <a:ext cx="5394960" cy="182880"/>
          </a:xfrm>
          <a:prstGeom prst="rect">
            <a:avLst/>
          </a:prstGeom>
          <a:noFill/>
          <a:ln/>
        </p:spPr>
        <p:txBody>
          <a:bodyPr wrap="square" lIns="0" tIns="0" rIns="0" bIns="0" rtlCol="0" anchor="ctr"/>
          <a:lstStyle/>
          <a:p>
            <a:pPr indent="0" marL="0">
              <a:buNone/>
            </a:pPr>
            <a:r>
              <a:rPr lang="en-US" sz="850" dirty="0">
                <a:solidFill>
                  <a:srgbClr val="5A6472"/>
                </a:solidFill>
                <a:latin typeface="Calibri" pitchFamily="34" charset="0"/>
                <a:ea typeface="Calibri" pitchFamily="34" charset="-122"/>
                <a:cs typeface="Calibri" pitchFamily="34" charset="-120"/>
              </a:rPr>
              <a:t>Target / success criterion</a:t>
            </a:r>
            <a:endParaRPr lang="en-US" sz="850" dirty="0"/>
          </a:p>
        </p:txBody>
      </p:sp>
      <p:sp>
        <p:nvSpPr>
          <p:cNvPr id="13" name="Text 11"/>
          <p:cNvSpPr txBox="1"/>
          <p:nvPr/>
        </p:nvSpPr>
        <p:spPr>
          <a:xfrm>
            <a:off x="6035040" y="2331720"/>
            <a:ext cx="5394960" cy="502920"/>
          </a:xfrm>
          <a:prstGeom prst="rect">
            <a:avLst/>
          </a:prstGeom>
          <a:noFill/>
          <a:ln/>
        </p:spPr>
        <p:txBody>
          <a:bodyPr wrap="square" lIns="0" tIns="0" rIns="0" bIns="0" rtlCol="0" anchor="ctr"/>
          <a:lstStyle/>
          <a:p>
            <a:pPr indent="0" marL="0">
              <a:lnSpc>
                <a:spcPct val="110000"/>
              </a:lnSpc>
              <a:buNone/>
            </a:pPr>
            <a:r>
              <a:rPr lang="en-US" sz="1080" b="1" dirty="0">
                <a:solidFill>
                  <a:srgbClr val="1B2A56"/>
                </a:solidFill>
                <a:latin typeface="Calibri" pitchFamily="34" charset="0"/>
                <a:ea typeface="Calibri" pitchFamily="34" charset="-122"/>
                <a:cs typeface="Calibri" pitchFamily="34" charset="-120"/>
              </a:rPr>
              <a:t>Target: F1 ≥ 0.50, with no ground-truth labels used</a:t>
            </a:r>
            <a:endParaRPr lang="en-US" sz="1080" dirty="0"/>
          </a:p>
        </p:txBody>
      </p:sp>
      <p:sp>
        <p:nvSpPr>
          <p:cNvPr id="14" name="Shape 12"/>
          <p:cNvSpPr/>
          <p:nvPr/>
        </p:nvSpPr>
        <p:spPr>
          <a:xfrm>
            <a:off x="548640" y="2953512"/>
            <a:ext cx="11109960" cy="804672"/>
          </a:xfrm>
          <a:prstGeom prst="roundRect">
            <a:avLst>
              <a:gd name="adj" fmla="val 9091"/>
            </a:avLst>
          </a:prstGeom>
          <a:solidFill>
            <a:srgbClr val="F4F7FC"/>
          </a:solidFill>
          <a:ln/>
          <a:effectLst>
            <a:outerShdw sx="100000" sy="100000" kx="0" ky="0" algn="bl" rotWithShape="0" blurRad="101600" dist="38100" dir="5400000">
              <a:srgbClr val="1B2A56">
                <a:alpha val="12000"/>
              </a:srgbClr>
            </a:outerShdw>
          </a:effectLst>
        </p:spPr>
      </p:sp>
      <p:sp>
        <p:nvSpPr>
          <p:cNvPr id="15" name="Shape 13"/>
          <p:cNvSpPr/>
          <p:nvPr/>
        </p:nvSpPr>
        <p:spPr>
          <a:xfrm>
            <a:off x="777240" y="3163824"/>
            <a:ext cx="384048" cy="384048"/>
          </a:xfrm>
          <a:prstGeom prst="ellipse">
            <a:avLst/>
          </a:prstGeom>
          <a:solidFill>
            <a:srgbClr val="0E7C7B"/>
          </a:solidFill>
          <a:ln/>
        </p:spPr>
      </p:sp>
      <p:sp>
        <p:nvSpPr>
          <p:cNvPr id="16" name="Text 14"/>
          <p:cNvSpPr txBox="1"/>
          <p:nvPr/>
        </p:nvSpPr>
        <p:spPr>
          <a:xfrm>
            <a:off x="777240" y="31638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txBox="1"/>
          <p:nvPr/>
        </p:nvSpPr>
        <p:spPr>
          <a:xfrm>
            <a:off x="1371600" y="3026664"/>
            <a:ext cx="4297680" cy="274320"/>
          </a:xfrm>
          <a:prstGeom prst="rect">
            <a:avLst/>
          </a:prstGeom>
          <a:noFill/>
          <a:ln/>
        </p:spPr>
        <p:txBody>
          <a:bodyPr wrap="square" lIns="0" tIns="0" rIns="0" bIns="0" rtlCol="0" anchor="ctr"/>
          <a:lstStyle/>
          <a:p>
            <a:pPr indent="0" marL="0">
              <a:buNone/>
            </a:pPr>
            <a:r>
              <a:rPr lang="en-US" sz="1350" b="1" dirty="0">
                <a:solidFill>
                  <a:srgbClr val="1B2A56"/>
                </a:solidFill>
                <a:latin typeface="Calibri" pitchFamily="34" charset="0"/>
                <a:ea typeface="Calibri" pitchFamily="34" charset="-122"/>
                <a:cs typeface="Calibri" pitchFamily="34" charset="-120"/>
              </a:rPr>
              <a:t>Prioritize &amp; recover </a:t>
            </a:r>
            <a:pPr indent="0" marL="0">
              <a:buNone/>
            </a:pPr>
            <a:r>
              <a:rPr lang="en-US" sz="1150" i="1" dirty="0">
                <a:solidFill>
                  <a:srgbClr val="0E7C7B"/>
                </a:solidFill>
                <a:latin typeface="Calibri" pitchFamily="34" charset="0"/>
                <a:ea typeface="Calibri" pitchFamily="34" charset="-122"/>
                <a:cs typeface="Calibri" pitchFamily="34" charset="-120"/>
              </a:rPr>
              <a:t>efficiently</a:t>
            </a:r>
            <a:endParaRPr lang="en-US" sz="1350" dirty="0"/>
          </a:p>
        </p:txBody>
      </p:sp>
      <p:sp>
        <p:nvSpPr>
          <p:cNvPr id="18" name="Text 16"/>
          <p:cNvSpPr txBox="1"/>
          <p:nvPr/>
        </p:nvSpPr>
        <p:spPr>
          <a:xfrm>
            <a:off x="1371600" y="3300984"/>
            <a:ext cx="4297680" cy="420624"/>
          </a:xfrm>
          <a:prstGeom prst="rect">
            <a:avLst/>
          </a:prstGeom>
          <a:noFill/>
          <a:ln/>
        </p:spPr>
        <p:txBody>
          <a:bodyPr wrap="square" lIns="0" tIns="0" rIns="0" bIns="0" rtlCol="0" anchor="ctr"/>
          <a:lstStyle/>
          <a:p>
            <a:pPr indent="0" marL="0">
              <a:lnSpc>
                <a:spcPct val="108000"/>
              </a:lnSpc>
              <a:buNone/>
            </a:pPr>
            <a:r>
              <a:rPr lang="en-US" sz="930" dirty="0">
                <a:solidFill>
                  <a:srgbClr val="5A6472"/>
                </a:solidFill>
                <a:latin typeface="Calibri" pitchFamily="34" charset="0"/>
                <a:ea typeface="Calibri" pitchFamily="34" charset="-122"/>
                <a:cs typeface="Calibri" pitchFamily="34" charset="-120"/>
              </a:rPr>
              <a:t>Formulate remediation as a budget-constrained optimization, not a uniform sweep, recovering more quality per unit budget than current (FIFO) practice.</a:t>
            </a:r>
            <a:endParaRPr lang="en-US" sz="930" dirty="0"/>
          </a:p>
        </p:txBody>
      </p:sp>
      <p:sp>
        <p:nvSpPr>
          <p:cNvPr id="19" name="Shape 17"/>
          <p:cNvSpPr/>
          <p:nvPr/>
        </p:nvSpPr>
        <p:spPr>
          <a:xfrm>
            <a:off x="5806440" y="3044952"/>
            <a:ext cx="0" cy="621792"/>
          </a:xfrm>
          <a:prstGeom prst="line">
            <a:avLst/>
          </a:prstGeom>
          <a:noFill/>
          <a:ln w="12700">
            <a:solidFill>
              <a:srgbClr val="D8DEEA"/>
            </a:solidFill>
            <a:prstDash val="solid"/>
          </a:ln>
        </p:spPr>
      </p:sp>
      <p:sp>
        <p:nvSpPr>
          <p:cNvPr id="20" name="Text 18"/>
          <p:cNvSpPr txBox="1"/>
          <p:nvPr/>
        </p:nvSpPr>
        <p:spPr>
          <a:xfrm>
            <a:off x="6035040" y="3026664"/>
            <a:ext cx="5394960" cy="182880"/>
          </a:xfrm>
          <a:prstGeom prst="rect">
            <a:avLst/>
          </a:prstGeom>
          <a:noFill/>
          <a:ln/>
        </p:spPr>
        <p:txBody>
          <a:bodyPr wrap="square" lIns="0" tIns="0" rIns="0" bIns="0" rtlCol="0" anchor="ctr"/>
          <a:lstStyle/>
          <a:p>
            <a:pPr indent="0" marL="0">
              <a:buNone/>
            </a:pPr>
            <a:r>
              <a:rPr lang="en-US" sz="850" dirty="0">
                <a:solidFill>
                  <a:srgbClr val="5A6472"/>
                </a:solidFill>
                <a:latin typeface="Calibri" pitchFamily="34" charset="0"/>
                <a:ea typeface="Calibri" pitchFamily="34" charset="-122"/>
                <a:cs typeface="Calibri" pitchFamily="34" charset="-120"/>
              </a:rPr>
              <a:t>Target / success criterion</a:t>
            </a:r>
            <a:endParaRPr lang="en-US" sz="850" dirty="0"/>
          </a:p>
        </p:txBody>
      </p:sp>
      <p:sp>
        <p:nvSpPr>
          <p:cNvPr id="21" name="Text 19"/>
          <p:cNvSpPr txBox="1"/>
          <p:nvPr/>
        </p:nvSpPr>
        <p:spPr>
          <a:xfrm>
            <a:off x="6035040" y="3227832"/>
            <a:ext cx="5394960" cy="502920"/>
          </a:xfrm>
          <a:prstGeom prst="rect">
            <a:avLst/>
          </a:prstGeom>
          <a:noFill/>
          <a:ln/>
        </p:spPr>
        <p:txBody>
          <a:bodyPr wrap="square" lIns="0" tIns="0" rIns="0" bIns="0" rtlCol="0" anchor="ctr"/>
          <a:lstStyle/>
          <a:p>
            <a:pPr indent="0" marL="0">
              <a:lnSpc>
                <a:spcPct val="110000"/>
              </a:lnSpc>
              <a:buNone/>
            </a:pPr>
            <a:r>
              <a:rPr lang="en-US" sz="1080" b="1" dirty="0">
                <a:solidFill>
                  <a:srgbClr val="1B2A56"/>
                </a:solidFill>
                <a:latin typeface="Calibri" pitchFamily="34" charset="0"/>
                <a:ea typeface="Calibri" pitchFamily="34" charset="-122"/>
                <a:cs typeface="Calibri" pitchFamily="34" charset="-120"/>
              </a:rPr>
              <a:t>Target: optimality gap ≤ 5% vs. exact solver; ≥ 40% quality headroom recovered at ≤ 30% budget</a:t>
            </a:r>
            <a:endParaRPr lang="en-US" sz="1080" dirty="0"/>
          </a:p>
        </p:txBody>
      </p:sp>
      <p:sp>
        <p:nvSpPr>
          <p:cNvPr id="22" name="Shape 20"/>
          <p:cNvSpPr/>
          <p:nvPr/>
        </p:nvSpPr>
        <p:spPr>
          <a:xfrm>
            <a:off x="548640" y="3849624"/>
            <a:ext cx="11109960" cy="804672"/>
          </a:xfrm>
          <a:prstGeom prst="roundRect">
            <a:avLst>
              <a:gd name="adj" fmla="val 9091"/>
            </a:avLst>
          </a:prstGeom>
          <a:solidFill>
            <a:srgbClr val="F4F7FC"/>
          </a:solidFill>
          <a:ln/>
          <a:effectLst>
            <a:outerShdw sx="100000" sy="100000" kx="0" ky="0" algn="bl" rotWithShape="0" blurRad="101600" dist="38100" dir="5400000">
              <a:srgbClr val="1B2A56">
                <a:alpha val="12000"/>
              </a:srgbClr>
            </a:outerShdw>
          </a:effectLst>
        </p:spPr>
      </p:sp>
      <p:sp>
        <p:nvSpPr>
          <p:cNvPr id="23" name="Shape 21"/>
          <p:cNvSpPr/>
          <p:nvPr/>
        </p:nvSpPr>
        <p:spPr>
          <a:xfrm>
            <a:off x="777240" y="4059936"/>
            <a:ext cx="384048" cy="384048"/>
          </a:xfrm>
          <a:prstGeom prst="ellipse">
            <a:avLst/>
          </a:prstGeom>
          <a:solidFill>
            <a:srgbClr val="0E7C7B"/>
          </a:solidFill>
          <a:ln/>
        </p:spPr>
      </p:sp>
      <p:sp>
        <p:nvSpPr>
          <p:cNvPr id="24" name="Text 22"/>
          <p:cNvSpPr txBox="1"/>
          <p:nvPr/>
        </p:nvSpPr>
        <p:spPr>
          <a:xfrm>
            <a:off x="777240" y="40599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3"/>
          <p:cNvSpPr txBox="1"/>
          <p:nvPr/>
        </p:nvSpPr>
        <p:spPr>
          <a:xfrm>
            <a:off x="1371600" y="3922776"/>
            <a:ext cx="4297680" cy="274320"/>
          </a:xfrm>
          <a:prstGeom prst="rect">
            <a:avLst/>
          </a:prstGeom>
          <a:noFill/>
          <a:ln/>
        </p:spPr>
        <p:txBody>
          <a:bodyPr wrap="square" lIns="0" tIns="0" rIns="0" bIns="0" rtlCol="0" anchor="ctr"/>
          <a:lstStyle/>
          <a:p>
            <a:pPr indent="0" marL="0">
              <a:buNone/>
            </a:pPr>
            <a:r>
              <a:rPr lang="en-US" sz="1350" b="1" dirty="0">
                <a:solidFill>
                  <a:srgbClr val="1B2A56"/>
                </a:solidFill>
                <a:latin typeface="Calibri" pitchFamily="34" charset="0"/>
                <a:ea typeface="Calibri" pitchFamily="34" charset="-122"/>
                <a:cs typeface="Calibri" pitchFamily="34" charset="-120"/>
              </a:rPr>
              <a:t>Deploy </a:t>
            </a:r>
            <a:pPr indent="0" marL="0">
              <a:buNone/>
            </a:pPr>
            <a:r>
              <a:rPr lang="en-US" sz="1150" i="1" dirty="0">
                <a:solidFill>
                  <a:srgbClr val="0E7C7B"/>
                </a:solidFill>
                <a:latin typeface="Calibri" pitchFamily="34" charset="0"/>
                <a:ea typeface="Calibri" pitchFamily="34" charset="-122"/>
                <a:cs typeface="Calibri" pitchFamily="34" charset="-120"/>
              </a:rPr>
              <a:t>safely</a:t>
            </a:r>
            <a:endParaRPr lang="en-US" sz="1350" dirty="0"/>
          </a:p>
        </p:txBody>
      </p:sp>
      <p:sp>
        <p:nvSpPr>
          <p:cNvPr id="26" name="Text 24"/>
          <p:cNvSpPr txBox="1"/>
          <p:nvPr/>
        </p:nvSpPr>
        <p:spPr>
          <a:xfrm>
            <a:off x="1371600" y="4197096"/>
            <a:ext cx="4297680" cy="420624"/>
          </a:xfrm>
          <a:prstGeom prst="rect">
            <a:avLst/>
          </a:prstGeom>
          <a:noFill/>
          <a:ln/>
        </p:spPr>
        <p:txBody>
          <a:bodyPr wrap="square" lIns="0" tIns="0" rIns="0" bIns="0" rtlCol="0" anchor="ctr"/>
          <a:lstStyle/>
          <a:p>
            <a:pPr indent="0" marL="0">
              <a:lnSpc>
                <a:spcPct val="108000"/>
              </a:lnSpc>
              <a:buNone/>
            </a:pPr>
            <a:r>
              <a:rPr lang="en-US" sz="930" dirty="0">
                <a:solidFill>
                  <a:srgbClr val="5A6472"/>
                </a:solidFill>
                <a:latin typeface="Calibri" pitchFamily="34" charset="0"/>
                <a:ea typeface="Calibri" pitchFamily="34" charset="-122"/>
                <a:cs typeface="Calibri" pitchFamily="34" charset="-120"/>
              </a:rPr>
              <a:t>Guarantee no remediation ships if it would regress a protected query set.</a:t>
            </a:r>
            <a:endParaRPr lang="en-US" sz="930" dirty="0"/>
          </a:p>
        </p:txBody>
      </p:sp>
      <p:sp>
        <p:nvSpPr>
          <p:cNvPr id="27" name="Shape 25"/>
          <p:cNvSpPr/>
          <p:nvPr/>
        </p:nvSpPr>
        <p:spPr>
          <a:xfrm>
            <a:off x="5806440" y="3941064"/>
            <a:ext cx="0" cy="621792"/>
          </a:xfrm>
          <a:prstGeom prst="line">
            <a:avLst/>
          </a:prstGeom>
          <a:noFill/>
          <a:ln w="12700">
            <a:solidFill>
              <a:srgbClr val="D8DEEA"/>
            </a:solidFill>
            <a:prstDash val="solid"/>
          </a:ln>
        </p:spPr>
      </p:sp>
      <p:sp>
        <p:nvSpPr>
          <p:cNvPr id="28" name="Text 26"/>
          <p:cNvSpPr txBox="1"/>
          <p:nvPr/>
        </p:nvSpPr>
        <p:spPr>
          <a:xfrm>
            <a:off x="6035040" y="3922776"/>
            <a:ext cx="5394960" cy="182880"/>
          </a:xfrm>
          <a:prstGeom prst="rect">
            <a:avLst/>
          </a:prstGeom>
          <a:noFill/>
          <a:ln/>
        </p:spPr>
        <p:txBody>
          <a:bodyPr wrap="square" lIns="0" tIns="0" rIns="0" bIns="0" rtlCol="0" anchor="ctr"/>
          <a:lstStyle/>
          <a:p>
            <a:pPr indent="0" marL="0">
              <a:buNone/>
            </a:pPr>
            <a:r>
              <a:rPr lang="en-US" sz="850" dirty="0">
                <a:solidFill>
                  <a:srgbClr val="5A6472"/>
                </a:solidFill>
                <a:latin typeface="Calibri" pitchFamily="34" charset="0"/>
                <a:ea typeface="Calibri" pitchFamily="34" charset="-122"/>
                <a:cs typeface="Calibri" pitchFamily="34" charset="-120"/>
              </a:rPr>
              <a:t>Target / success criterion</a:t>
            </a:r>
            <a:endParaRPr lang="en-US" sz="850" dirty="0"/>
          </a:p>
        </p:txBody>
      </p:sp>
      <p:sp>
        <p:nvSpPr>
          <p:cNvPr id="29" name="Text 27"/>
          <p:cNvSpPr txBox="1"/>
          <p:nvPr/>
        </p:nvSpPr>
        <p:spPr>
          <a:xfrm>
            <a:off x="6035040" y="4123944"/>
            <a:ext cx="5394960" cy="502920"/>
          </a:xfrm>
          <a:prstGeom prst="rect">
            <a:avLst/>
          </a:prstGeom>
          <a:noFill/>
          <a:ln/>
        </p:spPr>
        <p:txBody>
          <a:bodyPr wrap="square" lIns="0" tIns="0" rIns="0" bIns="0" rtlCol="0" anchor="ctr"/>
          <a:lstStyle/>
          <a:p>
            <a:pPr indent="0" marL="0">
              <a:lnSpc>
                <a:spcPct val="110000"/>
              </a:lnSpc>
              <a:buNone/>
            </a:pPr>
            <a:r>
              <a:rPr lang="en-US" sz="1080" b="1" dirty="0">
                <a:solidFill>
                  <a:srgbClr val="1B2A56"/>
                </a:solidFill>
                <a:latin typeface="Calibri" pitchFamily="34" charset="0"/>
                <a:ea typeface="Calibri" pitchFamily="34" charset="-122"/>
                <a:cs typeface="Calibri" pitchFamily="34" charset="-120"/>
              </a:rPr>
              <a:t>Target: zero silent regressions ever ship to the live index</a:t>
            </a:r>
            <a:endParaRPr lang="en-US" sz="1080" dirty="0"/>
          </a:p>
        </p:txBody>
      </p:sp>
      <p:sp>
        <p:nvSpPr>
          <p:cNvPr id="30" name="Shape 28"/>
          <p:cNvSpPr/>
          <p:nvPr/>
        </p:nvSpPr>
        <p:spPr>
          <a:xfrm>
            <a:off x="548640" y="4800600"/>
            <a:ext cx="11109960" cy="777240"/>
          </a:xfrm>
          <a:prstGeom prst="roundRect">
            <a:avLst>
              <a:gd name="adj" fmla="val 9412"/>
            </a:avLst>
          </a:prstGeom>
          <a:solidFill>
            <a:srgbClr val="E4F3F2"/>
          </a:solidFill>
          <a:ln/>
          <a:effectLst>
            <a:outerShdw sx="100000" sy="100000" kx="0" ky="0" algn="bl" rotWithShape="0" blurRad="101600" dist="38100" dir="5400000">
              <a:srgbClr val="1B2A56">
                <a:alpha val="12000"/>
              </a:srgbClr>
            </a:outerShdw>
          </a:effectLst>
        </p:spPr>
      </p:sp>
      <p:sp>
        <p:nvSpPr>
          <p:cNvPr id="31" name="Text 29"/>
          <p:cNvSpPr txBox="1"/>
          <p:nvPr/>
        </p:nvSpPr>
        <p:spPr>
          <a:xfrm>
            <a:off x="777240" y="4901184"/>
            <a:ext cx="10607040" cy="201168"/>
          </a:xfrm>
          <a:prstGeom prst="rect">
            <a:avLst/>
          </a:prstGeom>
          <a:noFill/>
          <a:ln/>
        </p:spPr>
        <p:txBody>
          <a:bodyPr wrap="square" lIns="0" tIns="0" rIns="0" bIns="0" rtlCol="0" anchor="ctr"/>
          <a:lstStyle/>
          <a:p>
            <a:pPr indent="0" marL="0">
              <a:buNone/>
            </a:pPr>
            <a:r>
              <a:rPr lang="en-US" sz="950" b="1" spc="120" kern="0" dirty="0">
                <a:solidFill>
                  <a:srgbClr val="0E7C7B"/>
                </a:solidFill>
                <a:latin typeface="Calibri" pitchFamily="34" charset="0"/>
                <a:ea typeface="Calibri" pitchFamily="34" charset="-122"/>
                <a:cs typeface="Calibri" pitchFamily="34" charset="-120"/>
              </a:rPr>
              <a:t>TARGET CONSUMERS</a:t>
            </a:r>
            <a:endParaRPr lang="en-US" sz="950" dirty="0"/>
          </a:p>
        </p:txBody>
      </p:sp>
      <p:sp>
        <p:nvSpPr>
          <p:cNvPr id="32" name="Text 30"/>
          <p:cNvSpPr txBox="1"/>
          <p:nvPr/>
        </p:nvSpPr>
        <p:spPr>
          <a:xfrm>
            <a:off x="777240" y="5102352"/>
            <a:ext cx="10607040" cy="438912"/>
          </a:xfrm>
          <a:prstGeom prst="rect">
            <a:avLst/>
          </a:prstGeom>
          <a:noFill/>
          <a:ln/>
        </p:spPr>
        <p:txBody>
          <a:bodyPr wrap="square" lIns="0" tIns="0" rIns="0" bIns="0" rtlCol="0" anchor="ctr"/>
          <a:lstStyle/>
          <a:p>
            <a:pPr indent="0" marL="0">
              <a:lnSpc>
                <a:spcPct val="112000"/>
              </a:lnSpc>
              <a:buNone/>
            </a:pPr>
            <a:r>
              <a:rPr lang="en-US" sz="930" dirty="0">
                <a:solidFill>
                  <a:srgbClr val="1B2A56"/>
                </a:solidFill>
                <a:latin typeface="Calibri" pitchFamily="34" charset="0"/>
                <a:ea typeface="Calibri" pitchFamily="34" charset="-122"/>
                <a:cs typeface="Calibri" pitchFamily="34" charset="-120"/>
              </a:rPr>
              <a:t>Engineering and MLOps teams operating production vector databases and RAG / semantic-search systems — especially teams relying on third-party embedding APIs (OpenAI, Cohere) whose model updates are outside their control, and teams running large-scale stacks (Pinecone, Weaviate, Milvus, FAISS) where a full re-embed on every update is too costly.</a:t>
            </a:r>
            <a:endParaRPr lang="en-US" sz="930" dirty="0"/>
          </a:p>
        </p:txBody>
      </p:sp>
      <p:sp>
        <p:nvSpPr>
          <p:cNvPr id="33" name="Text 31"/>
          <p:cNvSpPr txBox="1"/>
          <p:nvPr/>
        </p:nvSpPr>
        <p:spPr>
          <a:xfrm>
            <a:off x="548640" y="5705856"/>
            <a:ext cx="11064240" cy="365760"/>
          </a:xfrm>
          <a:prstGeom prst="rect">
            <a:avLst/>
          </a:prstGeom>
          <a:noFill/>
          <a:ln/>
        </p:spPr>
        <p:txBody>
          <a:bodyPr wrap="square" lIns="0" tIns="0" rIns="0" bIns="0" rtlCol="0" anchor="ctr"/>
          <a:lstStyle/>
          <a:p>
            <a:pPr indent="0" marL="0">
              <a:buNone/>
            </a:pPr>
            <a:r>
              <a:rPr lang="en-US" sz="950" b="1" dirty="0">
                <a:solidFill>
                  <a:srgbClr val="1B2A56"/>
                </a:solidFill>
                <a:latin typeface="Calibri" pitchFamily="34" charset="0"/>
                <a:ea typeface="Calibri" pitchFamily="34" charset="-122"/>
                <a:cs typeface="Calibri" pitchFamily="34" charset="-120"/>
              </a:rPr>
              <a:t>Scope: </a:t>
            </a:r>
            <a:pPr indent="0" marL="0">
              <a:buNone/>
            </a:pPr>
            <a:r>
              <a:rPr lang="en-US" sz="950" dirty="0">
                <a:solidFill>
                  <a:srgbClr val="20242E"/>
                </a:solidFill>
                <a:latin typeface="Calibri" pitchFamily="34" charset="0"/>
                <a:ea typeface="Calibri" pitchFamily="34" charset="-122"/>
                <a:cs typeface="Calibri" pitchFamily="34" charset="-120"/>
              </a:rPr>
              <a:t>BEIR SciFact corpus (5,000 docs), open sentence-transformer models, laptop-scale reproducible benchmark.   </a:t>
            </a:r>
            <a:pPr indent="0" marL="0">
              <a:buNone/>
            </a:pPr>
            <a:r>
              <a:rPr lang="en-US" sz="950" b="1" dirty="0">
                <a:solidFill>
                  <a:srgbClr val="1B2A56"/>
                </a:solidFill>
                <a:latin typeface="Calibri" pitchFamily="34" charset="0"/>
                <a:ea typeface="Calibri" pitchFamily="34" charset="-122"/>
                <a:cs typeface="Calibri" pitchFamily="34" charset="-120"/>
              </a:rPr>
              <a:t>Out of scope (this phase): </a:t>
            </a:r>
            <a:pPr indent="0" marL="0">
              <a:buNone/>
            </a:pPr>
            <a:r>
              <a:rPr lang="en-US" sz="950" dirty="0">
                <a:solidFill>
                  <a:srgbClr val="20242E"/>
                </a:solidFill>
                <a:latin typeface="Calibri" pitchFamily="34" charset="0"/>
                <a:ea typeface="Calibri" pitchFamily="34" charset="-122"/>
                <a:cs typeface="Calibri" pitchFamily="34" charset="-120"/>
              </a:rPr>
              <a:t>live production traffic replay; multi-corpus generalization — see Future Work.</a:t>
            </a:r>
            <a:endParaRPr lang="en-US" sz="950" dirty="0"/>
          </a:p>
        </p:txBody>
      </p:sp>
      <p:sp>
        <p:nvSpPr>
          <p:cNvPr id="34" name="Text 3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35" name="Text 33"/>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DOMAIN / COHORT KNOWLEDGE</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Domain &amp; Cohort Knowledge</a:t>
            </a:r>
            <a:endParaRPr lang="en-US" sz="3200" dirty="0"/>
          </a:p>
        </p:txBody>
      </p:sp>
      <p:sp>
        <p:nvSpPr>
          <p:cNvPr id="4" name="Shape 2"/>
          <p:cNvSpPr/>
          <p:nvPr/>
        </p:nvSpPr>
        <p:spPr>
          <a:xfrm>
            <a:off x="548640" y="1508760"/>
            <a:ext cx="3429000" cy="4434840"/>
          </a:xfrm>
          <a:prstGeom prst="roundRect">
            <a:avLst>
              <a:gd name="adj" fmla="val 2133"/>
            </a:avLst>
          </a:prstGeom>
          <a:solidFill>
            <a:srgbClr val="1B2A56"/>
          </a:solidFill>
          <a:ln/>
        </p:spPr>
      </p:sp>
      <p:sp>
        <p:nvSpPr>
          <p:cNvPr id="5" name="Text 3"/>
          <p:cNvSpPr txBox="1"/>
          <p:nvPr/>
        </p:nvSpPr>
        <p:spPr>
          <a:xfrm>
            <a:off x="777240" y="1691640"/>
            <a:ext cx="3017520" cy="274320"/>
          </a:xfrm>
          <a:prstGeom prst="rect">
            <a:avLst/>
          </a:prstGeom>
          <a:noFill/>
          <a:ln/>
        </p:spPr>
        <p:txBody>
          <a:bodyPr wrap="square" lIns="0" tIns="0" rIns="0" bIns="0" rtlCol="0" anchor="ctr"/>
          <a:lstStyle/>
          <a:p>
            <a:pPr indent="0" marL="0">
              <a:buNone/>
            </a:pPr>
            <a:r>
              <a:rPr lang="en-US" sz="1100" b="1" spc="150" kern="0" dirty="0">
                <a:solidFill>
                  <a:srgbClr val="CFE0FA"/>
                </a:solidFill>
                <a:latin typeface="Calibri" pitchFamily="34" charset="0"/>
                <a:ea typeface="Calibri" pitchFamily="34" charset="-122"/>
                <a:cs typeface="Calibri" pitchFamily="34" charset="-120"/>
              </a:rPr>
              <a:t>DOMAIN</a:t>
            </a:r>
            <a:endParaRPr lang="en-US" sz="1100" dirty="0"/>
          </a:p>
        </p:txBody>
      </p:sp>
      <p:sp>
        <p:nvSpPr>
          <p:cNvPr id="6" name="Text 4"/>
          <p:cNvSpPr txBox="1"/>
          <p:nvPr/>
        </p:nvSpPr>
        <p:spPr>
          <a:xfrm>
            <a:off x="777240" y="1965960"/>
            <a:ext cx="3017520" cy="457200"/>
          </a:xfrm>
          <a:prstGeom prst="rect">
            <a:avLst/>
          </a:prstGeom>
          <a:noFill/>
          <a:ln/>
        </p:spPr>
        <p:txBody>
          <a:bodyPr wrap="square" lIns="0" tIns="0" rIns="0" bIns="0" rtlCol="0" anchor="ctr"/>
          <a:lstStyle/>
          <a:p>
            <a:pPr indent="0" marL="0">
              <a:lnSpc>
                <a:spcPct val="110000"/>
              </a:lnSpc>
              <a:buNone/>
            </a:pPr>
            <a:r>
              <a:rPr lang="en-US" sz="1700" b="1" dirty="0">
                <a:solidFill>
                  <a:srgbClr val="FFFFFF"/>
                </a:solidFill>
                <a:latin typeface="Cambria" pitchFamily="34" charset="0"/>
                <a:ea typeface="Cambria" pitchFamily="34" charset="-122"/>
                <a:cs typeface="Cambria" pitchFamily="34" charset="-120"/>
              </a:rPr>
              <a:t>Artificial Intelligence &amp; Machine Learning</a:t>
            </a:r>
            <a:endParaRPr lang="en-US" sz="1700" dirty="0"/>
          </a:p>
        </p:txBody>
      </p:sp>
      <p:sp>
        <p:nvSpPr>
          <p:cNvPr id="7" name="Text 5"/>
          <p:cNvSpPr txBox="1"/>
          <p:nvPr/>
        </p:nvSpPr>
        <p:spPr>
          <a:xfrm>
            <a:off x="777240" y="2514600"/>
            <a:ext cx="3017520" cy="502920"/>
          </a:xfrm>
          <a:prstGeom prst="rect">
            <a:avLst/>
          </a:prstGeom>
          <a:noFill/>
          <a:ln/>
        </p:spPr>
        <p:txBody>
          <a:bodyPr wrap="square" lIns="0" tIns="0" rIns="0" bIns="0" rtlCol="0" anchor="ctr"/>
          <a:lstStyle/>
          <a:p>
            <a:pPr indent="0" marL="0">
              <a:lnSpc>
                <a:spcPct val="115000"/>
              </a:lnSpc>
              <a:buNone/>
            </a:pPr>
            <a:r>
              <a:rPr lang="en-US" sz="1150" i="1" dirty="0">
                <a:solidFill>
                  <a:srgbClr val="CFE0FA"/>
                </a:solidFill>
                <a:latin typeface="Calibri" pitchFamily="34" charset="0"/>
                <a:ea typeface="Calibri" pitchFamily="34" charset="-122"/>
                <a:cs typeface="Calibri" pitchFamily="34" charset="-120"/>
              </a:rPr>
              <a:t>Sub-domain: Information Retrieval &amp; MLOps Systems Engineering</a:t>
            </a:r>
            <a:endParaRPr lang="en-US" sz="1150" dirty="0"/>
          </a:p>
        </p:txBody>
      </p:sp>
      <p:sp>
        <p:nvSpPr>
          <p:cNvPr id="8" name="Text 6"/>
          <p:cNvSpPr txBox="1"/>
          <p:nvPr/>
        </p:nvSpPr>
        <p:spPr>
          <a:xfrm>
            <a:off x="777240" y="3017520"/>
            <a:ext cx="3017520" cy="365760"/>
          </a:xfrm>
          <a:prstGeom prst="rect">
            <a:avLst/>
          </a:prstGeom>
          <a:noFill/>
          <a:ln/>
        </p:spPr>
        <p:txBody>
          <a:bodyPr wrap="square" lIns="0" tIns="0" rIns="0" bIns="0" rtlCol="0" anchor="ctr"/>
          <a:lstStyle/>
          <a:p>
            <a:pPr indent="0" marL="0">
              <a:buNone/>
            </a:pPr>
            <a:r>
              <a:rPr lang="en-US" sz="950" i="1" dirty="0">
                <a:solidFill>
                  <a:srgbClr val="C97A22"/>
                </a:solidFill>
                <a:latin typeface="Calibri" pitchFamily="34" charset="0"/>
                <a:ea typeface="Calibri" pitchFamily="34" charset="-122"/>
                <a:cs typeface="Calibri" pitchFamily="34" charset="-120"/>
              </a:rPr>
              <a:t>[Confirm exact enrolled cohort/track name with coordinator]</a:t>
            </a:r>
            <a:endParaRPr lang="en-US" sz="950" dirty="0"/>
          </a:p>
        </p:txBody>
      </p:sp>
      <p:sp>
        <p:nvSpPr>
          <p:cNvPr id="9" name="Shape 7"/>
          <p:cNvSpPr/>
          <p:nvPr/>
        </p:nvSpPr>
        <p:spPr>
          <a:xfrm>
            <a:off x="777240" y="3520440"/>
            <a:ext cx="2971800" cy="0"/>
          </a:xfrm>
          <a:prstGeom prst="line">
            <a:avLst/>
          </a:prstGeom>
          <a:noFill/>
          <a:ln w="12700">
            <a:solidFill>
              <a:srgbClr val="33447A"/>
            </a:solidFill>
            <a:prstDash val="solid"/>
          </a:ln>
        </p:spPr>
      </p:sp>
      <p:sp>
        <p:nvSpPr>
          <p:cNvPr id="10" name="Text 8"/>
          <p:cNvSpPr txBox="1"/>
          <p:nvPr/>
        </p:nvSpPr>
        <p:spPr>
          <a:xfrm>
            <a:off x="777240" y="3657600"/>
            <a:ext cx="3017520" cy="274320"/>
          </a:xfrm>
          <a:prstGeom prst="rect">
            <a:avLst/>
          </a:prstGeom>
          <a:noFill/>
          <a:ln/>
        </p:spPr>
        <p:txBody>
          <a:bodyPr wrap="square" lIns="0" tIns="0" rIns="0" bIns="0" rtlCol="0" anchor="ctr"/>
          <a:lstStyle/>
          <a:p>
            <a:pPr indent="0" marL="0">
              <a:buNone/>
            </a:pPr>
            <a:r>
              <a:rPr lang="en-US" sz="1100" b="1" spc="150" kern="0" dirty="0">
                <a:solidFill>
                  <a:srgbClr val="CFE0FA"/>
                </a:solidFill>
                <a:latin typeface="Calibri" pitchFamily="34" charset="0"/>
                <a:ea typeface="Calibri" pitchFamily="34" charset="-122"/>
                <a:cs typeface="Calibri" pitchFamily="34" charset="-120"/>
              </a:rPr>
              <a:t>KEY TERMS</a:t>
            </a:r>
            <a:endParaRPr lang="en-US" sz="1100" dirty="0"/>
          </a:p>
        </p:txBody>
      </p:sp>
      <p:sp>
        <p:nvSpPr>
          <p:cNvPr id="11" name="Text 9"/>
          <p:cNvSpPr txBox="1"/>
          <p:nvPr/>
        </p:nvSpPr>
        <p:spPr>
          <a:xfrm>
            <a:off x="777240" y="3950208"/>
            <a:ext cx="3017520" cy="1828800"/>
          </a:xfrm>
          <a:prstGeom prst="rect">
            <a:avLst/>
          </a:prstGeom>
          <a:noFill/>
          <a:ln/>
        </p:spPr>
        <p:txBody>
          <a:bodyPr wrap="square" lIns="0" tIns="0" rIns="0" bIns="0" rtlCol="0" anchor="ctr"/>
          <a:lstStyle/>
          <a:p>
            <a:pPr indent="0" marL="0">
              <a:lnSpc>
                <a:spcPct val="135000"/>
              </a:lnSpc>
              <a:buNone/>
            </a:pPr>
            <a:r>
              <a:rPr lang="en-US" sz="1050" dirty="0">
                <a:solidFill>
                  <a:srgbClr val="CFE0FA"/>
                </a:solidFill>
                <a:latin typeface="Calibri" pitchFamily="34" charset="0"/>
                <a:ea typeface="Calibri" pitchFamily="34" charset="-122"/>
                <a:cs typeface="Calibri" pitchFamily="34" charset="-120"/>
              </a:rPr>
              <a:t>• Embedding — a dense numeric vector encoding meaning</a:t>
            </a:r>
            <a:endParaRPr lang="en-US" sz="1050" dirty="0"/>
          </a:p>
          <a:p>
            <a:pPr indent="0" marL="0">
              <a:lnSpc>
                <a:spcPct val="135000"/>
              </a:lnSpc>
              <a:buNone/>
            </a:pPr>
            <a:r>
              <a:rPr lang="en-US" sz="1050" dirty="0">
                <a:solidFill>
                  <a:srgbClr val="CFE0FA"/>
                </a:solidFill>
                <a:latin typeface="Calibri" pitchFamily="34" charset="0"/>
                <a:ea typeface="Calibri" pitchFamily="34" charset="-122"/>
                <a:cs typeface="Calibri" pitchFamily="34" charset="-120"/>
              </a:rPr>
              <a:t>• Cosine similarity — angle-based closeness between vectors</a:t>
            </a:r>
            <a:endParaRPr lang="en-US" sz="1050" dirty="0"/>
          </a:p>
          <a:p>
            <a:pPr indent="0" marL="0">
              <a:lnSpc>
                <a:spcPct val="135000"/>
              </a:lnSpc>
              <a:buNone/>
            </a:pPr>
            <a:r>
              <a:rPr lang="en-US" sz="1050" dirty="0">
                <a:solidFill>
                  <a:srgbClr val="CFE0FA"/>
                </a:solidFill>
                <a:latin typeface="Calibri" pitchFamily="34" charset="0"/>
                <a:ea typeface="Calibri" pitchFamily="34" charset="-122"/>
                <a:cs typeface="Calibri" pitchFamily="34" charset="-120"/>
              </a:rPr>
              <a:t>• ANN index (e.g. HNSW/FAISS) — fast approximate vector search</a:t>
            </a:r>
            <a:endParaRPr lang="en-US" sz="1050" dirty="0"/>
          </a:p>
          <a:p>
            <a:pPr indent="0" marL="0">
              <a:lnSpc>
                <a:spcPct val="135000"/>
              </a:lnSpc>
              <a:buNone/>
            </a:pPr>
            <a:r>
              <a:rPr lang="en-US" sz="1050" dirty="0">
                <a:solidFill>
                  <a:srgbClr val="CFE0FA"/>
                </a:solidFill>
                <a:latin typeface="Calibri" pitchFamily="34" charset="0"/>
                <a:ea typeface="Calibri" pitchFamily="34" charset="-122"/>
                <a:cs typeface="Calibri" pitchFamily="34" charset="-120"/>
              </a:rPr>
              <a:t>• Embedding drift — silent semantic shift across model versions</a:t>
            </a:r>
            <a:endParaRPr lang="en-US" sz="1050" dirty="0"/>
          </a:p>
        </p:txBody>
      </p:sp>
      <p:sp>
        <p:nvSpPr>
          <p:cNvPr id="12" name="Shape 10"/>
          <p:cNvSpPr/>
          <p:nvPr/>
        </p:nvSpPr>
        <p:spPr>
          <a:xfrm>
            <a:off x="4160520" y="1508760"/>
            <a:ext cx="7452360" cy="1399032"/>
          </a:xfrm>
          <a:prstGeom prst="roundRect">
            <a:avLst>
              <a:gd name="adj" fmla="val 5229"/>
            </a:avLst>
          </a:prstGeom>
          <a:solidFill>
            <a:srgbClr val="F4F7FC"/>
          </a:solidFill>
          <a:ln/>
          <a:effectLst>
            <a:outerShdw sx="100000" sy="100000" kx="0" ky="0" algn="bl" rotWithShape="0" blurRad="101600" dist="38100" dir="5400000">
              <a:srgbClr val="1B2A56">
                <a:alpha val="12000"/>
              </a:srgbClr>
            </a:outerShdw>
          </a:effectLst>
        </p:spPr>
      </p:sp>
      <p:sp>
        <p:nvSpPr>
          <p:cNvPr id="13" name="Text 11"/>
          <p:cNvSpPr txBox="1"/>
          <p:nvPr/>
        </p:nvSpPr>
        <p:spPr>
          <a:xfrm>
            <a:off x="4389120" y="1618488"/>
            <a:ext cx="694944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Current Trends &amp; Technologies</a:t>
            </a:r>
            <a:endParaRPr lang="en-US" sz="1300" dirty="0"/>
          </a:p>
        </p:txBody>
      </p:sp>
      <p:sp>
        <p:nvSpPr>
          <p:cNvPr id="14" name="Text 12"/>
          <p:cNvSpPr txBox="1"/>
          <p:nvPr/>
        </p:nvSpPr>
        <p:spPr>
          <a:xfrm>
            <a:off x="4389120" y="1929384"/>
            <a:ext cx="6949440" cy="914400"/>
          </a:xfrm>
          <a:prstGeom prst="rect">
            <a:avLst/>
          </a:prstGeom>
          <a:noFill/>
          <a:ln/>
        </p:spPr>
        <p:txBody>
          <a:bodyPr wrap="square" lIns="0" tIns="0" rIns="0" bIns="0" rtlCol="0" anchor="ctr"/>
          <a:lstStyle/>
          <a:p>
            <a:pPr indent="0" marL="0">
              <a:lnSpc>
                <a:spcPct val="120000"/>
              </a:lnSpc>
              <a:buNone/>
            </a:pPr>
            <a:r>
              <a:rPr lang="en-US" sz="1100" dirty="0">
                <a:solidFill>
                  <a:srgbClr val="20242E"/>
                </a:solidFill>
                <a:latin typeface="Calibri" pitchFamily="34" charset="0"/>
                <a:ea typeface="Calibri" pitchFamily="34" charset="-122"/>
                <a:cs typeface="Calibri" pitchFamily="34" charset="-120"/>
              </a:rPr>
              <a:t>Retrieval-Augmented Generation (RAG) has made vector search a core production dependency; providers now ship frequent embedding-model updates (OpenAI, Cohere, open sentence-transformers). Over 20 commercial vector-database systems have launched in the past five years (Pan et al., 2024, VLDB Journal).</a:t>
            </a:r>
            <a:endParaRPr lang="en-US" sz="1100" dirty="0"/>
          </a:p>
        </p:txBody>
      </p:sp>
      <p:sp>
        <p:nvSpPr>
          <p:cNvPr id="15" name="Shape 13"/>
          <p:cNvSpPr/>
          <p:nvPr/>
        </p:nvSpPr>
        <p:spPr>
          <a:xfrm>
            <a:off x="4160520" y="3044952"/>
            <a:ext cx="7452360" cy="1399032"/>
          </a:xfrm>
          <a:prstGeom prst="roundRect">
            <a:avLst>
              <a:gd name="adj" fmla="val 5229"/>
            </a:avLst>
          </a:prstGeom>
          <a:solidFill>
            <a:srgbClr val="F4F7FC"/>
          </a:solidFill>
          <a:ln/>
          <a:effectLst>
            <a:outerShdw sx="100000" sy="100000" kx="0" ky="0" algn="bl" rotWithShape="0" blurRad="101600" dist="38100" dir="5400000">
              <a:srgbClr val="1B2A56">
                <a:alpha val="12000"/>
              </a:srgbClr>
            </a:outerShdw>
          </a:effectLst>
        </p:spPr>
      </p:sp>
      <p:sp>
        <p:nvSpPr>
          <p:cNvPr id="16" name="Text 14"/>
          <p:cNvSpPr txBox="1"/>
          <p:nvPr/>
        </p:nvSpPr>
        <p:spPr>
          <a:xfrm>
            <a:off x="4389120" y="3154680"/>
            <a:ext cx="694944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Real-World Applications</a:t>
            </a:r>
            <a:endParaRPr lang="en-US" sz="1300" dirty="0"/>
          </a:p>
        </p:txBody>
      </p:sp>
      <p:sp>
        <p:nvSpPr>
          <p:cNvPr id="17" name="Text 15"/>
          <p:cNvSpPr txBox="1"/>
          <p:nvPr/>
        </p:nvSpPr>
        <p:spPr>
          <a:xfrm>
            <a:off x="4389120" y="3465576"/>
            <a:ext cx="6949440" cy="914400"/>
          </a:xfrm>
          <a:prstGeom prst="rect">
            <a:avLst/>
          </a:prstGeom>
          <a:noFill/>
          <a:ln/>
        </p:spPr>
        <p:txBody>
          <a:bodyPr wrap="square" lIns="0" tIns="0" rIns="0" bIns="0" rtlCol="0" anchor="ctr"/>
          <a:lstStyle/>
          <a:p>
            <a:pPr indent="0" marL="0">
              <a:lnSpc>
                <a:spcPct val="120000"/>
              </a:lnSpc>
              <a:buNone/>
            </a:pPr>
            <a:r>
              <a:rPr lang="en-US" sz="1100" dirty="0">
                <a:solidFill>
                  <a:srgbClr val="20242E"/>
                </a:solidFill>
                <a:latin typeface="Calibri" pitchFamily="34" charset="0"/>
                <a:ea typeface="Calibri" pitchFamily="34" charset="-122"/>
                <a:cs typeface="Calibri" pitchFamily="34" charset="-120"/>
              </a:rPr>
              <a:t>Pinecone, Weaviate, Milvus, and FAISS/HNSW-based search stacks power semantic search and RAG assistants at companies ranging from startups to major AI labs — every one of them is exposed to this exact silent-drift failure mode.</a:t>
            </a:r>
            <a:endParaRPr lang="en-US" sz="1100" dirty="0"/>
          </a:p>
        </p:txBody>
      </p:sp>
      <p:sp>
        <p:nvSpPr>
          <p:cNvPr id="18" name="Shape 16"/>
          <p:cNvSpPr/>
          <p:nvPr/>
        </p:nvSpPr>
        <p:spPr>
          <a:xfrm>
            <a:off x="4160520" y="4581144"/>
            <a:ext cx="7452360" cy="1399032"/>
          </a:xfrm>
          <a:prstGeom prst="roundRect">
            <a:avLst>
              <a:gd name="adj" fmla="val 5229"/>
            </a:avLst>
          </a:prstGeom>
          <a:solidFill>
            <a:srgbClr val="F4F7FC"/>
          </a:solidFill>
          <a:ln/>
          <a:effectLst>
            <a:outerShdw sx="100000" sy="100000" kx="0" ky="0" algn="bl" rotWithShape="0" blurRad="101600" dist="38100" dir="5400000">
              <a:srgbClr val="1B2A56">
                <a:alpha val="12000"/>
              </a:srgbClr>
            </a:outerShdw>
          </a:effectLst>
        </p:spPr>
      </p:sp>
      <p:sp>
        <p:nvSpPr>
          <p:cNvPr id="19" name="Text 17"/>
          <p:cNvSpPr txBox="1"/>
          <p:nvPr/>
        </p:nvSpPr>
        <p:spPr>
          <a:xfrm>
            <a:off x="4389120" y="4690872"/>
            <a:ext cx="694944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Relevance to This Project</a:t>
            </a:r>
            <a:endParaRPr lang="en-US" sz="1300" dirty="0"/>
          </a:p>
        </p:txBody>
      </p:sp>
      <p:sp>
        <p:nvSpPr>
          <p:cNvPr id="20" name="Text 18"/>
          <p:cNvSpPr txBox="1"/>
          <p:nvPr/>
        </p:nvSpPr>
        <p:spPr>
          <a:xfrm>
            <a:off x="4389120" y="5001768"/>
            <a:ext cx="6949440" cy="914400"/>
          </a:xfrm>
          <a:prstGeom prst="rect">
            <a:avLst/>
          </a:prstGeom>
          <a:noFill/>
          <a:ln/>
        </p:spPr>
        <p:txBody>
          <a:bodyPr wrap="square" lIns="0" tIns="0" rIns="0" bIns="0" rtlCol="0" anchor="ctr"/>
          <a:lstStyle/>
          <a:p>
            <a:pPr indent="0" marL="0">
              <a:lnSpc>
                <a:spcPct val="120000"/>
              </a:lnSpc>
              <a:buNone/>
            </a:pPr>
            <a:r>
              <a:rPr lang="en-US" sz="1100" dirty="0">
                <a:solidFill>
                  <a:srgbClr val="20242E"/>
                </a:solidFill>
                <a:latin typeface="Calibri" pitchFamily="34" charset="0"/>
                <a:ea typeface="Calibri" pitchFamily="34" charset="-122"/>
                <a:cs typeface="Calibri" pitchFamily="34" charset="-120"/>
              </a:rPr>
              <a:t>VectorSentry sits precisely at the intersection of information-retrieval evaluation, anomaly detection, and MLOps deployment safety — three established sub-fields this project deliberately combines rather than treats in isolation.</a:t>
            </a:r>
            <a:endParaRPr lang="en-US" sz="1100" dirty="0"/>
          </a:p>
        </p:txBody>
      </p:sp>
      <p:sp>
        <p:nvSpPr>
          <p:cNvPr id="21" name="Text 19"/>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22" name="Text 20"/>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LITERATURE SURVEY — 1 OF 2</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Literature Survey — Detection &amp; Patching</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7 of 15 sources — the papers directly targeting detection or repair of embedding contamination. Full APA list on the References slide.</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4709160"/>
        </p:xfrm>
        <a:graphic>
          <a:graphicData uri="http://schemas.openxmlformats.org/drawingml/2006/table">
            <a:tbl>
              <a:tblPr/>
              <a:tblGrid>
                <a:gridCol w="1737360"/>
                <a:gridCol w="2880360"/>
                <a:gridCol w="2880360"/>
                <a:gridCol w="3611880"/>
              </a:tblGrid>
              <a:tr h="588645">
                <a:tc>
                  <a:txBody>
                    <a:bodyPr/>
                    <a:lstStyle/>
                    <a:p>
                      <a:pPr indent="0" marL="0">
                        <a:buNone/>
                      </a:pPr>
                      <a:r>
                        <a:rPr lang="en-US" sz="950" b="1" dirty="0">
                          <a:solidFill>
                            <a:srgbClr val="FFFFFF"/>
                          </a:solidFill>
                        </a:rPr>
                        <a:t>Source</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Core Concept</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Gap</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How We Address It</a:t>
                      </a:r>
                      <a:endParaRPr lang="en-US" sz="95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r>
              <a:tr h="588645">
                <a:tc>
                  <a:txBody>
                    <a:bodyPr/>
                    <a:lstStyle/>
                    <a:p>
                      <a:pPr indent="0" marL="0">
                        <a:buNone/>
                      </a:pPr>
                      <a:r>
                        <a:rPr lang="en-US" sz="830" dirty="0">
                          <a:solidFill>
                            <a:srgbClr val="20242E"/>
                          </a:solidFill>
                        </a:rPr>
                        <a:t>Sun et al., 2022</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Non-parametric OOD detection via k-NN distance in embedding space</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Detects anomalies only — doesn't decide what to do next</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Adapted as our Detection module's core scoring method</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30" dirty="0">
                          <a:solidFill>
                            <a:srgbClr val="20242E"/>
                          </a:solidFill>
                        </a:rPr>
                        <a:t>Lu et al., 2024</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Taxonomy of OOD-detection methods across ML domains</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No treatment of embedding-generation-drift-specific detection</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Confirms KNN-OOD as a mature, well-grounded detector choice</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30" dirty="0">
                          <a:solidFill>
                            <a:srgbClr val="20242E"/>
                          </a:solidFill>
                        </a:rPr>
                        <a:t>Liu et al., 2008</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Isolation Forest — isolates anomalies via random feature-space splits</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General-purpose; untested on embedding-space anisotropy</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Evaluated as an alternative detector in our design</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30" dirty="0">
                          <a:solidFill>
                            <a:srgbClr val="20242E"/>
                          </a:solidFill>
                        </a:rPr>
                        <a:t>Breunig et al., 2000</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LOF — density-relative local outlier scoring</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Same generality gap; heavier compute than KNN-OOD</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Second alternative detector considered in our design</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30" dirty="0">
                          <a:solidFill>
                            <a:srgbClr val="20242E"/>
                          </a:solidFill>
                        </a:rPr>
                        <a:t>Vejendla, 2025</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Drift-Adapter — lightweight learned adapter cheaply realigns embeddings</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One uniform fix for the whole corpus — no per-document choice</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Adapted as our Patch action, gated by a budget decision</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30" dirty="0">
                          <a:solidFill>
                            <a:srgbClr val="20242E"/>
                          </a:solidFill>
                        </a:rPr>
                        <a:t>Hu et al., 2022</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Trains new models to stay backward-compatible with old embeddings</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Needs control of model training — unusable with third-party APIs</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Discussed as a complementary, prevention-side alternative</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88645">
                <a:tc>
                  <a:txBody>
                    <a:bodyPr/>
                    <a:lstStyle/>
                    <a:p>
                      <a:pPr indent="0" marL="0">
                        <a:buNone/>
                      </a:pPr>
                      <a:r>
                        <a:rPr lang="en-US" sz="830" dirty="0">
                          <a:solidFill>
                            <a:srgbClr val="20242E"/>
                          </a:solidFill>
                        </a:rPr>
                        <a:t>Lample et al., 2018</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MUSE — orthogonal Procrustes alignment between spaces, no parallel data</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Built for cross-lingual spaces; assumes no budget constraint</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30" dirty="0">
                          <a:solidFill>
                            <a:srgbClr val="20242E"/>
                          </a:solidFill>
                        </a:rPr>
                        <a:t>Theoretical foundation for our Patch action's alignment transform</a:t>
                      </a:r>
                      <a:endParaRPr lang="en-US" sz="830" dirty="0"/>
                    </a:p>
                  </a:txBody>
                  <a:tcPr marL="76200" marR="762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6"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7" name="Text 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LITERATURE SURVEY — 2 OF 2</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Literature Survey — Foundational Work</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8 of 15 sources — systems, benchmarking, and Operations-Research foundations our design is built on.</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4709160"/>
        </p:xfrm>
        <a:graphic>
          <a:graphicData uri="http://schemas.openxmlformats.org/drawingml/2006/table">
            <a:tbl>
              <a:tblPr/>
              <a:tblGrid>
                <a:gridCol w="1737360"/>
                <a:gridCol w="2880360"/>
                <a:gridCol w="2880360"/>
                <a:gridCol w="3611880"/>
              </a:tblGrid>
              <a:tr h="523240">
                <a:tc>
                  <a:txBody>
                    <a:bodyPr/>
                    <a:lstStyle/>
                    <a:p>
                      <a:pPr indent="0" marL="0">
                        <a:buNone/>
                      </a:pPr>
                      <a:r>
                        <a:rPr lang="en-US" sz="950" b="1" dirty="0">
                          <a:solidFill>
                            <a:srgbClr val="FFFFFF"/>
                          </a:solidFill>
                        </a:rPr>
                        <a:t>Source</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Core Concept</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Gap</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c>
                  <a:txBody>
                    <a:bodyPr/>
                    <a:lstStyle/>
                    <a:p>
                      <a:pPr indent="0" marL="0">
                        <a:buNone/>
                      </a:pPr>
                      <a:r>
                        <a:rPr lang="en-US" sz="950" b="1" dirty="0">
                          <a:solidFill>
                            <a:srgbClr val="FFFFFF"/>
                          </a:solidFill>
                        </a:rPr>
                        <a:t>How We Address It</a:t>
                      </a:r>
                      <a:endParaRPr lang="en-US" sz="95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B2A56"/>
                    </a:solidFill>
                  </a:tcPr>
                </a:tc>
              </a:tr>
              <a:tr h="523240">
                <a:tc>
                  <a:txBody>
                    <a:bodyPr/>
                    <a:lstStyle/>
                    <a:p>
                      <a:pPr indent="0" marL="0">
                        <a:buNone/>
                      </a:pPr>
                      <a:r>
                        <a:rPr lang="en-US" sz="800" dirty="0">
                          <a:solidFill>
                            <a:srgbClr val="20242E"/>
                          </a:solidFill>
                        </a:rPr>
                        <a:t>Malkov &amp; Yashunin, 2020</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HNSW — graph index for fast approximate nearest-neighbor search</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Assumes a geometrically consistent index — silently broken by contamination</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Names exactly why contamination is dangerous for the indexes we target</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23240">
                <a:tc>
                  <a:txBody>
                    <a:bodyPr/>
                    <a:lstStyle/>
                    <a:p>
                      <a:pPr indent="0" marL="0">
                        <a:buNone/>
                      </a:pPr>
                      <a:r>
                        <a:rPr lang="en-US" sz="800" dirty="0">
                          <a:solidFill>
                            <a:srgbClr val="20242E"/>
                          </a:solidFill>
                        </a:rPr>
                        <a:t>Pan et al., 2024</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Survey of 20+ vector-database system architectures</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No treatment of post-deployment embedding integrity</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Evidences real-world scale and relevance of the problem</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23240">
                <a:tc>
                  <a:txBody>
                    <a:bodyPr/>
                    <a:lstStyle/>
                    <a:p>
                      <a:pPr indent="0" marL="0">
                        <a:buNone/>
                      </a:pPr>
                      <a:r>
                        <a:rPr lang="en-US" sz="800" dirty="0">
                          <a:solidFill>
                            <a:srgbClr val="20242E"/>
                          </a:solidFill>
                        </a:rPr>
                        <a:t>Muennighoff et al., 2023</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MTEB — unified benchmark for comparing embedding models</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Static snapshot; doesn't test mixed-generation drift scenarios</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Explains why models churn often — the practical trigger for our problem</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23240">
                <a:tc>
                  <a:txBody>
                    <a:bodyPr/>
                    <a:lstStyle/>
                    <a:p>
                      <a:pPr indent="0" marL="0">
                        <a:buNone/>
                      </a:pPr>
                      <a:r>
                        <a:rPr lang="en-US" sz="800" dirty="0">
                          <a:solidFill>
                            <a:srgbClr val="20242E"/>
                          </a:solidFill>
                        </a:rPr>
                        <a:t>Wu et al., 2024</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Quantifies how retrieval quality affects RAG faithfulness</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Doesn't address the retrieval-quality-degradation cause itself</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Motivates why contamination matters beyond raw metrics</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23240">
                <a:tc>
                  <a:txBody>
                    <a:bodyPr/>
                    <a:lstStyle/>
                    <a:p>
                      <a:pPr indent="0" marL="0">
                        <a:buNone/>
                      </a:pPr>
                      <a:r>
                        <a:rPr lang="en-US" sz="800" dirty="0">
                          <a:solidFill>
                            <a:srgbClr val="20242E"/>
                          </a:solidFill>
                        </a:rPr>
                        <a:t>Fuster Baggetto &amp; Fresno, 2022</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Tests whether embedding anisotropy actually harms retrieval</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Studied within one generation, not across mixed generations</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Motivates a planned mixed-generation anisotropy stress-test</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23240">
                <a:tc>
                  <a:txBody>
                    <a:bodyPr/>
                    <a:lstStyle/>
                    <a:p>
                      <a:pPr indent="0" marL="0">
                        <a:buNone/>
                      </a:pPr>
                      <a:r>
                        <a:rPr lang="en-US" sz="800" dirty="0">
                          <a:solidFill>
                            <a:srgbClr val="20242E"/>
                          </a:solidFill>
                        </a:rPr>
                        <a:t>Sinha &amp; Zoltners, 1979</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Exact formulation for one-choice-per-group allocation under budget</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Purely theoretical — never applied to embedding remediation</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The mathematical core of our Prioritization module</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23240">
                <a:tc>
                  <a:txBody>
                    <a:bodyPr/>
                    <a:lstStyle/>
                    <a:p>
                      <a:pPr indent="0" marL="0">
                        <a:buNone/>
                      </a:pPr>
                      <a:r>
                        <a:rPr lang="en-US" sz="800" dirty="0">
                          <a:solidFill>
                            <a:srgbClr val="20242E"/>
                          </a:solidFill>
                        </a:rPr>
                        <a:t>Breslau et al., 1999</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Real web traffic follows a Zipf (highly skewed) distribution</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About web objects, not vector-DB query traffic specifically</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Grounds our traffic-weighted benefit function in the scheduler</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r h="523240">
                <a:tc>
                  <a:txBody>
                    <a:bodyPr/>
                    <a:lstStyle/>
                    <a:p>
                      <a:pPr indent="0" marL="0">
                        <a:buNone/>
                      </a:pPr>
                      <a:r>
                        <a:rPr lang="en-US" sz="800" dirty="0">
                          <a:solidFill>
                            <a:srgbClr val="20242E"/>
                          </a:solidFill>
                        </a:rPr>
                        <a:t>Karval &amp; Singh, 2023</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Names 'silent failure' as a distinct, under-monitored ML risk category</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General MLOps treatment — not specific to vector databases</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c>
                  <a:txBody>
                    <a:bodyPr/>
                    <a:lstStyle/>
                    <a:p>
                      <a:pPr indent="0" marL="0">
                        <a:buNone/>
                      </a:pPr>
                      <a:r>
                        <a:rPr lang="en-US" sz="800" dirty="0">
                          <a:solidFill>
                            <a:srgbClr val="20242E"/>
                          </a:solidFill>
                        </a:rPr>
                        <a:t>Provides the framing our Problem Statement slide applies directly</a:t>
                      </a:r>
                      <a:endParaRPr lang="en-US" sz="800" dirty="0"/>
                    </a:p>
                  </a:txBody>
                  <a:tcPr marL="63500" marR="63500" marT="38100" marB="3810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tcPr>
                </a:tc>
              </a:tr>
            </a:tbl>
          </a:graphicData>
        </a:graphic>
      </p:graphicFrame>
      <p:sp>
        <p:nvSpPr>
          <p:cNvPr id="6" name="Text 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7" name="Text 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LITERATURE → RESEARCH GAP</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From Literature to Research Gap</a:t>
            </a:r>
            <a:endParaRPr lang="en-US" sz="3200" dirty="0"/>
          </a:p>
        </p:txBody>
      </p:sp>
      <p:sp>
        <p:nvSpPr>
          <p:cNvPr id="4" name="Shape 2"/>
          <p:cNvSpPr/>
          <p:nvPr/>
        </p:nvSpPr>
        <p:spPr>
          <a:xfrm>
            <a:off x="548640" y="1508760"/>
            <a:ext cx="777240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5" name="Shape 3"/>
          <p:cNvSpPr/>
          <p:nvPr/>
        </p:nvSpPr>
        <p:spPr>
          <a:xfrm>
            <a:off x="777240" y="1673352"/>
            <a:ext cx="384048" cy="384048"/>
          </a:xfrm>
          <a:prstGeom prst="ellipse">
            <a:avLst/>
          </a:prstGeom>
          <a:solidFill>
            <a:srgbClr val="0E7C7B"/>
          </a:solidFill>
          <a:ln/>
        </p:spPr>
      </p:sp>
      <p:sp>
        <p:nvSpPr>
          <p:cNvPr id="6" name="Text 4"/>
          <p:cNvSpPr txBox="1"/>
          <p:nvPr/>
        </p:nvSpPr>
        <p:spPr>
          <a:xfrm>
            <a:off x="777240" y="16733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71600" y="1581912"/>
            <a:ext cx="1920240" cy="566928"/>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Existing research</a:t>
            </a:r>
            <a:endParaRPr lang="en-US" sz="1200" dirty="0"/>
          </a:p>
        </p:txBody>
      </p:sp>
      <p:sp>
        <p:nvSpPr>
          <p:cNvPr id="8" name="Text 6"/>
          <p:cNvSpPr txBox="1"/>
          <p:nvPr/>
        </p:nvSpPr>
        <p:spPr>
          <a:xfrm>
            <a:off x="3383280" y="1563624"/>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20242E"/>
                </a:solidFill>
                <a:latin typeface="Calibri" pitchFamily="34" charset="0"/>
                <a:ea typeface="Calibri" pitchFamily="34" charset="-122"/>
                <a:cs typeface="Calibri" pitchFamily="34" charset="-120"/>
              </a:rPr>
              <a:t>Two mature, separate bodies of work: OOD/anomaly detection (Cluster A) and cheap embedding realignment (Cluster B).</a:t>
            </a:r>
            <a:endParaRPr lang="en-US" sz="1000" dirty="0"/>
          </a:p>
        </p:txBody>
      </p:sp>
      <p:sp>
        <p:nvSpPr>
          <p:cNvPr id="9" name="Text 7"/>
          <p:cNvSpPr txBox="1"/>
          <p:nvPr/>
        </p:nvSpPr>
        <p:spPr>
          <a:xfrm>
            <a:off x="548640" y="2176272"/>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548640" y="2350008"/>
            <a:ext cx="777240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11" name="Shape 9"/>
          <p:cNvSpPr/>
          <p:nvPr/>
        </p:nvSpPr>
        <p:spPr>
          <a:xfrm>
            <a:off x="777240" y="2514600"/>
            <a:ext cx="384048" cy="384048"/>
          </a:xfrm>
          <a:prstGeom prst="ellipse">
            <a:avLst/>
          </a:prstGeom>
          <a:solidFill>
            <a:srgbClr val="0E7C7B"/>
          </a:solidFill>
          <a:ln/>
        </p:spPr>
      </p:sp>
      <p:sp>
        <p:nvSpPr>
          <p:cNvPr id="12" name="Text 10"/>
          <p:cNvSpPr txBox="1"/>
          <p:nvPr/>
        </p:nvSpPr>
        <p:spPr>
          <a:xfrm>
            <a:off x="777240" y="2514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71600" y="2423160"/>
            <a:ext cx="1920240" cy="566928"/>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Common approach</a:t>
            </a:r>
            <a:endParaRPr lang="en-US" sz="1200" dirty="0"/>
          </a:p>
        </p:txBody>
      </p:sp>
      <p:sp>
        <p:nvSpPr>
          <p:cNvPr id="14" name="Text 12"/>
          <p:cNvSpPr txBox="1"/>
          <p:nvPr/>
        </p:nvSpPr>
        <p:spPr>
          <a:xfrm>
            <a:off x="3383280" y="2404872"/>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20242E"/>
                </a:solidFill>
                <a:latin typeface="Calibri" pitchFamily="34" charset="0"/>
                <a:ea typeface="Calibri" pitchFamily="34" charset="-122"/>
                <a:cs typeface="Calibri" pitchFamily="34" charset="-120"/>
              </a:rPr>
              <a:t>Detect anomalous vectors → apply ONE fix (full re-embed or one uniform patch transform) to everyone flagged.</a:t>
            </a:r>
            <a:endParaRPr lang="en-US" sz="1000" dirty="0"/>
          </a:p>
        </p:txBody>
      </p:sp>
      <p:sp>
        <p:nvSpPr>
          <p:cNvPr id="15" name="Text 13"/>
          <p:cNvSpPr txBox="1"/>
          <p:nvPr/>
        </p:nvSpPr>
        <p:spPr>
          <a:xfrm>
            <a:off x="548640" y="3017520"/>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548640" y="3191256"/>
            <a:ext cx="777240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17" name="Shape 15"/>
          <p:cNvSpPr/>
          <p:nvPr/>
        </p:nvSpPr>
        <p:spPr>
          <a:xfrm>
            <a:off x="777240" y="3355848"/>
            <a:ext cx="384048" cy="384048"/>
          </a:xfrm>
          <a:prstGeom prst="ellipse">
            <a:avLst/>
          </a:prstGeom>
          <a:solidFill>
            <a:srgbClr val="0E7C7B"/>
          </a:solidFill>
          <a:ln/>
        </p:spPr>
      </p:sp>
      <p:sp>
        <p:nvSpPr>
          <p:cNvPr id="18" name="Text 16"/>
          <p:cNvSpPr txBox="1"/>
          <p:nvPr/>
        </p:nvSpPr>
        <p:spPr>
          <a:xfrm>
            <a:off x="777240" y="33558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371600" y="3264408"/>
            <a:ext cx="1920240" cy="566928"/>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Strengths</a:t>
            </a:r>
            <a:endParaRPr lang="en-US" sz="1200" dirty="0"/>
          </a:p>
        </p:txBody>
      </p:sp>
      <p:sp>
        <p:nvSpPr>
          <p:cNvPr id="20" name="Text 18"/>
          <p:cNvSpPr txBox="1"/>
          <p:nvPr/>
        </p:nvSpPr>
        <p:spPr>
          <a:xfrm>
            <a:off x="3383280" y="3246120"/>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20242E"/>
                </a:solidFill>
                <a:latin typeface="Calibri" pitchFamily="34" charset="0"/>
                <a:ea typeface="Calibri" pitchFamily="34" charset="-122"/>
                <a:cs typeface="Calibri" pitchFamily="34" charset="-120"/>
              </a:rPr>
              <a:t>Detection is well-validated (KNN-OOD F1 competitive); Drift-Adapter-style patching recovers 95–99% recall at ~1% the compute cost.</a:t>
            </a:r>
            <a:endParaRPr lang="en-US" sz="1000" dirty="0"/>
          </a:p>
        </p:txBody>
      </p:sp>
      <p:sp>
        <p:nvSpPr>
          <p:cNvPr id="21" name="Text 19"/>
          <p:cNvSpPr txBox="1"/>
          <p:nvPr/>
        </p:nvSpPr>
        <p:spPr>
          <a:xfrm>
            <a:off x="548640" y="3858768"/>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48640" y="4032504"/>
            <a:ext cx="777240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23" name="Shape 21"/>
          <p:cNvSpPr/>
          <p:nvPr/>
        </p:nvSpPr>
        <p:spPr>
          <a:xfrm>
            <a:off x="777240" y="4197096"/>
            <a:ext cx="384048" cy="384048"/>
          </a:xfrm>
          <a:prstGeom prst="ellipse">
            <a:avLst/>
          </a:prstGeom>
          <a:solidFill>
            <a:srgbClr val="0E7C7B"/>
          </a:solidFill>
          <a:ln/>
        </p:spPr>
      </p:sp>
      <p:sp>
        <p:nvSpPr>
          <p:cNvPr id="24" name="Text 22"/>
          <p:cNvSpPr txBox="1"/>
          <p:nvPr/>
        </p:nvSpPr>
        <p:spPr>
          <a:xfrm>
            <a:off x="777240" y="41970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1371600" y="4105656"/>
            <a:ext cx="1920240" cy="566928"/>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Limitations</a:t>
            </a:r>
            <a:endParaRPr lang="en-US" sz="1200" dirty="0"/>
          </a:p>
        </p:txBody>
      </p:sp>
      <p:sp>
        <p:nvSpPr>
          <p:cNvPr id="26" name="Text 24"/>
          <p:cNvSpPr txBox="1"/>
          <p:nvPr/>
        </p:nvSpPr>
        <p:spPr>
          <a:xfrm>
            <a:off x="3383280" y="4087368"/>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20242E"/>
                </a:solidFill>
                <a:latin typeface="Calibri" pitchFamily="34" charset="0"/>
                <a:ea typeface="Calibri" pitchFamily="34" charset="-122"/>
                <a:cs typeface="Calibri" pitchFamily="34" charset="-120"/>
              </a:rPr>
              <a:t>Every reviewed fix mechanism is corpus-wide and uniform — none reasons about WHICH document to fix first when the budget can't cover everyone.</a:t>
            </a:r>
            <a:endParaRPr lang="en-US" sz="1000" dirty="0"/>
          </a:p>
        </p:txBody>
      </p:sp>
      <p:sp>
        <p:nvSpPr>
          <p:cNvPr id="27" name="Text 25"/>
          <p:cNvSpPr txBox="1"/>
          <p:nvPr/>
        </p:nvSpPr>
        <p:spPr>
          <a:xfrm>
            <a:off x="548640" y="4700016"/>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548640" y="4873752"/>
            <a:ext cx="777240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29" name="Shape 27"/>
          <p:cNvSpPr/>
          <p:nvPr/>
        </p:nvSpPr>
        <p:spPr>
          <a:xfrm>
            <a:off x="777240" y="5038344"/>
            <a:ext cx="384048" cy="384048"/>
          </a:xfrm>
          <a:prstGeom prst="ellipse">
            <a:avLst/>
          </a:prstGeom>
          <a:solidFill>
            <a:srgbClr val="0E7C7B"/>
          </a:solidFill>
          <a:ln/>
        </p:spPr>
      </p:sp>
      <p:sp>
        <p:nvSpPr>
          <p:cNvPr id="30" name="Text 28"/>
          <p:cNvSpPr txBox="1"/>
          <p:nvPr/>
        </p:nvSpPr>
        <p:spPr>
          <a:xfrm>
            <a:off x="777240" y="5038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txBox="1"/>
          <p:nvPr/>
        </p:nvSpPr>
        <p:spPr>
          <a:xfrm>
            <a:off x="1371600" y="4946904"/>
            <a:ext cx="1920240" cy="566928"/>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Unresolved problem</a:t>
            </a:r>
            <a:endParaRPr lang="en-US" sz="1200" dirty="0"/>
          </a:p>
        </p:txBody>
      </p:sp>
      <p:sp>
        <p:nvSpPr>
          <p:cNvPr id="32" name="Text 30"/>
          <p:cNvSpPr txBox="1"/>
          <p:nvPr/>
        </p:nvSpPr>
        <p:spPr>
          <a:xfrm>
            <a:off x="3383280" y="4928616"/>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20242E"/>
                </a:solidFill>
                <a:latin typeface="Calibri" pitchFamily="34" charset="0"/>
                <a:ea typeface="Calibri" pitchFamily="34" charset="-122"/>
                <a:cs typeface="Calibri" pitchFamily="34" charset="-120"/>
              </a:rPr>
              <a:t>Given N contaminated documents with different severity AND different real query traffic, and 3 possible actions of different cost/quality, how should ONE bounded budget be allocated system-wide?</a:t>
            </a:r>
            <a:endParaRPr lang="en-US" sz="1000" dirty="0"/>
          </a:p>
        </p:txBody>
      </p:sp>
      <p:sp>
        <p:nvSpPr>
          <p:cNvPr id="33" name="Text 31"/>
          <p:cNvSpPr txBox="1"/>
          <p:nvPr/>
        </p:nvSpPr>
        <p:spPr>
          <a:xfrm>
            <a:off x="548640" y="5541264"/>
            <a:ext cx="457200" cy="228600"/>
          </a:xfrm>
          <a:prstGeom prst="rect">
            <a:avLst/>
          </a:prstGeom>
          <a:noFill/>
          <a:ln/>
        </p:spPr>
        <p:txBody>
          <a:bodyPr wrap="square" lIns="0" tIns="0" rIns="0" bIns="0" rtlCol="0" anchor="ctr"/>
          <a:lstStyle/>
          <a:p>
            <a:pPr algn="ctr" indent="0" marL="0">
              <a:buNone/>
            </a:pPr>
            <a:r>
              <a:rPr lang="en-US" sz="1400" dirty="0">
                <a:solidFill>
                  <a:srgbClr val="0E7C7B"/>
                </a:solidFill>
                <a:latin typeface="Calibri" pitchFamily="34" charset="0"/>
                <a:ea typeface="Calibri" pitchFamily="34" charset="-122"/>
                <a:cs typeface="Calibri" pitchFamily="34" charset="-120"/>
              </a:rPr>
              <a:t>↓</a:t>
            </a:r>
            <a:endParaRPr lang="en-US" sz="1400" dirty="0"/>
          </a:p>
        </p:txBody>
      </p:sp>
      <p:sp>
        <p:nvSpPr>
          <p:cNvPr id="34" name="Shape 32"/>
          <p:cNvSpPr/>
          <p:nvPr/>
        </p:nvSpPr>
        <p:spPr>
          <a:xfrm>
            <a:off x="548640" y="5715000"/>
            <a:ext cx="7772400" cy="713232"/>
          </a:xfrm>
          <a:prstGeom prst="roundRect">
            <a:avLst>
              <a:gd name="adj" fmla="val 10256"/>
            </a:avLst>
          </a:prstGeom>
          <a:solidFill>
            <a:srgbClr val="1B2A56"/>
          </a:solidFill>
          <a:ln/>
        </p:spPr>
      </p:sp>
      <p:sp>
        <p:nvSpPr>
          <p:cNvPr id="35" name="Shape 33"/>
          <p:cNvSpPr/>
          <p:nvPr/>
        </p:nvSpPr>
        <p:spPr>
          <a:xfrm>
            <a:off x="777240" y="5879592"/>
            <a:ext cx="384048" cy="384048"/>
          </a:xfrm>
          <a:prstGeom prst="ellipse">
            <a:avLst/>
          </a:prstGeom>
          <a:solidFill>
            <a:srgbClr val="0E7C7B"/>
          </a:solidFill>
          <a:ln/>
        </p:spPr>
      </p:sp>
      <p:sp>
        <p:nvSpPr>
          <p:cNvPr id="36" name="Text 34"/>
          <p:cNvSpPr txBox="1"/>
          <p:nvPr/>
        </p:nvSpPr>
        <p:spPr>
          <a:xfrm>
            <a:off x="777240" y="58795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5"/>
          <p:cNvSpPr txBox="1"/>
          <p:nvPr/>
        </p:nvSpPr>
        <p:spPr>
          <a:xfrm>
            <a:off x="1371600" y="5788152"/>
            <a:ext cx="1920240" cy="56692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Research gap</a:t>
            </a:r>
            <a:endParaRPr lang="en-US" sz="1200" dirty="0"/>
          </a:p>
        </p:txBody>
      </p:sp>
      <p:sp>
        <p:nvSpPr>
          <p:cNvPr id="38" name="Text 36"/>
          <p:cNvSpPr txBox="1"/>
          <p:nvPr/>
        </p:nvSpPr>
        <p:spPr>
          <a:xfrm>
            <a:off x="3383280" y="5769864"/>
            <a:ext cx="4846320" cy="603504"/>
          </a:xfrm>
          <a:prstGeom prst="rect">
            <a:avLst/>
          </a:prstGeom>
          <a:noFill/>
          <a:ln/>
        </p:spPr>
        <p:txBody>
          <a:bodyPr wrap="square" lIns="0" tIns="0" rIns="0" bIns="0" rtlCol="0" anchor="ctr"/>
          <a:lstStyle/>
          <a:p>
            <a:pPr indent="0" marL="0">
              <a:lnSpc>
                <a:spcPct val="112000"/>
              </a:lnSpc>
              <a:buNone/>
            </a:pPr>
            <a:r>
              <a:rPr lang="en-US" sz="1000" dirty="0">
                <a:solidFill>
                  <a:srgbClr val="CFE0FA"/>
                </a:solidFill>
                <a:latin typeface="Calibri" pitchFamily="34" charset="0"/>
                <a:ea typeface="Calibri" pitchFamily="34" charset="-122"/>
                <a:cs typeface="Calibri" pitchFamily="34" charset="-120"/>
              </a:rPr>
              <a:t>No budget-aware, traffic-informed, per-document PRIORITIZATION layer exists between 'detect' and 'fix' — and no safety gate ensures a chosen plan doesn't regress production quality before it ships.</a:t>
            </a:r>
            <a:endParaRPr lang="en-US" sz="1000" dirty="0"/>
          </a:p>
        </p:txBody>
      </p:sp>
      <p:sp>
        <p:nvSpPr>
          <p:cNvPr id="39" name="Shape 37"/>
          <p:cNvSpPr/>
          <p:nvPr/>
        </p:nvSpPr>
        <p:spPr>
          <a:xfrm>
            <a:off x="8503920" y="1508760"/>
            <a:ext cx="3154680" cy="4572000"/>
          </a:xfrm>
          <a:prstGeom prst="roundRect">
            <a:avLst>
              <a:gd name="adj" fmla="val 2319"/>
            </a:avLst>
          </a:prstGeom>
          <a:solidFill>
            <a:srgbClr val="E4F3F2"/>
          </a:solidFill>
          <a:ln/>
          <a:effectLst>
            <a:outerShdw sx="100000" sy="100000" kx="0" ky="0" algn="bl" rotWithShape="0" blurRad="101600" dist="38100" dir="5400000">
              <a:srgbClr val="1B2A56">
                <a:alpha val="12000"/>
              </a:srgbClr>
            </a:outerShdw>
          </a:effectLst>
        </p:spPr>
      </p:sp>
      <p:sp>
        <p:nvSpPr>
          <p:cNvPr id="40" name="Text 38"/>
          <p:cNvSpPr txBox="1"/>
          <p:nvPr/>
        </p:nvSpPr>
        <p:spPr>
          <a:xfrm>
            <a:off x="8732520" y="1691640"/>
            <a:ext cx="2743200" cy="274320"/>
          </a:xfrm>
          <a:prstGeom prst="rect">
            <a:avLst/>
          </a:prstGeom>
          <a:noFill/>
          <a:ln/>
        </p:spPr>
        <p:txBody>
          <a:bodyPr wrap="square" lIns="0" tIns="0" rIns="0" bIns="0" rtlCol="0" anchor="ctr"/>
          <a:lstStyle/>
          <a:p>
            <a:pPr indent="0" marL="0">
              <a:buNone/>
            </a:pPr>
            <a:r>
              <a:rPr lang="en-US" sz="1100" b="1" spc="150" kern="0" dirty="0">
                <a:solidFill>
                  <a:srgbClr val="0E7C7B"/>
                </a:solidFill>
                <a:latin typeface="Calibri" pitchFamily="34" charset="0"/>
                <a:ea typeface="Calibri" pitchFamily="34" charset="-122"/>
                <a:cs typeface="Calibri" pitchFamily="34" charset="-120"/>
              </a:rPr>
              <a:t>OUR CONTRIBUTION</a:t>
            </a:r>
            <a:endParaRPr lang="en-US" sz="1100" dirty="0"/>
          </a:p>
        </p:txBody>
      </p:sp>
      <p:sp>
        <p:nvSpPr>
          <p:cNvPr id="41" name="Text 39"/>
          <p:cNvSpPr txBox="1"/>
          <p:nvPr/>
        </p:nvSpPr>
        <p:spPr>
          <a:xfrm>
            <a:off x="8732520" y="2057400"/>
            <a:ext cx="2743200" cy="2286000"/>
          </a:xfrm>
          <a:prstGeom prst="rect">
            <a:avLst/>
          </a:prstGeom>
          <a:noFill/>
          <a:ln/>
        </p:spPr>
        <p:txBody>
          <a:bodyPr wrap="square" lIns="0" tIns="0" rIns="0" bIns="0" rtlCol="0" anchor="ctr"/>
          <a:lstStyle/>
          <a:p>
            <a:pPr indent="0" marL="0">
              <a:lnSpc>
                <a:spcPct val="125000"/>
              </a:lnSpc>
              <a:buNone/>
            </a:pPr>
            <a:r>
              <a:rPr lang="en-US" sz="1100" dirty="0">
                <a:solidFill>
                  <a:srgbClr val="1B2A56"/>
                </a:solidFill>
                <a:latin typeface="Calibri" pitchFamily="34" charset="0"/>
                <a:ea typeface="Calibri" pitchFamily="34" charset="-122"/>
                <a:cs typeface="Calibri" pitchFamily="34" charset="-120"/>
              </a:rPr>
              <a:t>Formulate remediation as a Multiple-Choice Knapsack Problem — {Full Re-embed, Patch, Defer} per document, benefit = severity × traffic × recovery, one shared budget — solved exactly (ILP) and approximately (greedy), gated by automated shadow-build + verification before anything ships.</a:t>
            </a:r>
            <a:endParaRPr lang="en-US" sz="1100" dirty="0"/>
          </a:p>
        </p:txBody>
      </p:sp>
      <p:sp>
        <p:nvSpPr>
          <p:cNvPr id="42" name="Text 40"/>
          <p:cNvSpPr txBox="1"/>
          <p:nvPr/>
        </p:nvSpPr>
        <p:spPr>
          <a:xfrm>
            <a:off x="8732520" y="4572000"/>
            <a:ext cx="2743200" cy="1371600"/>
          </a:xfrm>
          <a:prstGeom prst="rect">
            <a:avLst/>
          </a:prstGeom>
          <a:noFill/>
          <a:ln/>
        </p:spPr>
        <p:txBody>
          <a:bodyPr wrap="square" lIns="0" tIns="0" rIns="0" bIns="0" rtlCol="0" anchor="ctr"/>
          <a:lstStyle/>
          <a:p>
            <a:pPr indent="0" marL="0">
              <a:lnSpc>
                <a:spcPct val="120000"/>
              </a:lnSpc>
              <a:buNone/>
            </a:pPr>
            <a:r>
              <a:rPr lang="en-US" sz="950" i="1" dirty="0">
                <a:solidFill>
                  <a:srgbClr val="5A6472"/>
                </a:solidFill>
                <a:latin typeface="Calibri" pitchFamily="34" charset="0"/>
                <a:ea typeface="Calibri" pitchFamily="34" charset="-122"/>
                <a:cs typeface="Calibri" pitchFamily="34" charset="-120"/>
              </a:rPr>
              <a:t>Directly grounded in Sinha &amp; Zoltners (1979) for the optimization core and Vejendla (2025) for the patch mechanism — not invented from nothing.</a:t>
            </a:r>
            <a:endParaRPr lang="en-US" sz="950" dirty="0"/>
          </a:p>
        </p:txBody>
      </p:sp>
      <p:sp>
        <p:nvSpPr>
          <p:cNvPr id="43" name="Text 4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44" name="Text 4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PROPOSED CONCEPT</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Proposed Concept — VectorSentry</a:t>
            </a:r>
            <a:endParaRPr lang="en-US" sz="3200" dirty="0"/>
          </a:p>
        </p:txBody>
      </p:sp>
      <p:sp>
        <p:nvSpPr>
          <p:cNvPr id="4" name="Shape 2"/>
          <p:cNvSpPr/>
          <p:nvPr/>
        </p:nvSpPr>
        <p:spPr>
          <a:xfrm>
            <a:off x="548640" y="1508760"/>
            <a:ext cx="11109960" cy="1051560"/>
          </a:xfrm>
          <a:prstGeom prst="roundRect">
            <a:avLst>
              <a:gd name="adj" fmla="val 6957"/>
            </a:avLst>
          </a:prstGeom>
          <a:solidFill>
            <a:srgbClr val="1B2A56"/>
          </a:solidFill>
          <a:ln/>
        </p:spPr>
      </p:sp>
      <p:sp>
        <p:nvSpPr>
          <p:cNvPr id="5" name="Text 3"/>
          <p:cNvSpPr txBox="1"/>
          <p:nvPr/>
        </p:nvSpPr>
        <p:spPr>
          <a:xfrm>
            <a:off x="822960" y="1627632"/>
            <a:ext cx="10515600" cy="822960"/>
          </a:xfrm>
          <a:prstGeom prst="rect">
            <a:avLst/>
          </a:prstGeom>
          <a:noFill/>
          <a:ln/>
        </p:spPr>
        <p:txBody>
          <a:bodyPr wrap="square" lIns="0" tIns="0" rIns="0" bIns="0" rtlCol="0" anchor="ctr"/>
          <a:lstStyle/>
          <a:p>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Prioritize contamination remediation the way an incident-response team would — not by fixing everything, and not by fixing arbitrarily, but by ranking WHAT to fix first under a real budget, using real traffic and real severity signals, verified safe before every change goes live.</a:t>
            </a:r>
            <a:endParaRPr lang="en-US" sz="1450" dirty="0"/>
          </a:p>
        </p:txBody>
      </p:sp>
      <p:sp>
        <p:nvSpPr>
          <p:cNvPr id="6" name="Text 4"/>
          <p:cNvSpPr txBox="1"/>
          <p:nvPr/>
        </p:nvSpPr>
        <p:spPr>
          <a:xfrm>
            <a:off x="548640" y="2788920"/>
            <a:ext cx="10058400" cy="320040"/>
          </a:xfrm>
          <a:prstGeom prst="rect">
            <a:avLst/>
          </a:prstGeom>
          <a:noFill/>
          <a:ln/>
        </p:spPr>
        <p:txBody>
          <a:bodyPr wrap="square" lIns="0" tIns="0" rIns="0" bIns="0" rtlCol="0" anchor="ctr"/>
          <a:lstStyle/>
          <a:p>
            <a:pPr indent="0" marL="0">
              <a:buNone/>
            </a:pPr>
            <a:r>
              <a:rPr lang="en-US" sz="1300" b="1" dirty="0">
                <a:solidFill>
                  <a:srgbClr val="1B2A56"/>
                </a:solidFill>
                <a:latin typeface="Calibri" pitchFamily="34" charset="0"/>
                <a:ea typeface="Calibri" pitchFamily="34" charset="-122"/>
                <a:cs typeface="Calibri" pitchFamily="34" charset="-120"/>
              </a:rPr>
              <a:t>For every flagged document, the scheduler chooses exactly one of three actions:</a:t>
            </a:r>
            <a:endParaRPr lang="en-US" sz="1300" dirty="0"/>
          </a:p>
        </p:txBody>
      </p:sp>
      <p:sp>
        <p:nvSpPr>
          <p:cNvPr id="7" name="Shape 5"/>
          <p:cNvSpPr/>
          <p:nvPr/>
        </p:nvSpPr>
        <p:spPr>
          <a:xfrm>
            <a:off x="548640" y="3246120"/>
            <a:ext cx="3584448" cy="2514600"/>
          </a:xfrm>
          <a:prstGeom prst="roundRect">
            <a:avLst>
              <a:gd name="adj" fmla="val 2909"/>
            </a:avLst>
          </a:prstGeom>
          <a:solidFill>
            <a:srgbClr val="F4F7FC"/>
          </a:solidFill>
          <a:ln/>
          <a:effectLst>
            <a:outerShdw sx="100000" sy="100000" kx="0" ky="0" algn="bl" rotWithShape="0" blurRad="101600" dist="38100" dir="5400000">
              <a:srgbClr val="1B2A56">
                <a:alpha val="12000"/>
              </a:srgbClr>
            </a:outerShdw>
          </a:effectLst>
        </p:spPr>
      </p:sp>
      <p:sp>
        <p:nvSpPr>
          <p:cNvPr id="8" name="Shape 6"/>
          <p:cNvSpPr/>
          <p:nvPr/>
        </p:nvSpPr>
        <p:spPr>
          <a:xfrm>
            <a:off x="777240" y="3474720"/>
            <a:ext cx="502920" cy="502920"/>
          </a:xfrm>
          <a:prstGeom prst="roundRect">
            <a:avLst>
              <a:gd name="adj" fmla="val 50909"/>
            </a:avLst>
          </a:prstGeom>
          <a:solidFill>
            <a:srgbClr val="1E824C"/>
          </a:solidFill>
          <a:ln/>
        </p:spPr>
      </p:sp>
      <p:sp>
        <p:nvSpPr>
          <p:cNvPr id="9" name="Text 7"/>
          <p:cNvSpPr txBox="1"/>
          <p:nvPr/>
        </p:nvSpPr>
        <p:spPr>
          <a:xfrm>
            <a:off x="777240" y="4114800"/>
            <a:ext cx="3108960" cy="320040"/>
          </a:xfrm>
          <a:prstGeom prst="rect">
            <a:avLst/>
          </a:prstGeom>
          <a:noFill/>
          <a:ln/>
        </p:spPr>
        <p:txBody>
          <a:bodyPr wrap="square" lIns="0" tIns="0" rIns="0" bIns="0" rtlCol="0" anchor="ctr"/>
          <a:lstStyle/>
          <a:p>
            <a:pPr indent="0" marL="0">
              <a:buNone/>
            </a:pPr>
            <a:r>
              <a:rPr lang="en-US" sz="1500" b="1" dirty="0">
                <a:solidFill>
                  <a:srgbClr val="1B2A56"/>
                </a:solidFill>
                <a:latin typeface="Calibri" pitchFamily="34" charset="0"/>
                <a:ea typeface="Calibri" pitchFamily="34" charset="-122"/>
                <a:cs typeface="Calibri" pitchFamily="34" charset="-120"/>
              </a:rPr>
              <a:t>Full Re-embed</a:t>
            </a:r>
            <a:endParaRPr lang="en-US" sz="1500" dirty="0"/>
          </a:p>
        </p:txBody>
      </p:sp>
      <p:sp>
        <p:nvSpPr>
          <p:cNvPr id="10" name="Text 8"/>
          <p:cNvSpPr txBox="1"/>
          <p:nvPr/>
        </p:nvSpPr>
        <p:spPr>
          <a:xfrm>
            <a:off x="777240" y="4462272"/>
            <a:ext cx="3108960" cy="274320"/>
          </a:xfrm>
          <a:prstGeom prst="rect">
            <a:avLst/>
          </a:prstGeom>
          <a:noFill/>
          <a:ln/>
        </p:spPr>
        <p:txBody>
          <a:bodyPr wrap="square" lIns="0" tIns="0" rIns="0" bIns="0" rtlCol="0" anchor="ctr"/>
          <a:lstStyle/>
          <a:p>
            <a:pPr indent="0" marL="0">
              <a:buNone/>
            </a:pPr>
            <a:r>
              <a:rPr lang="en-US" sz="1050" b="1" dirty="0">
                <a:solidFill>
                  <a:srgbClr val="1E824C"/>
                </a:solidFill>
                <a:latin typeface="Calibri" pitchFamily="34" charset="0"/>
                <a:ea typeface="Calibri" pitchFamily="34" charset="-122"/>
                <a:cs typeface="Calibri" pitchFamily="34" charset="-120"/>
              </a:rPr>
              <a:t>High cost</a:t>
            </a:r>
            <a:pPr indent="0" marL="0">
              <a:buNone/>
            </a:pPr>
            <a:r>
              <a:rPr lang="en-US" sz="1050" dirty="0">
                <a:solidFill>
                  <a:srgbClr val="5A6472"/>
                </a:solidFill>
                <a:latin typeface="Calibri" pitchFamily="34" charset="0"/>
                <a:ea typeface="Calibri" pitchFamily="34" charset="-122"/>
                <a:cs typeface="Calibri" pitchFamily="34" charset="-120"/>
              </a:rPr>
              <a:t>   •   </a:t>
            </a:r>
            <a:pPr indent="0" marL="0">
              <a:buNone/>
            </a:pPr>
            <a:r>
              <a:rPr lang="en-US" sz="1050" b="1" dirty="0">
                <a:solidFill>
                  <a:srgbClr val="1E824C"/>
                </a:solidFill>
                <a:latin typeface="Calibri" pitchFamily="34" charset="0"/>
                <a:ea typeface="Calibri" pitchFamily="34" charset="-122"/>
                <a:cs typeface="Calibri" pitchFamily="34" charset="-120"/>
              </a:rPr>
              <a:t>Full quality recovery</a:t>
            </a:r>
            <a:endParaRPr lang="en-US" sz="1050" dirty="0"/>
          </a:p>
        </p:txBody>
      </p:sp>
      <p:sp>
        <p:nvSpPr>
          <p:cNvPr id="11" name="Text 9"/>
          <p:cNvSpPr txBox="1"/>
          <p:nvPr/>
        </p:nvSpPr>
        <p:spPr>
          <a:xfrm>
            <a:off x="0" y="0"/>
            <a:ext cx="91440" cy="91440"/>
          </a:xfrm>
          <a:prstGeom prst="rect">
            <a:avLst/>
          </a:prstGeom>
          <a:noFill/>
          <a:ln/>
        </p:spPr>
        <p:txBody>
          <a:bodyPr wrap="square" rtlCol="0" anchor="ctr"/>
          <a:lstStyle/>
          <a:p>
            <a:pPr indent="0" marL="0">
              <a:buNone/>
            </a:pPr>
            <a:endParaRPr lang="en-US" dirty="0"/>
          </a:p>
        </p:txBody>
      </p:sp>
      <p:sp>
        <p:nvSpPr>
          <p:cNvPr id="12" name="Text 10"/>
          <p:cNvSpPr txBox="1"/>
          <p:nvPr/>
        </p:nvSpPr>
        <p:spPr>
          <a:xfrm>
            <a:off x="777240" y="4800600"/>
            <a:ext cx="3108960" cy="868680"/>
          </a:xfrm>
          <a:prstGeom prst="rect">
            <a:avLst/>
          </a:prstGeom>
          <a:noFill/>
          <a:ln/>
        </p:spPr>
        <p:txBody>
          <a:bodyPr wrap="square" lIns="0" tIns="0" rIns="0" bIns="0" rtlCol="0" anchor="ctr"/>
          <a:lstStyle/>
          <a:p>
            <a:pPr indent="0" marL="0">
              <a:lnSpc>
                <a:spcPct val="115000"/>
              </a:lnSpc>
              <a:buNone/>
            </a:pPr>
            <a:r>
              <a:rPr lang="en-US" sz="980" dirty="0">
                <a:solidFill>
                  <a:srgbClr val="20242E"/>
                </a:solidFill>
                <a:latin typeface="Calibri" pitchFamily="34" charset="0"/>
                <a:ea typeface="Calibri" pitchFamily="34" charset="-122"/>
                <a:cs typeface="Calibri" pitchFamily="34" charset="-120"/>
              </a:rPr>
              <a:t>Re-run the document through the current embedding model — the ground-truth fix.</a:t>
            </a:r>
            <a:endParaRPr lang="en-US" sz="980" dirty="0"/>
          </a:p>
        </p:txBody>
      </p:sp>
      <p:sp>
        <p:nvSpPr>
          <p:cNvPr id="13" name="Shape 11"/>
          <p:cNvSpPr/>
          <p:nvPr/>
        </p:nvSpPr>
        <p:spPr>
          <a:xfrm>
            <a:off x="4315968" y="3246120"/>
            <a:ext cx="3584448" cy="2514600"/>
          </a:xfrm>
          <a:prstGeom prst="roundRect">
            <a:avLst>
              <a:gd name="adj" fmla="val 2909"/>
            </a:avLst>
          </a:prstGeom>
          <a:solidFill>
            <a:srgbClr val="F4F7FC"/>
          </a:solidFill>
          <a:ln/>
          <a:effectLst>
            <a:outerShdw sx="100000" sy="100000" kx="0" ky="0" algn="bl" rotWithShape="0" blurRad="101600" dist="38100" dir="5400000">
              <a:srgbClr val="1B2A56">
                <a:alpha val="12000"/>
              </a:srgbClr>
            </a:outerShdw>
          </a:effectLst>
        </p:spPr>
      </p:sp>
      <p:sp>
        <p:nvSpPr>
          <p:cNvPr id="14" name="Shape 12"/>
          <p:cNvSpPr/>
          <p:nvPr/>
        </p:nvSpPr>
        <p:spPr>
          <a:xfrm>
            <a:off x="4544568" y="3474720"/>
            <a:ext cx="502920" cy="502920"/>
          </a:xfrm>
          <a:prstGeom prst="roundRect">
            <a:avLst>
              <a:gd name="adj" fmla="val 50909"/>
            </a:avLst>
          </a:prstGeom>
          <a:solidFill>
            <a:srgbClr val="C97A22"/>
          </a:solidFill>
          <a:ln/>
        </p:spPr>
      </p:sp>
      <p:sp>
        <p:nvSpPr>
          <p:cNvPr id="15" name="Text 13"/>
          <p:cNvSpPr txBox="1"/>
          <p:nvPr/>
        </p:nvSpPr>
        <p:spPr>
          <a:xfrm>
            <a:off x="4544568" y="4114800"/>
            <a:ext cx="3108960" cy="320040"/>
          </a:xfrm>
          <a:prstGeom prst="rect">
            <a:avLst/>
          </a:prstGeom>
          <a:noFill/>
          <a:ln/>
        </p:spPr>
        <p:txBody>
          <a:bodyPr wrap="square" lIns="0" tIns="0" rIns="0" bIns="0" rtlCol="0" anchor="ctr"/>
          <a:lstStyle/>
          <a:p>
            <a:pPr indent="0" marL="0">
              <a:buNone/>
            </a:pPr>
            <a:r>
              <a:rPr lang="en-US" sz="1500" b="1" dirty="0">
                <a:solidFill>
                  <a:srgbClr val="1B2A56"/>
                </a:solidFill>
                <a:latin typeface="Calibri" pitchFamily="34" charset="0"/>
                <a:ea typeface="Calibri" pitchFamily="34" charset="-122"/>
                <a:cs typeface="Calibri" pitchFamily="34" charset="-120"/>
              </a:rPr>
              <a:t>Patch</a:t>
            </a:r>
            <a:endParaRPr lang="en-US" sz="1500" dirty="0"/>
          </a:p>
        </p:txBody>
      </p:sp>
      <p:sp>
        <p:nvSpPr>
          <p:cNvPr id="16" name="Text 14"/>
          <p:cNvSpPr txBox="1"/>
          <p:nvPr/>
        </p:nvSpPr>
        <p:spPr>
          <a:xfrm>
            <a:off x="4544568" y="4462272"/>
            <a:ext cx="3108960" cy="274320"/>
          </a:xfrm>
          <a:prstGeom prst="rect">
            <a:avLst/>
          </a:prstGeom>
          <a:noFill/>
          <a:ln/>
        </p:spPr>
        <p:txBody>
          <a:bodyPr wrap="square" lIns="0" tIns="0" rIns="0" bIns="0" rtlCol="0" anchor="ctr"/>
          <a:lstStyle/>
          <a:p>
            <a:pPr indent="0" marL="0">
              <a:buNone/>
            </a:pPr>
            <a:r>
              <a:rPr lang="en-US" sz="1050" b="1" dirty="0">
                <a:solidFill>
                  <a:srgbClr val="C97A22"/>
                </a:solidFill>
                <a:latin typeface="Calibri" pitchFamily="34" charset="0"/>
                <a:ea typeface="Calibri" pitchFamily="34" charset="-122"/>
                <a:cs typeface="Calibri" pitchFamily="34" charset="-120"/>
              </a:rPr>
              <a:t>Low cost</a:t>
            </a:r>
            <a:pPr indent="0" marL="0">
              <a:buNone/>
            </a:pPr>
            <a:r>
              <a:rPr lang="en-US" sz="1050" dirty="0">
                <a:solidFill>
                  <a:srgbClr val="5A6472"/>
                </a:solidFill>
                <a:latin typeface="Calibri" pitchFamily="34" charset="0"/>
                <a:ea typeface="Calibri" pitchFamily="34" charset="-122"/>
                <a:cs typeface="Calibri" pitchFamily="34" charset="-120"/>
              </a:rPr>
              <a:t>   •   </a:t>
            </a:r>
            <a:pPr indent="0" marL="0">
              <a:buNone/>
            </a:pPr>
            <a:r>
              <a:rPr lang="en-US" sz="1050" b="1" dirty="0">
                <a:solidFill>
                  <a:srgbClr val="C97A22"/>
                </a:solidFill>
                <a:latin typeface="Calibri" pitchFamily="34" charset="0"/>
                <a:ea typeface="Calibri" pitchFamily="34" charset="-122"/>
                <a:cs typeface="Calibri" pitchFamily="34" charset="-120"/>
              </a:rPr>
              <a:t>Partial recovery</a:t>
            </a:r>
            <a:endParaRPr lang="en-US" sz="1050" dirty="0"/>
          </a:p>
        </p:txBody>
      </p:sp>
      <p:sp>
        <p:nvSpPr>
          <p:cNvPr id="17" name="Text 15"/>
          <p:cNvSpPr txBox="1"/>
          <p:nvPr/>
        </p:nvSpPr>
        <p:spPr>
          <a:xfrm>
            <a:off x="0" y="0"/>
            <a:ext cx="91440" cy="91440"/>
          </a:xfrm>
          <a:prstGeom prst="rect">
            <a:avLst/>
          </a:prstGeom>
          <a:noFill/>
          <a:ln/>
        </p:spPr>
        <p:txBody>
          <a:bodyPr wrap="square" rtlCol="0" anchor="ctr"/>
          <a:lstStyle/>
          <a:p>
            <a:pPr indent="0" marL="0">
              <a:buNone/>
            </a:pPr>
            <a:endParaRPr lang="en-US" dirty="0"/>
          </a:p>
        </p:txBody>
      </p:sp>
      <p:sp>
        <p:nvSpPr>
          <p:cNvPr id="18" name="Text 16"/>
          <p:cNvSpPr txBox="1"/>
          <p:nvPr/>
        </p:nvSpPr>
        <p:spPr>
          <a:xfrm>
            <a:off x="4544568" y="4800600"/>
            <a:ext cx="3108960" cy="868680"/>
          </a:xfrm>
          <a:prstGeom prst="rect">
            <a:avLst/>
          </a:prstGeom>
          <a:noFill/>
          <a:ln/>
        </p:spPr>
        <p:txBody>
          <a:bodyPr wrap="square" lIns="0" tIns="0" rIns="0" bIns="0" rtlCol="0" anchor="ctr"/>
          <a:lstStyle/>
          <a:p>
            <a:pPr indent="0" marL="0">
              <a:lnSpc>
                <a:spcPct val="115000"/>
              </a:lnSpc>
              <a:buNone/>
            </a:pPr>
            <a:r>
              <a:rPr lang="en-US" sz="980" dirty="0">
                <a:solidFill>
                  <a:srgbClr val="20242E"/>
                </a:solidFill>
                <a:latin typeface="Calibri" pitchFamily="34" charset="0"/>
                <a:ea typeface="Calibri" pitchFamily="34" charset="-122"/>
                <a:cs typeface="Calibri" pitchFamily="34" charset="-120"/>
              </a:rPr>
              <a:t>A lightweight learned Procrustes/linear transform (Drift-Adapter-style) realigns the old embedding — cheap, imperfect.</a:t>
            </a:r>
            <a:endParaRPr lang="en-US" sz="980" dirty="0"/>
          </a:p>
        </p:txBody>
      </p:sp>
      <p:sp>
        <p:nvSpPr>
          <p:cNvPr id="19" name="Shape 17"/>
          <p:cNvSpPr/>
          <p:nvPr/>
        </p:nvSpPr>
        <p:spPr>
          <a:xfrm>
            <a:off x="8083296" y="3246120"/>
            <a:ext cx="3584448" cy="2514600"/>
          </a:xfrm>
          <a:prstGeom prst="roundRect">
            <a:avLst>
              <a:gd name="adj" fmla="val 2909"/>
            </a:avLst>
          </a:prstGeom>
          <a:solidFill>
            <a:srgbClr val="F4F7FC"/>
          </a:solidFill>
          <a:ln/>
          <a:effectLst>
            <a:outerShdw sx="100000" sy="100000" kx="0" ky="0" algn="bl" rotWithShape="0" blurRad="101600" dist="38100" dir="5400000">
              <a:srgbClr val="1B2A56">
                <a:alpha val="12000"/>
              </a:srgbClr>
            </a:outerShdw>
          </a:effectLst>
        </p:spPr>
      </p:sp>
      <p:sp>
        <p:nvSpPr>
          <p:cNvPr id="20" name="Shape 18"/>
          <p:cNvSpPr/>
          <p:nvPr/>
        </p:nvSpPr>
        <p:spPr>
          <a:xfrm>
            <a:off x="8311896" y="3474720"/>
            <a:ext cx="502920" cy="502920"/>
          </a:xfrm>
          <a:prstGeom prst="roundRect">
            <a:avLst>
              <a:gd name="adj" fmla="val 50909"/>
            </a:avLst>
          </a:prstGeom>
          <a:solidFill>
            <a:srgbClr val="5A6472"/>
          </a:solidFill>
          <a:ln/>
        </p:spPr>
      </p:sp>
      <p:sp>
        <p:nvSpPr>
          <p:cNvPr id="21" name="Text 19"/>
          <p:cNvSpPr txBox="1"/>
          <p:nvPr/>
        </p:nvSpPr>
        <p:spPr>
          <a:xfrm>
            <a:off x="8311896" y="4114800"/>
            <a:ext cx="3108960" cy="320040"/>
          </a:xfrm>
          <a:prstGeom prst="rect">
            <a:avLst/>
          </a:prstGeom>
          <a:noFill/>
          <a:ln/>
        </p:spPr>
        <p:txBody>
          <a:bodyPr wrap="square" lIns="0" tIns="0" rIns="0" bIns="0" rtlCol="0" anchor="ctr"/>
          <a:lstStyle/>
          <a:p>
            <a:pPr indent="0" marL="0">
              <a:buNone/>
            </a:pPr>
            <a:r>
              <a:rPr lang="en-US" sz="1500" b="1" dirty="0">
                <a:solidFill>
                  <a:srgbClr val="1B2A56"/>
                </a:solidFill>
                <a:latin typeface="Calibri" pitchFamily="34" charset="0"/>
                <a:ea typeface="Calibri" pitchFamily="34" charset="-122"/>
                <a:cs typeface="Calibri" pitchFamily="34" charset="-120"/>
              </a:rPr>
              <a:t>Defer</a:t>
            </a:r>
            <a:endParaRPr lang="en-US" sz="1500" dirty="0"/>
          </a:p>
        </p:txBody>
      </p:sp>
      <p:sp>
        <p:nvSpPr>
          <p:cNvPr id="22" name="Text 20"/>
          <p:cNvSpPr txBox="1"/>
          <p:nvPr/>
        </p:nvSpPr>
        <p:spPr>
          <a:xfrm>
            <a:off x="8311896" y="4462272"/>
            <a:ext cx="3108960" cy="274320"/>
          </a:xfrm>
          <a:prstGeom prst="rect">
            <a:avLst/>
          </a:prstGeom>
          <a:noFill/>
          <a:ln/>
        </p:spPr>
        <p:txBody>
          <a:bodyPr wrap="square" lIns="0" tIns="0" rIns="0" bIns="0" rtlCol="0" anchor="ctr"/>
          <a:lstStyle/>
          <a:p>
            <a:pPr indent="0" marL="0">
              <a:buNone/>
            </a:pPr>
            <a:r>
              <a:rPr lang="en-US" sz="1050" b="1" dirty="0">
                <a:solidFill>
                  <a:srgbClr val="5A6472"/>
                </a:solidFill>
                <a:latin typeface="Calibri" pitchFamily="34" charset="0"/>
                <a:ea typeface="Calibri" pitchFamily="34" charset="-122"/>
                <a:cs typeface="Calibri" pitchFamily="34" charset="-120"/>
              </a:rPr>
              <a:t>Zero cost</a:t>
            </a:r>
            <a:pPr indent="0" marL="0">
              <a:buNone/>
            </a:pPr>
            <a:r>
              <a:rPr lang="en-US" sz="1050" dirty="0">
                <a:solidFill>
                  <a:srgbClr val="5A6472"/>
                </a:solidFill>
                <a:latin typeface="Calibri" pitchFamily="34" charset="0"/>
                <a:ea typeface="Calibri" pitchFamily="34" charset="-122"/>
                <a:cs typeface="Calibri" pitchFamily="34" charset="-120"/>
              </a:rPr>
              <a:t>   •   </a:t>
            </a:r>
            <a:pPr indent="0" marL="0">
              <a:buNone/>
            </a:pPr>
            <a:r>
              <a:rPr lang="en-US" sz="1050" b="1" dirty="0">
                <a:solidFill>
                  <a:srgbClr val="5A6472"/>
                </a:solidFill>
                <a:latin typeface="Calibri" pitchFamily="34" charset="0"/>
                <a:ea typeface="Calibri" pitchFamily="34" charset="-122"/>
                <a:cs typeface="Calibri" pitchFamily="34" charset="-120"/>
              </a:rPr>
              <a:t>Zero recovery</a:t>
            </a:r>
            <a:endParaRPr lang="en-US" sz="1050" dirty="0"/>
          </a:p>
        </p:txBody>
      </p:sp>
      <p:sp>
        <p:nvSpPr>
          <p:cNvPr id="23" name="Text 21"/>
          <p:cNvSpPr txBox="1"/>
          <p:nvPr/>
        </p:nvSpPr>
        <p:spPr>
          <a:xfrm>
            <a:off x="0" y="0"/>
            <a:ext cx="91440" cy="91440"/>
          </a:xfrm>
          <a:prstGeom prst="rect">
            <a:avLst/>
          </a:prstGeom>
          <a:noFill/>
          <a:ln/>
        </p:spPr>
        <p:txBody>
          <a:bodyPr wrap="square" rtlCol="0" anchor="ctr"/>
          <a:lstStyle/>
          <a:p>
            <a:pPr indent="0" marL="0">
              <a:buNone/>
            </a:pPr>
            <a:endParaRPr lang="en-US" dirty="0"/>
          </a:p>
        </p:txBody>
      </p:sp>
      <p:sp>
        <p:nvSpPr>
          <p:cNvPr id="24" name="Text 22"/>
          <p:cNvSpPr txBox="1"/>
          <p:nvPr/>
        </p:nvSpPr>
        <p:spPr>
          <a:xfrm>
            <a:off x="8311896" y="4800600"/>
            <a:ext cx="3108960" cy="868680"/>
          </a:xfrm>
          <a:prstGeom prst="rect">
            <a:avLst/>
          </a:prstGeom>
          <a:noFill/>
          <a:ln/>
        </p:spPr>
        <p:txBody>
          <a:bodyPr wrap="square" lIns="0" tIns="0" rIns="0" bIns="0" rtlCol="0" anchor="ctr"/>
          <a:lstStyle/>
          <a:p>
            <a:pPr indent="0" marL="0">
              <a:lnSpc>
                <a:spcPct val="115000"/>
              </a:lnSpc>
              <a:buNone/>
            </a:pPr>
            <a:r>
              <a:rPr lang="en-US" sz="980" dirty="0">
                <a:solidFill>
                  <a:srgbClr val="20242E"/>
                </a:solidFill>
                <a:latin typeface="Calibri" pitchFamily="34" charset="0"/>
                <a:ea typeface="Calibri" pitchFamily="34" charset="-122"/>
                <a:cs typeface="Calibri" pitchFamily="34" charset="-120"/>
              </a:rPr>
              <a:t>Leave it contaminated for now — the mathematically correct choice when severity × traffic is low relative to cost.</a:t>
            </a:r>
            <a:endParaRPr lang="en-US" sz="980" dirty="0"/>
          </a:p>
        </p:txBody>
      </p:sp>
      <p:sp>
        <p:nvSpPr>
          <p:cNvPr id="25" name="Text 2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26" name="Text 2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ENGINEERING APPLICATIONS &amp; METHODOLOGY</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Engineering Methodology &amp; Modules</a:t>
            </a:r>
            <a:endParaRPr lang="en-US" sz="3200" dirty="0"/>
          </a:p>
        </p:txBody>
      </p:sp>
      <p:sp>
        <p:nvSpPr>
          <p:cNvPr id="4" name="Text 2"/>
          <p:cNvSpPr txBox="1"/>
          <p:nvPr/>
        </p:nvSpPr>
        <p:spPr>
          <a:xfrm>
            <a:off x="548640" y="1298448"/>
            <a:ext cx="10789920" cy="292608"/>
          </a:xfrm>
          <a:prstGeom prst="rect">
            <a:avLst/>
          </a:prstGeom>
          <a:noFill/>
          <a:ln/>
        </p:spPr>
        <p:txBody>
          <a:bodyPr wrap="square" lIns="0" tIns="0" rIns="0" bIns="0"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Four independently testable modules — each with a defined input/output contract, so any one can be swapped or re-validated in isolation.</a:t>
            </a:r>
            <a:endParaRPr lang="en-US" sz="1100" dirty="0"/>
          </a:p>
        </p:txBody>
      </p:sp>
      <p:sp>
        <p:nvSpPr>
          <p:cNvPr id="5" name="Shape 3"/>
          <p:cNvSpPr/>
          <p:nvPr/>
        </p:nvSpPr>
        <p:spPr>
          <a:xfrm>
            <a:off x="548640" y="1874520"/>
            <a:ext cx="2651760" cy="4160520"/>
          </a:xfrm>
          <a:prstGeom prst="roundRect">
            <a:avLst>
              <a:gd name="adj" fmla="val 2759"/>
            </a:avLst>
          </a:prstGeom>
          <a:solidFill>
            <a:srgbClr val="1B2A56"/>
          </a:solidFill>
          <a:ln/>
        </p:spPr>
      </p:sp>
      <p:sp>
        <p:nvSpPr>
          <p:cNvPr id="6" name="Shape 4"/>
          <p:cNvSpPr/>
          <p:nvPr/>
        </p:nvSpPr>
        <p:spPr>
          <a:xfrm>
            <a:off x="749808" y="2084832"/>
            <a:ext cx="548640" cy="548640"/>
          </a:xfrm>
          <a:prstGeom prst="roundRect">
            <a:avLst>
              <a:gd name="adj" fmla="val 50000"/>
            </a:avLst>
          </a:prstGeom>
          <a:solidFill>
            <a:srgbClr val="0E7C7B"/>
          </a:solidFill>
          <a:ln/>
        </p:spPr>
      </p:sp>
      <p:sp>
        <p:nvSpPr>
          <p:cNvPr id="7" name="Text 5"/>
          <p:cNvSpPr txBox="1"/>
          <p:nvPr/>
        </p:nvSpPr>
        <p:spPr>
          <a:xfrm>
            <a:off x="749808" y="20848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M1</a:t>
            </a:r>
            <a:endParaRPr lang="en-US" sz="1500" dirty="0"/>
          </a:p>
        </p:txBody>
      </p:sp>
      <p:sp>
        <p:nvSpPr>
          <p:cNvPr id="8" name="Text 6"/>
          <p:cNvSpPr txBox="1"/>
          <p:nvPr/>
        </p:nvSpPr>
        <p:spPr>
          <a:xfrm>
            <a:off x="749808" y="2743200"/>
            <a:ext cx="2249424" cy="50292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Calibri" pitchFamily="34" charset="0"/>
                <a:ea typeface="Calibri" pitchFamily="34" charset="-122"/>
                <a:cs typeface="Calibri" pitchFamily="34" charset="-120"/>
              </a:rPr>
              <a:t>Detection</a:t>
            </a:r>
            <a:endParaRPr lang="en-US" sz="1400" dirty="0"/>
          </a:p>
        </p:txBody>
      </p:sp>
      <p:sp>
        <p:nvSpPr>
          <p:cNvPr id="9" name="Text 7"/>
          <p:cNvSpPr txBox="1"/>
          <p:nvPr/>
        </p:nvSpPr>
        <p:spPr>
          <a:xfrm>
            <a:off x="749808" y="3291840"/>
            <a:ext cx="2249424" cy="1828800"/>
          </a:xfrm>
          <a:prstGeom prst="rect">
            <a:avLst/>
          </a:prstGeom>
          <a:noFill/>
          <a:ln/>
        </p:spPr>
        <p:txBody>
          <a:bodyPr wrap="square" lIns="0" tIns="0" rIns="0" bIns="0" rtlCol="0" anchor="ctr"/>
          <a:lstStyle/>
          <a:p>
            <a:pPr indent="0" marL="0">
              <a:lnSpc>
                <a:spcPct val="118000"/>
              </a:lnSpc>
              <a:buNone/>
            </a:pPr>
            <a:r>
              <a:rPr lang="en-US" sz="980" dirty="0">
                <a:solidFill>
                  <a:srgbClr val="CFE0FA"/>
                </a:solidFill>
                <a:latin typeface="Calibri" pitchFamily="34" charset="0"/>
                <a:ea typeface="Calibri" pitchFamily="34" charset="-122"/>
                <a:cs typeface="Calibri" pitchFamily="34" charset="-120"/>
              </a:rPr>
              <a:t>KNN-OOD scoring, calibrated against a stable-baseline percentile threshold (no oracle contamination labels used).</a:t>
            </a:r>
            <a:endParaRPr lang="en-US" sz="980" dirty="0"/>
          </a:p>
        </p:txBody>
      </p:sp>
      <p:sp>
        <p:nvSpPr>
          <p:cNvPr id="10" name="Shape 8"/>
          <p:cNvSpPr/>
          <p:nvPr/>
        </p:nvSpPr>
        <p:spPr>
          <a:xfrm>
            <a:off x="749808" y="5212080"/>
            <a:ext cx="2249424" cy="0"/>
          </a:xfrm>
          <a:prstGeom prst="line">
            <a:avLst/>
          </a:prstGeom>
          <a:noFill/>
          <a:ln w="12700">
            <a:solidFill>
              <a:srgbClr val="33447A"/>
            </a:solidFill>
            <a:prstDash val="solid"/>
          </a:ln>
        </p:spPr>
      </p:sp>
      <p:sp>
        <p:nvSpPr>
          <p:cNvPr id="11" name="Text 9"/>
          <p:cNvSpPr txBox="1"/>
          <p:nvPr/>
        </p:nvSpPr>
        <p:spPr>
          <a:xfrm>
            <a:off x="749808" y="5321808"/>
            <a:ext cx="2249424" cy="640080"/>
          </a:xfrm>
          <a:prstGeom prst="rect">
            <a:avLst/>
          </a:prstGeom>
          <a:noFill/>
          <a:ln/>
        </p:spPr>
        <p:txBody>
          <a:bodyPr wrap="square" lIns="0" tIns="0" rIns="0" bIns="0" rtlCol="0" anchor="ctr"/>
          <a:lstStyle/>
          <a:p>
            <a:pPr indent="0" marL="0">
              <a:lnSpc>
                <a:spcPct val="115000"/>
              </a:lnSpc>
              <a:buNone/>
            </a:pPr>
            <a:r>
              <a:rPr lang="en-US" sz="880" i="1" dirty="0">
                <a:solidFill>
                  <a:srgbClr val="8CA0C8"/>
                </a:solidFill>
                <a:latin typeface="Calibri" pitchFamily="34" charset="0"/>
                <a:ea typeface="Calibri" pitchFamily="34" charset="-122"/>
                <a:cs typeface="Calibri" pitchFamily="34" charset="-120"/>
              </a:rPr>
              <a:t>In: Gen-A/Gen-B embeddings  →  Out: per-doc anomaly score + flag</a:t>
            </a:r>
            <a:endParaRPr lang="en-US" sz="880" dirty="0"/>
          </a:p>
        </p:txBody>
      </p:sp>
      <p:sp>
        <p:nvSpPr>
          <p:cNvPr id="12" name="Shape 10"/>
          <p:cNvSpPr/>
          <p:nvPr/>
        </p:nvSpPr>
        <p:spPr>
          <a:xfrm>
            <a:off x="3374136" y="1874520"/>
            <a:ext cx="2651760" cy="4160520"/>
          </a:xfrm>
          <a:prstGeom prst="roundRect">
            <a:avLst>
              <a:gd name="adj" fmla="val 2759"/>
            </a:avLst>
          </a:prstGeom>
          <a:solidFill>
            <a:srgbClr val="F4F7FC"/>
          </a:solidFill>
          <a:ln/>
          <a:effectLst>
            <a:outerShdw sx="100000" sy="100000" kx="0" ky="0" algn="bl" rotWithShape="0" blurRad="101600" dist="38100" dir="5400000">
              <a:srgbClr val="1B2A56">
                <a:alpha val="12000"/>
              </a:srgbClr>
            </a:outerShdw>
          </a:effectLst>
        </p:spPr>
      </p:sp>
      <p:sp>
        <p:nvSpPr>
          <p:cNvPr id="13" name="Shape 11"/>
          <p:cNvSpPr/>
          <p:nvPr/>
        </p:nvSpPr>
        <p:spPr>
          <a:xfrm>
            <a:off x="3575304" y="2084832"/>
            <a:ext cx="548640" cy="548640"/>
          </a:xfrm>
          <a:prstGeom prst="roundRect">
            <a:avLst>
              <a:gd name="adj" fmla="val 50000"/>
            </a:avLst>
          </a:prstGeom>
          <a:solidFill>
            <a:srgbClr val="0E7C7B"/>
          </a:solidFill>
          <a:ln/>
        </p:spPr>
      </p:sp>
      <p:sp>
        <p:nvSpPr>
          <p:cNvPr id="14" name="Text 12"/>
          <p:cNvSpPr txBox="1"/>
          <p:nvPr/>
        </p:nvSpPr>
        <p:spPr>
          <a:xfrm>
            <a:off x="3575304" y="20848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M2</a:t>
            </a:r>
            <a:endParaRPr lang="en-US" sz="1500" dirty="0"/>
          </a:p>
        </p:txBody>
      </p:sp>
      <p:sp>
        <p:nvSpPr>
          <p:cNvPr id="15" name="Text 13"/>
          <p:cNvSpPr txBox="1"/>
          <p:nvPr/>
        </p:nvSpPr>
        <p:spPr>
          <a:xfrm>
            <a:off x="3575304" y="2743200"/>
            <a:ext cx="2249424" cy="502920"/>
          </a:xfrm>
          <a:prstGeom prst="rect">
            <a:avLst/>
          </a:prstGeom>
          <a:noFill/>
          <a:ln/>
        </p:spPr>
        <p:txBody>
          <a:bodyPr wrap="square" lIns="0" tIns="0" rIns="0" bIns="0" rtlCol="0" anchor="ctr"/>
          <a:lstStyle/>
          <a:p>
            <a:pPr indent="0" marL="0">
              <a:lnSpc>
                <a:spcPct val="105000"/>
              </a:lnSpc>
              <a:buNone/>
            </a:pPr>
            <a:r>
              <a:rPr lang="en-US" sz="1400" b="1" dirty="0">
                <a:solidFill>
                  <a:srgbClr val="1B2A56"/>
                </a:solidFill>
                <a:latin typeface="Calibri" pitchFamily="34" charset="0"/>
                <a:ea typeface="Calibri" pitchFamily="34" charset="-122"/>
                <a:cs typeface="Calibri" pitchFamily="34" charset="-120"/>
              </a:rPr>
              <a:t>Prioritization</a:t>
            </a:r>
            <a:endParaRPr lang="en-US" sz="1400" dirty="0"/>
          </a:p>
        </p:txBody>
      </p:sp>
      <p:sp>
        <p:nvSpPr>
          <p:cNvPr id="16" name="Text 14"/>
          <p:cNvSpPr txBox="1"/>
          <p:nvPr/>
        </p:nvSpPr>
        <p:spPr>
          <a:xfrm>
            <a:off x="3575304" y="3291840"/>
            <a:ext cx="2249424" cy="1828800"/>
          </a:xfrm>
          <a:prstGeom prst="rect">
            <a:avLst/>
          </a:prstGeom>
          <a:noFill/>
          <a:ln/>
        </p:spPr>
        <p:txBody>
          <a:bodyPr wrap="square" lIns="0" tIns="0" rIns="0" bIns="0" rtlCol="0" anchor="ctr"/>
          <a:lstStyle/>
          <a:p>
            <a:pPr indent="0" marL="0">
              <a:lnSpc>
                <a:spcPct val="118000"/>
              </a:lnSpc>
              <a:buNone/>
            </a:pPr>
            <a:r>
              <a:rPr lang="en-US" sz="980" dirty="0">
                <a:solidFill>
                  <a:srgbClr val="20242E"/>
                </a:solidFill>
                <a:latin typeface="Calibri" pitchFamily="34" charset="0"/>
                <a:ea typeface="Calibri" pitchFamily="34" charset="-122"/>
                <a:cs typeface="Calibri" pitchFamily="34" charset="-120"/>
              </a:rPr>
              <a:t>MCKP formulation — 3 actions x N documents, 1 shared budget; solved exactly via ILP (small scale) and via a frontier-greedy approximation (production scale).</a:t>
            </a:r>
            <a:endParaRPr lang="en-US" sz="980" dirty="0"/>
          </a:p>
        </p:txBody>
      </p:sp>
      <p:sp>
        <p:nvSpPr>
          <p:cNvPr id="17" name="Shape 15"/>
          <p:cNvSpPr/>
          <p:nvPr/>
        </p:nvSpPr>
        <p:spPr>
          <a:xfrm>
            <a:off x="3575304" y="5212080"/>
            <a:ext cx="2249424" cy="0"/>
          </a:xfrm>
          <a:prstGeom prst="line">
            <a:avLst/>
          </a:prstGeom>
          <a:noFill/>
          <a:ln w="12700">
            <a:solidFill>
              <a:srgbClr val="D8DEEA"/>
            </a:solidFill>
            <a:prstDash val="solid"/>
          </a:ln>
        </p:spPr>
      </p:sp>
      <p:sp>
        <p:nvSpPr>
          <p:cNvPr id="18" name="Text 16"/>
          <p:cNvSpPr txBox="1"/>
          <p:nvPr/>
        </p:nvSpPr>
        <p:spPr>
          <a:xfrm>
            <a:off x="3575304" y="5321808"/>
            <a:ext cx="2249424" cy="640080"/>
          </a:xfrm>
          <a:prstGeom prst="rect">
            <a:avLst/>
          </a:prstGeom>
          <a:noFill/>
          <a:ln/>
        </p:spPr>
        <p:txBody>
          <a:bodyPr wrap="square" lIns="0" tIns="0" rIns="0" bIns="0" rtlCol="0" anchor="ctr"/>
          <a:lstStyle/>
          <a:p>
            <a:pPr indent="0" marL="0">
              <a:lnSpc>
                <a:spcPct val="115000"/>
              </a:lnSpc>
              <a:buNone/>
            </a:pPr>
            <a:r>
              <a:rPr lang="en-US" sz="880" i="1" dirty="0">
                <a:solidFill>
                  <a:srgbClr val="5A6472"/>
                </a:solidFill>
                <a:latin typeface="Calibri" pitchFamily="34" charset="0"/>
                <a:ea typeface="Calibri" pitchFamily="34" charset="-122"/>
                <a:cs typeface="Calibri" pitchFamily="34" charset="-120"/>
              </a:rPr>
              <a:t>In: flagged docs + severity + traffic  →  Out: per-doc action plan</a:t>
            </a:r>
            <a:endParaRPr lang="en-US" sz="880" dirty="0"/>
          </a:p>
        </p:txBody>
      </p:sp>
      <p:sp>
        <p:nvSpPr>
          <p:cNvPr id="19" name="Shape 17"/>
          <p:cNvSpPr/>
          <p:nvPr/>
        </p:nvSpPr>
        <p:spPr>
          <a:xfrm>
            <a:off x="6199632" y="1874520"/>
            <a:ext cx="2651760" cy="4160520"/>
          </a:xfrm>
          <a:prstGeom prst="roundRect">
            <a:avLst>
              <a:gd name="adj" fmla="val 2759"/>
            </a:avLst>
          </a:prstGeom>
          <a:solidFill>
            <a:srgbClr val="F4F7FC"/>
          </a:solidFill>
          <a:ln/>
          <a:effectLst>
            <a:outerShdw sx="100000" sy="100000" kx="0" ky="0" algn="bl" rotWithShape="0" blurRad="101600" dist="38100" dir="5400000">
              <a:srgbClr val="1B2A56">
                <a:alpha val="12000"/>
              </a:srgbClr>
            </a:outerShdw>
          </a:effectLst>
        </p:spPr>
      </p:sp>
      <p:sp>
        <p:nvSpPr>
          <p:cNvPr id="20" name="Shape 18"/>
          <p:cNvSpPr/>
          <p:nvPr/>
        </p:nvSpPr>
        <p:spPr>
          <a:xfrm>
            <a:off x="6400800" y="2084832"/>
            <a:ext cx="548640" cy="548640"/>
          </a:xfrm>
          <a:prstGeom prst="roundRect">
            <a:avLst>
              <a:gd name="adj" fmla="val 50000"/>
            </a:avLst>
          </a:prstGeom>
          <a:solidFill>
            <a:srgbClr val="0E7C7B"/>
          </a:solidFill>
          <a:ln/>
        </p:spPr>
      </p:sp>
      <p:sp>
        <p:nvSpPr>
          <p:cNvPr id="21" name="Text 19"/>
          <p:cNvSpPr txBox="1"/>
          <p:nvPr/>
        </p:nvSpPr>
        <p:spPr>
          <a:xfrm>
            <a:off x="6400800" y="20848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M3</a:t>
            </a:r>
            <a:endParaRPr lang="en-US" sz="1500" dirty="0"/>
          </a:p>
        </p:txBody>
      </p:sp>
      <p:sp>
        <p:nvSpPr>
          <p:cNvPr id="22" name="Text 20"/>
          <p:cNvSpPr txBox="1"/>
          <p:nvPr/>
        </p:nvSpPr>
        <p:spPr>
          <a:xfrm>
            <a:off x="6400800" y="2743200"/>
            <a:ext cx="2249424" cy="502920"/>
          </a:xfrm>
          <a:prstGeom prst="rect">
            <a:avLst/>
          </a:prstGeom>
          <a:noFill/>
          <a:ln/>
        </p:spPr>
        <p:txBody>
          <a:bodyPr wrap="square" lIns="0" tIns="0" rIns="0" bIns="0" rtlCol="0" anchor="ctr"/>
          <a:lstStyle/>
          <a:p>
            <a:pPr indent="0" marL="0">
              <a:lnSpc>
                <a:spcPct val="105000"/>
              </a:lnSpc>
              <a:buNone/>
            </a:pPr>
            <a:r>
              <a:rPr lang="en-US" sz="1400" b="1" dirty="0">
                <a:solidFill>
                  <a:srgbClr val="1B2A56"/>
                </a:solidFill>
                <a:latin typeface="Calibri" pitchFamily="34" charset="0"/>
                <a:ea typeface="Calibri" pitchFamily="34" charset="-122"/>
                <a:cs typeface="Calibri" pitchFamily="34" charset="-120"/>
              </a:rPr>
              <a:t>Migration</a:t>
            </a:r>
            <a:endParaRPr lang="en-US" sz="1400" dirty="0"/>
          </a:p>
        </p:txBody>
      </p:sp>
      <p:sp>
        <p:nvSpPr>
          <p:cNvPr id="23" name="Text 21"/>
          <p:cNvSpPr txBox="1"/>
          <p:nvPr/>
        </p:nvSpPr>
        <p:spPr>
          <a:xfrm>
            <a:off x="6400800" y="3291840"/>
            <a:ext cx="2249424" cy="1828800"/>
          </a:xfrm>
          <a:prstGeom prst="rect">
            <a:avLst/>
          </a:prstGeom>
          <a:noFill/>
          <a:ln/>
        </p:spPr>
        <p:txBody>
          <a:bodyPr wrap="square" lIns="0" tIns="0" rIns="0" bIns="0" rtlCol="0" anchor="ctr"/>
          <a:lstStyle/>
          <a:p>
            <a:pPr indent="0" marL="0">
              <a:lnSpc>
                <a:spcPct val="118000"/>
              </a:lnSpc>
              <a:buNone/>
            </a:pPr>
            <a:r>
              <a:rPr lang="en-US" sz="980" dirty="0">
                <a:solidFill>
                  <a:srgbClr val="20242E"/>
                </a:solidFill>
                <a:latin typeface="Calibri" pitchFamily="34" charset="0"/>
                <a:ea typeface="Calibri" pitchFamily="34" charset="-122"/>
                <a:cs typeface="Calibri" pitchFamily="34" charset="-120"/>
              </a:rPr>
              <a:t>Shadow-build the planned fixes as a separate copy; the live index is never mutated in place, matching real zero-downtime deployment practice.</a:t>
            </a:r>
            <a:endParaRPr lang="en-US" sz="980" dirty="0"/>
          </a:p>
        </p:txBody>
      </p:sp>
      <p:sp>
        <p:nvSpPr>
          <p:cNvPr id="24" name="Shape 22"/>
          <p:cNvSpPr/>
          <p:nvPr/>
        </p:nvSpPr>
        <p:spPr>
          <a:xfrm>
            <a:off x="6400800" y="5212080"/>
            <a:ext cx="2249424" cy="0"/>
          </a:xfrm>
          <a:prstGeom prst="line">
            <a:avLst/>
          </a:prstGeom>
          <a:noFill/>
          <a:ln w="12700">
            <a:solidFill>
              <a:srgbClr val="D8DEEA"/>
            </a:solidFill>
            <a:prstDash val="solid"/>
          </a:ln>
        </p:spPr>
      </p:sp>
      <p:sp>
        <p:nvSpPr>
          <p:cNvPr id="25" name="Text 23"/>
          <p:cNvSpPr txBox="1"/>
          <p:nvPr/>
        </p:nvSpPr>
        <p:spPr>
          <a:xfrm>
            <a:off x="6400800" y="5321808"/>
            <a:ext cx="2249424" cy="640080"/>
          </a:xfrm>
          <a:prstGeom prst="rect">
            <a:avLst/>
          </a:prstGeom>
          <a:noFill/>
          <a:ln/>
        </p:spPr>
        <p:txBody>
          <a:bodyPr wrap="square" lIns="0" tIns="0" rIns="0" bIns="0" rtlCol="0" anchor="ctr"/>
          <a:lstStyle/>
          <a:p>
            <a:pPr indent="0" marL="0">
              <a:lnSpc>
                <a:spcPct val="115000"/>
              </a:lnSpc>
              <a:buNone/>
            </a:pPr>
            <a:r>
              <a:rPr lang="en-US" sz="880" i="1" dirty="0">
                <a:solidFill>
                  <a:srgbClr val="5A6472"/>
                </a:solidFill>
                <a:latin typeface="Calibri" pitchFamily="34" charset="0"/>
                <a:ea typeface="Calibri" pitchFamily="34" charset="-122"/>
                <a:cs typeface="Calibri" pitchFamily="34" charset="-120"/>
              </a:rPr>
              <a:t>In: action plan  →  Out: shadow embedding set</a:t>
            </a:r>
            <a:endParaRPr lang="en-US" sz="880" dirty="0"/>
          </a:p>
        </p:txBody>
      </p:sp>
      <p:sp>
        <p:nvSpPr>
          <p:cNvPr id="26" name="Shape 24"/>
          <p:cNvSpPr/>
          <p:nvPr/>
        </p:nvSpPr>
        <p:spPr>
          <a:xfrm>
            <a:off x="9025128" y="1874520"/>
            <a:ext cx="2651760" cy="4160520"/>
          </a:xfrm>
          <a:prstGeom prst="roundRect">
            <a:avLst>
              <a:gd name="adj" fmla="val 2759"/>
            </a:avLst>
          </a:prstGeom>
          <a:solidFill>
            <a:srgbClr val="F4F7FC"/>
          </a:solidFill>
          <a:ln/>
          <a:effectLst>
            <a:outerShdw sx="100000" sy="100000" kx="0" ky="0" algn="bl" rotWithShape="0" blurRad="101600" dist="38100" dir="5400000">
              <a:srgbClr val="1B2A56">
                <a:alpha val="12000"/>
              </a:srgbClr>
            </a:outerShdw>
          </a:effectLst>
        </p:spPr>
      </p:sp>
      <p:sp>
        <p:nvSpPr>
          <p:cNvPr id="27" name="Shape 25"/>
          <p:cNvSpPr/>
          <p:nvPr/>
        </p:nvSpPr>
        <p:spPr>
          <a:xfrm>
            <a:off x="9226296" y="2084832"/>
            <a:ext cx="548640" cy="548640"/>
          </a:xfrm>
          <a:prstGeom prst="roundRect">
            <a:avLst>
              <a:gd name="adj" fmla="val 50000"/>
            </a:avLst>
          </a:prstGeom>
          <a:solidFill>
            <a:srgbClr val="0E7C7B"/>
          </a:solidFill>
          <a:ln/>
        </p:spPr>
      </p:sp>
      <p:sp>
        <p:nvSpPr>
          <p:cNvPr id="28" name="Text 26"/>
          <p:cNvSpPr txBox="1"/>
          <p:nvPr/>
        </p:nvSpPr>
        <p:spPr>
          <a:xfrm>
            <a:off x="9226296" y="208483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M4</a:t>
            </a:r>
            <a:endParaRPr lang="en-US" sz="1500" dirty="0"/>
          </a:p>
        </p:txBody>
      </p:sp>
      <p:sp>
        <p:nvSpPr>
          <p:cNvPr id="29" name="Text 27"/>
          <p:cNvSpPr txBox="1"/>
          <p:nvPr/>
        </p:nvSpPr>
        <p:spPr>
          <a:xfrm>
            <a:off x="9226296" y="2743200"/>
            <a:ext cx="2249424" cy="502920"/>
          </a:xfrm>
          <a:prstGeom prst="rect">
            <a:avLst/>
          </a:prstGeom>
          <a:noFill/>
          <a:ln/>
        </p:spPr>
        <p:txBody>
          <a:bodyPr wrap="square" lIns="0" tIns="0" rIns="0" bIns="0" rtlCol="0" anchor="ctr"/>
          <a:lstStyle/>
          <a:p>
            <a:pPr indent="0" marL="0">
              <a:lnSpc>
                <a:spcPct val="105000"/>
              </a:lnSpc>
              <a:buNone/>
            </a:pPr>
            <a:r>
              <a:rPr lang="en-US" sz="1400" b="1" dirty="0">
                <a:solidFill>
                  <a:srgbClr val="1B2A56"/>
                </a:solidFill>
                <a:latin typeface="Calibri" pitchFamily="34" charset="0"/>
                <a:ea typeface="Calibri" pitchFamily="34" charset="-122"/>
                <a:cs typeface="Calibri" pitchFamily="34" charset="-120"/>
              </a:rPr>
              <a:t>Verification &amp; Cutover</a:t>
            </a:r>
            <a:endParaRPr lang="en-US" sz="1400" dirty="0"/>
          </a:p>
        </p:txBody>
      </p:sp>
      <p:sp>
        <p:nvSpPr>
          <p:cNvPr id="30" name="Text 28"/>
          <p:cNvSpPr txBox="1"/>
          <p:nvPr/>
        </p:nvSpPr>
        <p:spPr>
          <a:xfrm>
            <a:off x="9226296" y="3291840"/>
            <a:ext cx="2249424" cy="1828800"/>
          </a:xfrm>
          <a:prstGeom prst="rect">
            <a:avLst/>
          </a:prstGeom>
          <a:noFill/>
          <a:ln/>
        </p:spPr>
        <p:txBody>
          <a:bodyPr wrap="square" lIns="0" tIns="0" rIns="0" bIns="0" rtlCol="0" anchor="ctr"/>
          <a:lstStyle/>
          <a:p>
            <a:pPr indent="0" marL="0">
              <a:lnSpc>
                <a:spcPct val="118000"/>
              </a:lnSpc>
              <a:buNone/>
            </a:pPr>
            <a:r>
              <a:rPr lang="en-US" sz="980" dirty="0">
                <a:solidFill>
                  <a:srgbClr val="20242E"/>
                </a:solidFill>
                <a:latin typeface="Calibri" pitchFamily="34" charset="0"/>
                <a:ea typeface="Calibri" pitchFamily="34" charset="-122"/>
                <a:cs typeface="Calibri" pitchFamily="34" charset="-120"/>
              </a:rPr>
              <a:t>Golden-query canary evaluation against the shadow; atomic cutover on pass, automatic rollback + retry/defer on fail.</a:t>
            </a:r>
            <a:endParaRPr lang="en-US" sz="980" dirty="0"/>
          </a:p>
        </p:txBody>
      </p:sp>
      <p:sp>
        <p:nvSpPr>
          <p:cNvPr id="31" name="Shape 29"/>
          <p:cNvSpPr/>
          <p:nvPr/>
        </p:nvSpPr>
        <p:spPr>
          <a:xfrm>
            <a:off x="9226296" y="5212080"/>
            <a:ext cx="2249424" cy="0"/>
          </a:xfrm>
          <a:prstGeom prst="line">
            <a:avLst/>
          </a:prstGeom>
          <a:noFill/>
          <a:ln w="12700">
            <a:solidFill>
              <a:srgbClr val="D8DEEA"/>
            </a:solidFill>
            <a:prstDash val="solid"/>
          </a:ln>
        </p:spPr>
      </p:sp>
      <p:sp>
        <p:nvSpPr>
          <p:cNvPr id="32" name="Text 30"/>
          <p:cNvSpPr txBox="1"/>
          <p:nvPr/>
        </p:nvSpPr>
        <p:spPr>
          <a:xfrm>
            <a:off x="9226296" y="5321808"/>
            <a:ext cx="2249424" cy="640080"/>
          </a:xfrm>
          <a:prstGeom prst="rect">
            <a:avLst/>
          </a:prstGeom>
          <a:noFill/>
          <a:ln/>
        </p:spPr>
        <p:txBody>
          <a:bodyPr wrap="square" lIns="0" tIns="0" rIns="0" bIns="0" rtlCol="0" anchor="ctr"/>
          <a:lstStyle/>
          <a:p>
            <a:pPr indent="0" marL="0">
              <a:lnSpc>
                <a:spcPct val="115000"/>
              </a:lnSpc>
              <a:buNone/>
            </a:pPr>
            <a:r>
              <a:rPr lang="en-US" sz="880" i="1" dirty="0">
                <a:solidFill>
                  <a:srgbClr val="5A6472"/>
                </a:solidFill>
                <a:latin typeface="Calibri" pitchFamily="34" charset="0"/>
                <a:ea typeface="Calibri" pitchFamily="34" charset="-122"/>
                <a:cs typeface="Calibri" pitchFamily="34" charset="-120"/>
              </a:rPr>
              <a:t>In: shadow set  →  Out: live index update, or abort + reason</a:t>
            </a:r>
            <a:endParaRPr lang="en-US" sz="880" dirty="0"/>
          </a:p>
        </p:txBody>
      </p:sp>
      <p:sp>
        <p:nvSpPr>
          <p:cNvPr id="33" name="Text 3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34" name="Text 3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NOVELTY &amp; CREATIVITY</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Novelty &amp; Creativity</a:t>
            </a:r>
            <a:endParaRPr lang="en-US" sz="3200" dirty="0"/>
          </a:p>
        </p:txBody>
      </p:sp>
      <p:sp>
        <p:nvSpPr>
          <p:cNvPr id="4" name="Shape 2"/>
          <p:cNvSpPr/>
          <p:nvPr/>
        </p:nvSpPr>
        <p:spPr>
          <a:xfrm>
            <a:off x="548640" y="1600200"/>
            <a:ext cx="11109960" cy="2331720"/>
          </a:xfrm>
          <a:prstGeom prst="roundRect">
            <a:avLst>
              <a:gd name="adj" fmla="val 3137"/>
            </a:avLst>
          </a:prstGeom>
          <a:solidFill>
            <a:srgbClr val="F4F7FC"/>
          </a:solidFill>
          <a:ln/>
          <a:effectLst>
            <a:outerShdw sx="100000" sy="100000" kx="0" ky="0" algn="bl" rotWithShape="0" blurRad="101600" dist="38100" dir="5400000">
              <a:srgbClr val="1B2A56">
                <a:alpha val="12000"/>
              </a:srgbClr>
            </a:outerShdw>
          </a:effectLst>
        </p:spPr>
      </p:sp>
      <p:sp>
        <p:nvSpPr>
          <p:cNvPr id="5" name="Shape 3"/>
          <p:cNvSpPr/>
          <p:nvPr/>
        </p:nvSpPr>
        <p:spPr>
          <a:xfrm>
            <a:off x="777240" y="1801368"/>
            <a:ext cx="1828800" cy="457200"/>
          </a:xfrm>
          <a:prstGeom prst="roundRect">
            <a:avLst>
              <a:gd name="adj" fmla="val 18000"/>
            </a:avLst>
          </a:prstGeom>
          <a:solidFill>
            <a:srgbClr val="0E7C7B"/>
          </a:solidFill>
          <a:ln/>
        </p:spPr>
      </p:sp>
      <p:sp>
        <p:nvSpPr>
          <p:cNvPr id="6" name="Text 4"/>
          <p:cNvSpPr txBox="1"/>
          <p:nvPr/>
        </p:nvSpPr>
        <p:spPr>
          <a:xfrm>
            <a:off x="777240" y="1801368"/>
            <a:ext cx="18288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Novelty</a:t>
            </a:r>
            <a:endParaRPr lang="en-US" sz="1350" dirty="0"/>
          </a:p>
        </p:txBody>
      </p:sp>
      <p:sp>
        <p:nvSpPr>
          <p:cNvPr id="7" name="Text 5"/>
          <p:cNvSpPr txBox="1"/>
          <p:nvPr/>
        </p:nvSpPr>
        <p:spPr>
          <a:xfrm>
            <a:off x="2880360" y="1764792"/>
            <a:ext cx="8549640" cy="2011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030" dirty="0">
                <a:solidFill>
                  <a:srgbClr val="20242E"/>
                </a:solidFill>
                <a:latin typeface="Calibri" pitchFamily="34" charset="0"/>
                <a:ea typeface="Calibri" pitchFamily="34" charset="-122"/>
                <a:cs typeface="Calibri" pitchFamily="34" charset="-120"/>
              </a:rPr>
              <a:t>First application (to our literature) of a Multiple-Choice Knapsack formulation to embedding-contamination remediation — prior OR knapsack work targets resource allocation, not vector-DB integrity.</a:t>
            </a:r>
            <a:endParaRPr lang="en-US" sz="1030" dirty="0"/>
          </a:p>
          <a:p>
            <a:pPr marL="342900" indent="-342900">
              <a:lnSpc>
                <a:spcPct val="115000"/>
              </a:lnSpc>
              <a:spcAft>
                <a:spcPts val="800"/>
              </a:spcAft>
              <a:buSzPct val="100000"/>
              <a:buChar char="•"/>
            </a:pPr>
            <a:r>
              <a:rPr lang="en-US" sz="1030" dirty="0">
                <a:solidFill>
                  <a:srgbClr val="20242E"/>
                </a:solidFill>
                <a:latin typeface="Calibri" pitchFamily="34" charset="0"/>
                <a:ea typeface="Calibri" pitchFamily="34" charset="-122"/>
                <a:cs typeface="Calibri" pitchFamily="34" charset="-120"/>
              </a:rPr>
              <a:t>A formal 3-way action space {Full Re-embed, Patch, Defer} where every reviewed prior work offers only a binary or single-fix choice.</a:t>
            </a:r>
            <a:endParaRPr lang="en-US" sz="1030" dirty="0"/>
          </a:p>
          <a:p>
            <a:pPr marL="342900" indent="-342900">
              <a:lnSpc>
                <a:spcPct val="115000"/>
              </a:lnSpc>
              <a:spcAft>
                <a:spcPts val="800"/>
              </a:spcAft>
              <a:buSzPct val="100000"/>
              <a:buChar char="•"/>
            </a:pPr>
            <a:r>
              <a:rPr lang="en-US" sz="1030" dirty="0">
                <a:solidFill>
                  <a:srgbClr val="20242E"/>
                </a:solidFill>
                <a:latin typeface="Calibri" pitchFamily="34" charset="0"/>
                <a:ea typeface="Calibri" pitchFamily="34" charset="-122"/>
                <a:cs typeface="Calibri" pitchFamily="34" charset="-120"/>
              </a:rPr>
              <a:t>A closed detect → prioritize → migrate → verify loop with an automated safety gate — prior work stops at detection or at a one-shot patch, with no verified-safe deployment step.</a:t>
            </a:r>
            <a:endParaRPr lang="en-US" sz="1030" dirty="0"/>
          </a:p>
        </p:txBody>
      </p:sp>
      <p:sp>
        <p:nvSpPr>
          <p:cNvPr id="8" name="Shape 6"/>
          <p:cNvSpPr/>
          <p:nvPr/>
        </p:nvSpPr>
        <p:spPr>
          <a:xfrm>
            <a:off x="548640" y="4114800"/>
            <a:ext cx="11109960" cy="2331720"/>
          </a:xfrm>
          <a:prstGeom prst="roundRect">
            <a:avLst>
              <a:gd name="adj" fmla="val 3137"/>
            </a:avLst>
          </a:prstGeom>
          <a:solidFill>
            <a:srgbClr val="F4F7FC"/>
          </a:solidFill>
          <a:ln/>
          <a:effectLst>
            <a:outerShdw sx="100000" sy="100000" kx="0" ky="0" algn="bl" rotWithShape="0" blurRad="101600" dist="38100" dir="5400000">
              <a:srgbClr val="1B2A56">
                <a:alpha val="12000"/>
              </a:srgbClr>
            </a:outerShdw>
          </a:effectLst>
        </p:spPr>
      </p:sp>
      <p:sp>
        <p:nvSpPr>
          <p:cNvPr id="9" name="Shape 7"/>
          <p:cNvSpPr/>
          <p:nvPr/>
        </p:nvSpPr>
        <p:spPr>
          <a:xfrm>
            <a:off x="777240" y="4315968"/>
            <a:ext cx="1828800" cy="457200"/>
          </a:xfrm>
          <a:prstGeom prst="roundRect">
            <a:avLst>
              <a:gd name="adj" fmla="val 18000"/>
            </a:avLst>
          </a:prstGeom>
          <a:solidFill>
            <a:srgbClr val="C97A22"/>
          </a:solidFill>
          <a:ln/>
        </p:spPr>
      </p:sp>
      <p:sp>
        <p:nvSpPr>
          <p:cNvPr id="10" name="Text 8"/>
          <p:cNvSpPr txBox="1"/>
          <p:nvPr/>
        </p:nvSpPr>
        <p:spPr>
          <a:xfrm>
            <a:off x="777240" y="4315968"/>
            <a:ext cx="18288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Creativity</a:t>
            </a:r>
            <a:endParaRPr lang="en-US" sz="1350" dirty="0"/>
          </a:p>
        </p:txBody>
      </p:sp>
      <p:sp>
        <p:nvSpPr>
          <p:cNvPr id="11" name="Text 9"/>
          <p:cNvSpPr txBox="1"/>
          <p:nvPr/>
        </p:nvSpPr>
        <p:spPr>
          <a:xfrm>
            <a:off x="2880360" y="4279392"/>
            <a:ext cx="8549640" cy="20116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030" dirty="0">
                <a:solidFill>
                  <a:srgbClr val="20242E"/>
                </a:solidFill>
                <a:latin typeface="Calibri" pitchFamily="34" charset="0"/>
                <a:ea typeface="Calibri" pitchFamily="34" charset="-122"/>
                <a:cs typeface="Calibri" pitchFamily="34" charset="-120"/>
              </a:rPr>
              <a:t>Reframing 'which documents to fix' as a classic combinatorial-optimization problem (knapsack) rather than a heuristic ranking rule — brings 45 years of provably-optimal OR theory to a brand-new problem domain.</a:t>
            </a:r>
            <a:endParaRPr lang="en-US" sz="1030" dirty="0"/>
          </a:p>
          <a:p>
            <a:pPr marL="342900" indent="-342900">
              <a:lnSpc>
                <a:spcPct val="115000"/>
              </a:lnSpc>
              <a:spcAft>
                <a:spcPts val="800"/>
              </a:spcAft>
              <a:buSzPct val="100000"/>
              <a:buChar char="•"/>
            </a:pPr>
            <a:r>
              <a:rPr lang="en-US" sz="1030" dirty="0">
                <a:solidFill>
                  <a:srgbClr val="20242E"/>
                </a:solidFill>
                <a:latin typeface="Calibri" pitchFamily="34" charset="0"/>
                <a:ea typeface="Calibri" pitchFamily="34" charset="-122"/>
                <a:cs typeface="Calibri" pitchFamily="34" charset="-120"/>
              </a:rPr>
              <a:t>Traffic-weighting severity: a rarely-queried contaminated document and a heavily-queried one are NOT equally urgent — this benefit function borrows directly from Zipf-distributed real-world query traffic (Breslau et al., 1999).</a:t>
            </a:r>
            <a:endParaRPr lang="en-US" sz="1030" dirty="0"/>
          </a:p>
          <a:p>
            <a:pPr marL="342900" indent="-342900">
              <a:lnSpc>
                <a:spcPct val="115000"/>
              </a:lnSpc>
              <a:spcAft>
                <a:spcPts val="800"/>
              </a:spcAft>
              <a:buSzPct val="100000"/>
              <a:buChar char="•"/>
            </a:pPr>
            <a:r>
              <a:rPr lang="en-US" sz="1030" dirty="0">
                <a:solidFill>
                  <a:srgbClr val="20242E"/>
                </a:solidFill>
                <a:latin typeface="Calibri" pitchFamily="34" charset="0"/>
                <a:ea typeface="Calibri" pitchFamily="34" charset="-122"/>
                <a:cs typeface="Calibri" pitchFamily="34" charset="-120"/>
              </a:rPr>
              <a:t>The Defer action is a first-class, mathematically justified choice — not a fallback — deliberately spending zero budget when severity x traffic doesn't clear the cost bar.</a:t>
            </a:r>
            <a:endParaRPr lang="en-US" sz="1030" dirty="0"/>
          </a:p>
        </p:txBody>
      </p:sp>
      <p:sp>
        <p:nvSpPr>
          <p:cNvPr id="12" name="Text 1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13" name="Text 11"/>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REAL-WORLD IMPACT &amp; FEASIBILITY</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Real-World Impact &amp; Feasibility</a:t>
            </a:r>
            <a:endParaRPr lang="en-US" sz="3200" dirty="0"/>
          </a:p>
        </p:txBody>
      </p:sp>
      <p:sp>
        <p:nvSpPr>
          <p:cNvPr id="4" name="Shape 2"/>
          <p:cNvSpPr/>
          <p:nvPr/>
        </p:nvSpPr>
        <p:spPr>
          <a:xfrm>
            <a:off x="548640" y="1554480"/>
            <a:ext cx="5394960" cy="4480560"/>
          </a:xfrm>
          <a:prstGeom prst="roundRect">
            <a:avLst>
              <a:gd name="adj" fmla="val 1633"/>
            </a:avLst>
          </a:prstGeom>
          <a:solidFill>
            <a:srgbClr val="1B2A56"/>
          </a:solidFill>
          <a:ln/>
        </p:spPr>
      </p:sp>
      <p:sp>
        <p:nvSpPr>
          <p:cNvPr id="5" name="Text 3"/>
          <p:cNvSpPr txBox="1"/>
          <p:nvPr/>
        </p:nvSpPr>
        <p:spPr>
          <a:xfrm>
            <a:off x="822960" y="1783080"/>
            <a:ext cx="4846320" cy="274320"/>
          </a:xfrm>
          <a:prstGeom prst="rect">
            <a:avLst/>
          </a:prstGeom>
          <a:noFill/>
          <a:ln/>
        </p:spPr>
        <p:txBody>
          <a:bodyPr wrap="square" lIns="0" tIns="0" rIns="0" bIns="0" rtlCol="0" anchor="ctr"/>
          <a:lstStyle/>
          <a:p>
            <a:pPr indent="0" marL="0">
              <a:buNone/>
            </a:pPr>
            <a:r>
              <a:rPr lang="en-US" sz="1150" b="1" spc="120" kern="0" dirty="0">
                <a:solidFill>
                  <a:srgbClr val="E4F3F2"/>
                </a:solidFill>
                <a:latin typeface="Calibri" pitchFamily="34" charset="0"/>
                <a:ea typeface="Calibri" pitchFamily="34" charset="-122"/>
                <a:cs typeface="Calibri" pitchFamily="34" charset="-120"/>
              </a:rPr>
              <a:t>REAL-WORLD RELEVANCE</a:t>
            </a:r>
            <a:endParaRPr lang="en-US" sz="1150" dirty="0"/>
          </a:p>
        </p:txBody>
      </p:sp>
      <p:sp>
        <p:nvSpPr>
          <p:cNvPr id="6" name="Text 4"/>
          <p:cNvSpPr txBox="1"/>
          <p:nvPr/>
        </p:nvSpPr>
        <p:spPr>
          <a:xfrm>
            <a:off x="822960" y="2148840"/>
            <a:ext cx="4846320" cy="356616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Every RAG / semantic-search system faces this the moment its embedding provider ships a model update.</a:t>
            </a:r>
            <a:endParaRPr lang="en-US" sz="1100" dirty="0"/>
          </a:p>
          <a:p>
            <a:pPr marL="342900" indent="-342900">
              <a:lnSpc>
                <a:spcPct val="120000"/>
              </a:lnSpc>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20+ production vector-DB systems now in commercial use (Pinecone, Weaviate, Milvus, Qdrant, pgvector) — Pan et al., 2024 VLDBJ survey.</a:t>
            </a:r>
            <a:endParaRPr lang="en-US" sz="1100" dirty="0"/>
          </a:p>
          <a:p>
            <a:pPr marL="342900" indent="-342900">
              <a:lnSpc>
                <a:spcPct val="120000"/>
              </a:lnSpc>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OpenAI, Cohere, and open-source embedding models are updated multiple times per year — every update is a contamination event at scale for any system that can't afford a full re-embed.</a:t>
            </a:r>
            <a:endParaRPr lang="en-US" sz="1100" dirty="0"/>
          </a:p>
          <a:p>
            <a:pPr marL="342900" indent="-342900">
              <a:lnSpc>
                <a:spcPct val="120000"/>
              </a:lnSpc>
              <a:spcAft>
                <a:spcPts val="1000"/>
              </a:spcAft>
              <a:buSzPct val="100000"/>
              <a:buChar char="•"/>
            </a:pPr>
            <a:r>
              <a:rPr lang="en-US" sz="1100" dirty="0">
                <a:solidFill>
                  <a:srgbClr val="FFFFFF"/>
                </a:solidFill>
                <a:latin typeface="Calibri" pitchFamily="34" charset="0"/>
                <a:ea typeface="Calibri" pitchFamily="34" charset="-122"/>
                <a:cs typeface="Calibri" pitchFamily="34" charset="-120"/>
              </a:rPr>
              <a:t>Karval &amp; Singh (2023) document 'silent' ML production failures as a distinct, under-addressed category — this project targets exactly that category for vector search.</a:t>
            </a:r>
            <a:endParaRPr lang="en-US" sz="1100" dirty="0"/>
          </a:p>
        </p:txBody>
      </p:sp>
      <p:sp>
        <p:nvSpPr>
          <p:cNvPr id="7" name="Shape 5"/>
          <p:cNvSpPr/>
          <p:nvPr/>
        </p:nvSpPr>
        <p:spPr>
          <a:xfrm>
            <a:off x="6126480" y="1554480"/>
            <a:ext cx="5532120" cy="4480560"/>
          </a:xfrm>
          <a:prstGeom prst="roundRect">
            <a:avLst>
              <a:gd name="adj" fmla="val 1633"/>
            </a:avLst>
          </a:prstGeom>
          <a:solidFill>
            <a:srgbClr val="F4F7FC"/>
          </a:solidFill>
          <a:ln/>
          <a:effectLst>
            <a:outerShdw sx="100000" sy="100000" kx="0" ky="0" algn="bl" rotWithShape="0" blurRad="101600" dist="38100" dir="5400000">
              <a:srgbClr val="1B2A56">
                <a:alpha val="12000"/>
              </a:srgbClr>
            </a:outerShdw>
          </a:effectLst>
        </p:spPr>
      </p:sp>
      <p:sp>
        <p:nvSpPr>
          <p:cNvPr id="8" name="Text 6"/>
          <p:cNvSpPr txBox="1"/>
          <p:nvPr/>
        </p:nvSpPr>
        <p:spPr>
          <a:xfrm>
            <a:off x="6400800" y="1783080"/>
            <a:ext cx="4937760" cy="274320"/>
          </a:xfrm>
          <a:prstGeom prst="rect">
            <a:avLst/>
          </a:prstGeom>
          <a:noFill/>
          <a:ln/>
        </p:spPr>
        <p:txBody>
          <a:bodyPr wrap="square" lIns="0" tIns="0" rIns="0" bIns="0" rtlCol="0" anchor="ctr"/>
          <a:lstStyle/>
          <a:p>
            <a:pPr indent="0" marL="0">
              <a:buNone/>
            </a:pPr>
            <a:r>
              <a:rPr lang="en-US" sz="1150" b="1" spc="120" kern="0" dirty="0">
                <a:solidFill>
                  <a:srgbClr val="0E7C7B"/>
                </a:solidFill>
                <a:latin typeface="Calibri" pitchFamily="34" charset="0"/>
                <a:ea typeface="Calibri" pitchFamily="34" charset="-122"/>
                <a:cs typeface="Calibri" pitchFamily="34" charset="-120"/>
              </a:rPr>
              <a:t>TECHNICAL FEASIBILITY</a:t>
            </a:r>
            <a:endParaRPr lang="en-US" sz="1150" dirty="0"/>
          </a:p>
        </p:txBody>
      </p:sp>
      <p:sp>
        <p:nvSpPr>
          <p:cNvPr id="9" name="Text 7"/>
          <p:cNvSpPr txBox="1"/>
          <p:nvPr/>
        </p:nvSpPr>
        <p:spPr>
          <a:xfrm>
            <a:off x="6400800" y="2148840"/>
            <a:ext cx="4937760" cy="777240"/>
          </a:xfrm>
          <a:prstGeom prst="rect">
            <a:avLst/>
          </a:prstGeom>
          <a:noFill/>
          <a:ln/>
        </p:spPr>
        <p:txBody>
          <a:bodyPr wrap="square" lIns="0" tIns="0" rIns="0" bIns="0" rtlCol="0" anchor="ctr"/>
          <a:lstStyle/>
          <a:p>
            <a:pPr indent="0" marL="0">
              <a:lnSpc>
                <a:spcPct val="120000"/>
              </a:lnSpc>
              <a:buNone/>
            </a:pPr>
            <a:r>
              <a:rPr lang="en-US" sz="1030" b="1" dirty="0">
                <a:solidFill>
                  <a:srgbClr val="1B2A56"/>
                </a:solidFill>
                <a:latin typeface="Calibri" pitchFamily="34" charset="0"/>
                <a:ea typeface="Calibri" pitchFamily="34" charset="-122"/>
                <a:cs typeface="Calibri" pitchFamily="34" charset="-120"/>
              </a:rPr>
              <a:t>Standard, proven components — </a:t>
            </a:r>
            <a:pPr indent="0" marL="0">
              <a:lnSpc>
                <a:spcPct val="120000"/>
              </a:lnSpc>
              <a:buNone/>
            </a:pPr>
            <a:r>
              <a:rPr lang="en-US" sz="1030" dirty="0">
                <a:solidFill>
                  <a:srgbClr val="20242E"/>
                </a:solidFill>
                <a:latin typeface="Calibri" pitchFamily="34" charset="0"/>
                <a:ea typeface="Calibri" pitchFamily="34" charset="-122"/>
                <a:cs typeface="Calibri" pitchFamily="34" charset="-120"/>
              </a:rPr>
              <a:t>sentence-transformers, scikit-learn, numpy, an off-the-shelf ILP solver, Streamlit — every planned component is an established, well-documented tool, not a research prototype.</a:t>
            </a:r>
            <a:endParaRPr lang="en-US" sz="1030" dirty="0"/>
          </a:p>
        </p:txBody>
      </p:sp>
      <p:sp>
        <p:nvSpPr>
          <p:cNvPr id="10" name="Text 8"/>
          <p:cNvSpPr txBox="1"/>
          <p:nvPr/>
        </p:nvSpPr>
        <p:spPr>
          <a:xfrm>
            <a:off x="6400800" y="3044952"/>
            <a:ext cx="4937760" cy="777240"/>
          </a:xfrm>
          <a:prstGeom prst="rect">
            <a:avLst/>
          </a:prstGeom>
          <a:noFill/>
          <a:ln/>
        </p:spPr>
        <p:txBody>
          <a:bodyPr wrap="square" lIns="0" tIns="0" rIns="0" bIns="0" rtlCol="0" anchor="ctr"/>
          <a:lstStyle/>
          <a:p>
            <a:pPr indent="0" marL="0">
              <a:lnSpc>
                <a:spcPct val="120000"/>
              </a:lnSpc>
              <a:buNone/>
            </a:pPr>
            <a:r>
              <a:rPr lang="en-US" sz="1030" b="1" dirty="0">
                <a:solidFill>
                  <a:srgbClr val="1B2A56"/>
                </a:solidFill>
                <a:latin typeface="Calibri" pitchFamily="34" charset="0"/>
                <a:ea typeface="Calibri" pitchFamily="34" charset="-122"/>
                <a:cs typeface="Calibri" pitchFamily="34" charset="-120"/>
              </a:rPr>
              <a:t>Bounded compute cost by design — </a:t>
            </a:r>
            <a:pPr indent="0" marL="0">
              <a:lnSpc>
                <a:spcPct val="120000"/>
              </a:lnSpc>
              <a:buNone/>
            </a:pPr>
            <a:r>
              <a:rPr lang="en-US" sz="1030" dirty="0">
                <a:solidFill>
                  <a:srgbClr val="20242E"/>
                </a:solidFill>
                <a:latin typeface="Calibri" pitchFamily="34" charset="0"/>
                <a:ea typeface="Calibri" pitchFamily="34" charset="-122"/>
                <a:cs typeface="Calibri" pitchFamily="34" charset="-120"/>
              </a:rPr>
              <a:t>Greedy heuristics for knapsack-structured problems are near-linear time with well-understood approximation bounds relative to the exact ILP solution — the algorithmic basis is sound before we run a single experiment.</a:t>
            </a:r>
            <a:endParaRPr lang="en-US" sz="1030" dirty="0"/>
          </a:p>
        </p:txBody>
      </p:sp>
      <p:sp>
        <p:nvSpPr>
          <p:cNvPr id="11" name="Text 9"/>
          <p:cNvSpPr txBox="1"/>
          <p:nvPr/>
        </p:nvSpPr>
        <p:spPr>
          <a:xfrm>
            <a:off x="6400800" y="3941064"/>
            <a:ext cx="4937760" cy="777240"/>
          </a:xfrm>
          <a:prstGeom prst="rect">
            <a:avLst/>
          </a:prstGeom>
          <a:noFill/>
          <a:ln/>
        </p:spPr>
        <p:txBody>
          <a:bodyPr wrap="square" lIns="0" tIns="0" rIns="0" bIns="0" rtlCol="0" anchor="ctr"/>
          <a:lstStyle/>
          <a:p>
            <a:pPr indent="0" marL="0">
              <a:lnSpc>
                <a:spcPct val="120000"/>
              </a:lnSpc>
              <a:buNone/>
            </a:pPr>
            <a:r>
              <a:rPr lang="en-US" sz="1030" b="1" dirty="0">
                <a:solidFill>
                  <a:srgbClr val="1B2A56"/>
                </a:solidFill>
                <a:latin typeface="Calibri" pitchFamily="34" charset="0"/>
                <a:ea typeface="Calibri" pitchFamily="34" charset="-122"/>
                <a:cs typeface="Calibri" pitchFamily="34" charset="-120"/>
              </a:rPr>
              <a:t>Achievable benchmark scope — </a:t>
            </a:r>
            <a:pPr indent="0" marL="0">
              <a:lnSpc>
                <a:spcPct val="120000"/>
              </a:lnSpc>
              <a:buNone/>
            </a:pPr>
            <a:r>
              <a:rPr lang="en-US" sz="1030" dirty="0">
                <a:solidFill>
                  <a:srgbClr val="20242E"/>
                </a:solidFill>
                <a:latin typeface="Calibri" pitchFamily="34" charset="0"/>
                <a:ea typeface="Calibri" pitchFamily="34" charset="-122"/>
                <a:cs typeface="Calibri" pitchFamily="34" charset="-120"/>
              </a:rPr>
              <a:t>A 5,000-document corpus keeps the exact-ILP baseline solvable for direct comparison, while staying large enough to be a meaningful evaluation — deliberately scoped to fit within the year.</a:t>
            </a:r>
            <a:endParaRPr lang="en-US" sz="1030" dirty="0"/>
          </a:p>
        </p:txBody>
      </p:sp>
      <p:sp>
        <p:nvSpPr>
          <p:cNvPr id="12" name="Text 10"/>
          <p:cNvSpPr txBox="1"/>
          <p:nvPr/>
        </p:nvSpPr>
        <p:spPr>
          <a:xfrm>
            <a:off x="6400800" y="4837176"/>
            <a:ext cx="4937760" cy="777240"/>
          </a:xfrm>
          <a:prstGeom prst="rect">
            <a:avLst/>
          </a:prstGeom>
          <a:noFill/>
          <a:ln/>
        </p:spPr>
        <p:txBody>
          <a:bodyPr wrap="square" lIns="0" tIns="0" rIns="0" bIns="0" rtlCol="0" anchor="ctr"/>
          <a:lstStyle/>
          <a:p>
            <a:pPr indent="0" marL="0">
              <a:lnSpc>
                <a:spcPct val="120000"/>
              </a:lnSpc>
              <a:buNone/>
            </a:pPr>
            <a:r>
              <a:rPr lang="en-US" sz="1030" b="1" dirty="0">
                <a:solidFill>
                  <a:srgbClr val="1B2A56"/>
                </a:solidFill>
                <a:latin typeface="Calibri" pitchFamily="34" charset="0"/>
                <a:ea typeface="Calibri" pitchFamily="34" charset="-122"/>
                <a:cs typeface="Calibri" pitchFamily="34" charset="-120"/>
              </a:rPr>
              <a:t>A concrete, de-risked build order — </a:t>
            </a:r>
            <a:pPr indent="0" marL="0">
              <a:lnSpc>
                <a:spcPct val="120000"/>
              </a:lnSpc>
              <a:buNone/>
            </a:pPr>
            <a:r>
              <a:rPr lang="en-US" sz="1030" dirty="0">
                <a:solidFill>
                  <a:srgbClr val="20242E"/>
                </a:solidFill>
                <a:latin typeface="Calibri" pitchFamily="34" charset="0"/>
                <a:ea typeface="Calibri" pitchFamily="34" charset="-122"/>
                <a:cs typeface="Calibri" pitchFamily="34" charset="-120"/>
              </a:rPr>
              <a:t>Four independently testable modules (Detection, Prioritization, Migration, Verification) give a clear implementation sequence — each can be built and validated before the next depends on it.</a:t>
            </a:r>
            <a:endParaRPr lang="en-US" sz="1030" dirty="0"/>
          </a:p>
        </p:txBody>
      </p:sp>
      <p:sp>
        <p:nvSpPr>
          <p:cNvPr id="13" name="Text 11"/>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14" name="Text 12"/>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PROJECT PLAN — ONE-YEAR ROADMAP</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Project Plan &amp; Timeline</a:t>
            </a:r>
            <a:endParaRPr lang="en-US" sz="3200" dirty="0"/>
          </a:p>
        </p:txBody>
      </p:sp>
      <p:sp>
        <p:nvSpPr>
          <p:cNvPr id="4" name="Shape 2"/>
          <p:cNvSpPr/>
          <p:nvPr/>
        </p:nvSpPr>
        <p:spPr>
          <a:xfrm>
            <a:off x="548640" y="1325880"/>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5" name="Shape 3"/>
          <p:cNvSpPr/>
          <p:nvPr/>
        </p:nvSpPr>
        <p:spPr>
          <a:xfrm>
            <a:off x="749808" y="1417320"/>
            <a:ext cx="384048" cy="384048"/>
          </a:xfrm>
          <a:prstGeom prst="ellipse">
            <a:avLst/>
          </a:prstGeom>
          <a:solidFill>
            <a:srgbClr val="0E7C7B"/>
          </a:solidFill>
          <a:ln/>
        </p:spPr>
      </p:sp>
      <p:sp>
        <p:nvSpPr>
          <p:cNvPr id="6" name="Text 4"/>
          <p:cNvSpPr txBox="1"/>
          <p:nvPr/>
        </p:nvSpPr>
        <p:spPr>
          <a:xfrm>
            <a:off x="749808" y="14173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298448" y="1371600"/>
            <a:ext cx="6949440" cy="256032"/>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Literature Survey &amp; Problem Formulation</a:t>
            </a:r>
            <a:endParaRPr lang="en-US" sz="1200" dirty="0"/>
          </a:p>
        </p:txBody>
      </p:sp>
      <p:sp>
        <p:nvSpPr>
          <p:cNvPr id="8" name="Text 6"/>
          <p:cNvSpPr txBox="1"/>
          <p:nvPr/>
        </p:nvSpPr>
        <p:spPr>
          <a:xfrm>
            <a:off x="1298448" y="1618488"/>
            <a:ext cx="6949440" cy="256032"/>
          </a:xfrm>
          <a:prstGeom prst="rect">
            <a:avLst/>
          </a:prstGeom>
          <a:noFill/>
          <a:ln/>
        </p:spPr>
        <p:txBody>
          <a:bodyPr wrap="square" lIns="0" tIns="0" rIns="0" bIns="0" rtlCol="0" anchor="ctr"/>
          <a:lstStyle/>
          <a:p>
            <a:pPr indent="0" marL="0">
              <a:lnSpc>
                <a:spcPct val="105000"/>
              </a:lnSpc>
              <a:buNone/>
            </a:pPr>
            <a:r>
              <a:rPr lang="en-US" sz="880" dirty="0">
                <a:solidFill>
                  <a:srgbClr val="5A6472"/>
                </a:solidFill>
                <a:latin typeface="Calibri" pitchFamily="34" charset="0"/>
                <a:ea typeface="Calibri" pitchFamily="34" charset="-122"/>
                <a:cs typeface="Calibri" pitchFamily="34" charset="-120"/>
              </a:rPr>
              <a:t>Systematic review of 15 sources; root-cause analysis and research-gap identification (what you've seen today).</a:t>
            </a:r>
            <a:endParaRPr lang="en-US" sz="880" dirty="0"/>
          </a:p>
        </p:txBody>
      </p:sp>
      <p:sp>
        <p:nvSpPr>
          <p:cNvPr id="9" name="Shape 7"/>
          <p:cNvSpPr/>
          <p:nvPr/>
        </p:nvSpPr>
        <p:spPr>
          <a:xfrm>
            <a:off x="9646920" y="1435608"/>
            <a:ext cx="1783080" cy="329184"/>
          </a:xfrm>
          <a:prstGeom prst="roundRect">
            <a:avLst>
              <a:gd name="adj" fmla="val 50000"/>
            </a:avLst>
          </a:prstGeom>
          <a:solidFill>
            <a:srgbClr val="E4F3F2"/>
          </a:solidFill>
          <a:ln/>
        </p:spPr>
      </p:sp>
      <p:sp>
        <p:nvSpPr>
          <p:cNvPr id="10" name="Text 8"/>
          <p:cNvSpPr txBox="1"/>
          <p:nvPr/>
        </p:nvSpPr>
        <p:spPr>
          <a:xfrm>
            <a:off x="9646920" y="1435608"/>
            <a:ext cx="1783080" cy="329184"/>
          </a:xfrm>
          <a:prstGeom prst="rect">
            <a:avLst/>
          </a:prstGeom>
          <a:noFill/>
          <a:ln/>
        </p:spPr>
        <p:txBody>
          <a:bodyPr wrap="square" lIns="0" tIns="0" rIns="0" bIns="0" rtlCol="0" anchor="ctr"/>
          <a:lstStyle/>
          <a:p>
            <a:pPr algn="ctr" indent="0" marL="0">
              <a:buNone/>
            </a:pPr>
            <a:r>
              <a:rPr lang="en-US" sz="950" b="1" dirty="0">
                <a:solidFill>
                  <a:srgbClr val="0E7C7B"/>
                </a:solidFill>
                <a:latin typeface="Calibri" pitchFamily="34" charset="0"/>
                <a:ea typeface="Calibri" pitchFamily="34" charset="-122"/>
                <a:cs typeface="Calibri" pitchFamily="34" charset="-120"/>
              </a:rPr>
              <a:t>Months 1–2</a:t>
            </a:r>
            <a:endParaRPr lang="en-US" sz="950" dirty="0"/>
          </a:p>
        </p:txBody>
      </p:sp>
      <p:sp>
        <p:nvSpPr>
          <p:cNvPr id="11" name="Shape 9"/>
          <p:cNvSpPr/>
          <p:nvPr/>
        </p:nvSpPr>
        <p:spPr>
          <a:xfrm>
            <a:off x="548640" y="2002536"/>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12" name="Shape 10"/>
          <p:cNvSpPr/>
          <p:nvPr/>
        </p:nvSpPr>
        <p:spPr>
          <a:xfrm>
            <a:off x="749808" y="2093976"/>
            <a:ext cx="384048" cy="384048"/>
          </a:xfrm>
          <a:prstGeom prst="ellipse">
            <a:avLst/>
          </a:prstGeom>
          <a:solidFill>
            <a:srgbClr val="0E7C7B"/>
          </a:solidFill>
          <a:ln/>
        </p:spPr>
      </p:sp>
      <p:sp>
        <p:nvSpPr>
          <p:cNvPr id="13" name="Text 11"/>
          <p:cNvSpPr txBox="1"/>
          <p:nvPr/>
        </p:nvSpPr>
        <p:spPr>
          <a:xfrm>
            <a:off x="749808" y="20939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298448" y="2048256"/>
            <a:ext cx="6949440" cy="256032"/>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System Design &amp; Architecture Finalization</a:t>
            </a:r>
            <a:endParaRPr lang="en-US" sz="1200" dirty="0"/>
          </a:p>
        </p:txBody>
      </p:sp>
      <p:sp>
        <p:nvSpPr>
          <p:cNvPr id="15" name="Text 13"/>
          <p:cNvSpPr txBox="1"/>
          <p:nvPr/>
        </p:nvSpPr>
        <p:spPr>
          <a:xfrm>
            <a:off x="1298448" y="2295144"/>
            <a:ext cx="6949440" cy="256032"/>
          </a:xfrm>
          <a:prstGeom prst="rect">
            <a:avLst/>
          </a:prstGeom>
          <a:noFill/>
          <a:ln/>
        </p:spPr>
        <p:txBody>
          <a:bodyPr wrap="square" lIns="0" tIns="0" rIns="0" bIns="0" rtlCol="0" anchor="ctr"/>
          <a:lstStyle/>
          <a:p>
            <a:pPr indent="0" marL="0">
              <a:lnSpc>
                <a:spcPct val="105000"/>
              </a:lnSpc>
              <a:buNone/>
            </a:pPr>
            <a:r>
              <a:rPr lang="en-US" sz="880" dirty="0">
                <a:solidFill>
                  <a:srgbClr val="5A6472"/>
                </a:solidFill>
                <a:latin typeface="Calibri" pitchFamily="34" charset="0"/>
                <a:ea typeface="Calibri" pitchFamily="34" charset="-122"/>
                <a:cs typeface="Calibri" pitchFamily="34" charset="-120"/>
              </a:rPr>
              <a:t>Detailed design of the 4-module pipeline (Detect / Prioritize / Migrate / Verify); benchmark and evaluation-metric design.</a:t>
            </a:r>
            <a:endParaRPr lang="en-US" sz="880" dirty="0"/>
          </a:p>
        </p:txBody>
      </p:sp>
      <p:sp>
        <p:nvSpPr>
          <p:cNvPr id="16" name="Shape 14"/>
          <p:cNvSpPr/>
          <p:nvPr/>
        </p:nvSpPr>
        <p:spPr>
          <a:xfrm>
            <a:off x="9646920" y="2112264"/>
            <a:ext cx="1783080" cy="329184"/>
          </a:xfrm>
          <a:prstGeom prst="roundRect">
            <a:avLst>
              <a:gd name="adj" fmla="val 50000"/>
            </a:avLst>
          </a:prstGeom>
          <a:solidFill>
            <a:srgbClr val="E4F3F2"/>
          </a:solidFill>
          <a:ln/>
        </p:spPr>
      </p:sp>
      <p:sp>
        <p:nvSpPr>
          <p:cNvPr id="17" name="Text 15"/>
          <p:cNvSpPr txBox="1"/>
          <p:nvPr/>
        </p:nvSpPr>
        <p:spPr>
          <a:xfrm>
            <a:off x="9646920" y="2112264"/>
            <a:ext cx="1783080" cy="329184"/>
          </a:xfrm>
          <a:prstGeom prst="rect">
            <a:avLst/>
          </a:prstGeom>
          <a:noFill/>
          <a:ln/>
        </p:spPr>
        <p:txBody>
          <a:bodyPr wrap="square" lIns="0" tIns="0" rIns="0" bIns="0" rtlCol="0" anchor="ctr"/>
          <a:lstStyle/>
          <a:p>
            <a:pPr algn="ctr" indent="0" marL="0">
              <a:buNone/>
            </a:pPr>
            <a:r>
              <a:rPr lang="en-US" sz="950" b="1" dirty="0">
                <a:solidFill>
                  <a:srgbClr val="0E7C7B"/>
                </a:solidFill>
                <a:latin typeface="Calibri" pitchFamily="34" charset="0"/>
                <a:ea typeface="Calibri" pitchFamily="34" charset="-122"/>
                <a:cs typeface="Calibri" pitchFamily="34" charset="-120"/>
              </a:rPr>
              <a:t>Months 2–3</a:t>
            </a:r>
            <a:endParaRPr lang="en-US" sz="950" dirty="0"/>
          </a:p>
        </p:txBody>
      </p:sp>
      <p:sp>
        <p:nvSpPr>
          <p:cNvPr id="18" name="Shape 16"/>
          <p:cNvSpPr/>
          <p:nvPr/>
        </p:nvSpPr>
        <p:spPr>
          <a:xfrm>
            <a:off x="548640" y="2679192"/>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19" name="Shape 17"/>
          <p:cNvSpPr/>
          <p:nvPr/>
        </p:nvSpPr>
        <p:spPr>
          <a:xfrm>
            <a:off x="749808" y="2770632"/>
            <a:ext cx="384048" cy="384048"/>
          </a:xfrm>
          <a:prstGeom prst="ellipse">
            <a:avLst/>
          </a:prstGeom>
          <a:solidFill>
            <a:srgbClr val="0E7C7B"/>
          </a:solidFill>
          <a:ln/>
        </p:spPr>
      </p:sp>
      <p:sp>
        <p:nvSpPr>
          <p:cNvPr id="20" name="Text 18"/>
          <p:cNvSpPr txBox="1"/>
          <p:nvPr/>
        </p:nvSpPr>
        <p:spPr>
          <a:xfrm>
            <a:off x="749808" y="27706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1298448" y="2724912"/>
            <a:ext cx="6949440" cy="256032"/>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Detection Module (M1)</a:t>
            </a:r>
            <a:endParaRPr lang="en-US" sz="1200" dirty="0"/>
          </a:p>
        </p:txBody>
      </p:sp>
      <p:sp>
        <p:nvSpPr>
          <p:cNvPr id="22" name="Text 20"/>
          <p:cNvSpPr txBox="1"/>
          <p:nvPr/>
        </p:nvSpPr>
        <p:spPr>
          <a:xfrm>
            <a:off x="1298448" y="2971800"/>
            <a:ext cx="6949440" cy="256032"/>
          </a:xfrm>
          <a:prstGeom prst="rect">
            <a:avLst/>
          </a:prstGeom>
          <a:noFill/>
          <a:ln/>
        </p:spPr>
        <p:txBody>
          <a:bodyPr wrap="square" lIns="0" tIns="0" rIns="0" bIns="0" rtlCol="0" anchor="ctr"/>
          <a:lstStyle/>
          <a:p>
            <a:pPr indent="0" marL="0">
              <a:lnSpc>
                <a:spcPct val="105000"/>
              </a:lnSpc>
              <a:buNone/>
            </a:pPr>
            <a:r>
              <a:rPr lang="en-US" sz="880" dirty="0">
                <a:solidFill>
                  <a:srgbClr val="5A6472"/>
                </a:solidFill>
                <a:latin typeface="Calibri" pitchFamily="34" charset="0"/>
                <a:ea typeface="Calibri" pitchFamily="34" charset="-122"/>
                <a:cs typeface="Calibri" pitchFamily="34" charset="-120"/>
              </a:rPr>
              <a:t>Implement and tune the KNN-OOD-based contamination detector against a calibrated clean-baseline threshold.</a:t>
            </a:r>
            <a:endParaRPr lang="en-US" sz="880" dirty="0"/>
          </a:p>
        </p:txBody>
      </p:sp>
      <p:sp>
        <p:nvSpPr>
          <p:cNvPr id="23" name="Shape 21"/>
          <p:cNvSpPr/>
          <p:nvPr/>
        </p:nvSpPr>
        <p:spPr>
          <a:xfrm>
            <a:off x="9646920" y="2788920"/>
            <a:ext cx="1783080" cy="329184"/>
          </a:xfrm>
          <a:prstGeom prst="roundRect">
            <a:avLst>
              <a:gd name="adj" fmla="val 50000"/>
            </a:avLst>
          </a:prstGeom>
          <a:solidFill>
            <a:srgbClr val="E4F3F2"/>
          </a:solidFill>
          <a:ln/>
        </p:spPr>
      </p:sp>
      <p:sp>
        <p:nvSpPr>
          <p:cNvPr id="24" name="Text 22"/>
          <p:cNvSpPr txBox="1"/>
          <p:nvPr/>
        </p:nvSpPr>
        <p:spPr>
          <a:xfrm>
            <a:off x="9646920" y="2788920"/>
            <a:ext cx="1783080" cy="329184"/>
          </a:xfrm>
          <a:prstGeom prst="rect">
            <a:avLst/>
          </a:prstGeom>
          <a:noFill/>
          <a:ln/>
        </p:spPr>
        <p:txBody>
          <a:bodyPr wrap="square" lIns="0" tIns="0" rIns="0" bIns="0" rtlCol="0" anchor="ctr"/>
          <a:lstStyle/>
          <a:p>
            <a:pPr algn="ctr" indent="0" marL="0">
              <a:buNone/>
            </a:pPr>
            <a:r>
              <a:rPr lang="en-US" sz="950" b="1" dirty="0">
                <a:solidFill>
                  <a:srgbClr val="0E7C7B"/>
                </a:solidFill>
                <a:latin typeface="Calibri" pitchFamily="34" charset="0"/>
                <a:ea typeface="Calibri" pitchFamily="34" charset="-122"/>
                <a:cs typeface="Calibri" pitchFamily="34" charset="-120"/>
              </a:rPr>
              <a:t>Months 3–5</a:t>
            </a:r>
            <a:endParaRPr lang="en-US" sz="950" dirty="0"/>
          </a:p>
        </p:txBody>
      </p:sp>
      <p:sp>
        <p:nvSpPr>
          <p:cNvPr id="25" name="Shape 23"/>
          <p:cNvSpPr/>
          <p:nvPr/>
        </p:nvSpPr>
        <p:spPr>
          <a:xfrm>
            <a:off x="548640" y="3355848"/>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26" name="Shape 24"/>
          <p:cNvSpPr/>
          <p:nvPr/>
        </p:nvSpPr>
        <p:spPr>
          <a:xfrm>
            <a:off x="749808" y="3447288"/>
            <a:ext cx="384048" cy="384048"/>
          </a:xfrm>
          <a:prstGeom prst="ellipse">
            <a:avLst/>
          </a:prstGeom>
          <a:solidFill>
            <a:srgbClr val="0E7C7B"/>
          </a:solidFill>
          <a:ln/>
        </p:spPr>
      </p:sp>
      <p:sp>
        <p:nvSpPr>
          <p:cNvPr id="27" name="Text 25"/>
          <p:cNvSpPr txBox="1"/>
          <p:nvPr/>
        </p:nvSpPr>
        <p:spPr>
          <a:xfrm>
            <a:off x="749808" y="34472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6"/>
          <p:cNvSpPr txBox="1"/>
          <p:nvPr/>
        </p:nvSpPr>
        <p:spPr>
          <a:xfrm>
            <a:off x="1298448" y="3401568"/>
            <a:ext cx="6949440" cy="256032"/>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Prioritization Scheduler (M2)</a:t>
            </a:r>
            <a:endParaRPr lang="en-US" sz="1200" dirty="0"/>
          </a:p>
        </p:txBody>
      </p:sp>
      <p:sp>
        <p:nvSpPr>
          <p:cNvPr id="29" name="Text 27"/>
          <p:cNvSpPr txBox="1"/>
          <p:nvPr/>
        </p:nvSpPr>
        <p:spPr>
          <a:xfrm>
            <a:off x="1298448" y="3648456"/>
            <a:ext cx="6949440" cy="256032"/>
          </a:xfrm>
          <a:prstGeom prst="rect">
            <a:avLst/>
          </a:prstGeom>
          <a:noFill/>
          <a:ln/>
        </p:spPr>
        <p:txBody>
          <a:bodyPr wrap="square" lIns="0" tIns="0" rIns="0" bIns="0" rtlCol="0" anchor="ctr"/>
          <a:lstStyle/>
          <a:p>
            <a:pPr indent="0" marL="0">
              <a:lnSpc>
                <a:spcPct val="105000"/>
              </a:lnSpc>
              <a:buNone/>
            </a:pPr>
            <a:r>
              <a:rPr lang="en-US" sz="880" dirty="0">
                <a:solidFill>
                  <a:srgbClr val="5A6472"/>
                </a:solidFill>
                <a:latin typeface="Calibri" pitchFamily="34" charset="0"/>
                <a:ea typeface="Calibri" pitchFamily="34" charset="-122"/>
                <a:cs typeface="Calibri" pitchFamily="34" charset="-120"/>
              </a:rPr>
              <a:t>Implement the MCKP formulation — exact ILP solver plus a frontier-greedy approximation for production scale.</a:t>
            </a:r>
            <a:endParaRPr lang="en-US" sz="880" dirty="0"/>
          </a:p>
        </p:txBody>
      </p:sp>
      <p:sp>
        <p:nvSpPr>
          <p:cNvPr id="30" name="Shape 28"/>
          <p:cNvSpPr/>
          <p:nvPr/>
        </p:nvSpPr>
        <p:spPr>
          <a:xfrm>
            <a:off x="9646920" y="3465576"/>
            <a:ext cx="1783080" cy="329184"/>
          </a:xfrm>
          <a:prstGeom prst="roundRect">
            <a:avLst>
              <a:gd name="adj" fmla="val 50000"/>
            </a:avLst>
          </a:prstGeom>
          <a:solidFill>
            <a:srgbClr val="E4F3F2"/>
          </a:solidFill>
          <a:ln/>
        </p:spPr>
      </p:sp>
      <p:sp>
        <p:nvSpPr>
          <p:cNvPr id="31" name="Text 29"/>
          <p:cNvSpPr txBox="1"/>
          <p:nvPr/>
        </p:nvSpPr>
        <p:spPr>
          <a:xfrm>
            <a:off x="9646920" y="3465576"/>
            <a:ext cx="1783080" cy="329184"/>
          </a:xfrm>
          <a:prstGeom prst="rect">
            <a:avLst/>
          </a:prstGeom>
          <a:noFill/>
          <a:ln/>
        </p:spPr>
        <p:txBody>
          <a:bodyPr wrap="square" lIns="0" tIns="0" rIns="0" bIns="0" rtlCol="0" anchor="ctr"/>
          <a:lstStyle/>
          <a:p>
            <a:pPr algn="ctr" indent="0" marL="0">
              <a:buNone/>
            </a:pPr>
            <a:r>
              <a:rPr lang="en-US" sz="950" b="1" dirty="0">
                <a:solidFill>
                  <a:srgbClr val="0E7C7B"/>
                </a:solidFill>
                <a:latin typeface="Calibri" pitchFamily="34" charset="0"/>
                <a:ea typeface="Calibri" pitchFamily="34" charset="-122"/>
                <a:cs typeface="Calibri" pitchFamily="34" charset="-120"/>
              </a:rPr>
              <a:t>Months 5–7</a:t>
            </a:r>
            <a:endParaRPr lang="en-US" sz="950" dirty="0"/>
          </a:p>
        </p:txBody>
      </p:sp>
      <p:sp>
        <p:nvSpPr>
          <p:cNvPr id="32" name="Shape 30"/>
          <p:cNvSpPr/>
          <p:nvPr/>
        </p:nvSpPr>
        <p:spPr>
          <a:xfrm>
            <a:off x="548640" y="4032504"/>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33" name="Shape 31"/>
          <p:cNvSpPr/>
          <p:nvPr/>
        </p:nvSpPr>
        <p:spPr>
          <a:xfrm>
            <a:off x="749808" y="4123944"/>
            <a:ext cx="384048" cy="384048"/>
          </a:xfrm>
          <a:prstGeom prst="ellipse">
            <a:avLst/>
          </a:prstGeom>
          <a:solidFill>
            <a:srgbClr val="0E7C7B"/>
          </a:solidFill>
          <a:ln/>
        </p:spPr>
      </p:sp>
      <p:sp>
        <p:nvSpPr>
          <p:cNvPr id="34" name="Text 32"/>
          <p:cNvSpPr txBox="1"/>
          <p:nvPr/>
        </p:nvSpPr>
        <p:spPr>
          <a:xfrm>
            <a:off x="749808" y="41239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5" name="Text 33"/>
          <p:cNvSpPr txBox="1"/>
          <p:nvPr/>
        </p:nvSpPr>
        <p:spPr>
          <a:xfrm>
            <a:off x="1298448" y="4078224"/>
            <a:ext cx="6949440" cy="256032"/>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Migration &amp; Verification Pipeline (M3–M4)</a:t>
            </a:r>
            <a:endParaRPr lang="en-US" sz="1200" dirty="0"/>
          </a:p>
        </p:txBody>
      </p:sp>
      <p:sp>
        <p:nvSpPr>
          <p:cNvPr id="36" name="Text 34"/>
          <p:cNvSpPr txBox="1"/>
          <p:nvPr/>
        </p:nvSpPr>
        <p:spPr>
          <a:xfrm>
            <a:off x="1298448" y="4325112"/>
            <a:ext cx="6949440" cy="256032"/>
          </a:xfrm>
          <a:prstGeom prst="rect">
            <a:avLst/>
          </a:prstGeom>
          <a:noFill/>
          <a:ln/>
        </p:spPr>
        <p:txBody>
          <a:bodyPr wrap="square" lIns="0" tIns="0" rIns="0" bIns="0" rtlCol="0" anchor="ctr"/>
          <a:lstStyle/>
          <a:p>
            <a:pPr indent="0" marL="0">
              <a:lnSpc>
                <a:spcPct val="105000"/>
              </a:lnSpc>
              <a:buNone/>
            </a:pPr>
            <a:r>
              <a:rPr lang="en-US" sz="880" dirty="0">
                <a:solidFill>
                  <a:srgbClr val="5A6472"/>
                </a:solidFill>
                <a:latin typeface="Calibri" pitchFamily="34" charset="0"/>
                <a:ea typeface="Calibri" pitchFamily="34" charset="-122"/>
                <a:cs typeface="Calibri" pitchFamily="34" charset="-120"/>
              </a:rPr>
              <a:t>Build the shadow-build, golden-query verification, and atomic cutover/rollback mechanism.</a:t>
            </a:r>
            <a:endParaRPr lang="en-US" sz="880" dirty="0"/>
          </a:p>
        </p:txBody>
      </p:sp>
      <p:sp>
        <p:nvSpPr>
          <p:cNvPr id="37" name="Shape 35"/>
          <p:cNvSpPr/>
          <p:nvPr/>
        </p:nvSpPr>
        <p:spPr>
          <a:xfrm>
            <a:off x="9646920" y="4142232"/>
            <a:ext cx="1783080" cy="329184"/>
          </a:xfrm>
          <a:prstGeom prst="roundRect">
            <a:avLst>
              <a:gd name="adj" fmla="val 50000"/>
            </a:avLst>
          </a:prstGeom>
          <a:solidFill>
            <a:srgbClr val="E4F3F2"/>
          </a:solidFill>
          <a:ln/>
        </p:spPr>
      </p:sp>
      <p:sp>
        <p:nvSpPr>
          <p:cNvPr id="38" name="Text 36"/>
          <p:cNvSpPr txBox="1"/>
          <p:nvPr/>
        </p:nvSpPr>
        <p:spPr>
          <a:xfrm>
            <a:off x="9646920" y="4142232"/>
            <a:ext cx="1783080" cy="329184"/>
          </a:xfrm>
          <a:prstGeom prst="rect">
            <a:avLst/>
          </a:prstGeom>
          <a:noFill/>
          <a:ln/>
        </p:spPr>
        <p:txBody>
          <a:bodyPr wrap="square" lIns="0" tIns="0" rIns="0" bIns="0" rtlCol="0" anchor="ctr"/>
          <a:lstStyle/>
          <a:p>
            <a:pPr algn="ctr" indent="0" marL="0">
              <a:buNone/>
            </a:pPr>
            <a:r>
              <a:rPr lang="en-US" sz="950" b="1" dirty="0">
                <a:solidFill>
                  <a:srgbClr val="0E7C7B"/>
                </a:solidFill>
                <a:latin typeface="Calibri" pitchFamily="34" charset="0"/>
                <a:ea typeface="Calibri" pitchFamily="34" charset="-122"/>
                <a:cs typeface="Calibri" pitchFamily="34" charset="-120"/>
              </a:rPr>
              <a:t>Months 7–9</a:t>
            </a:r>
            <a:endParaRPr lang="en-US" sz="950" dirty="0"/>
          </a:p>
        </p:txBody>
      </p:sp>
      <p:sp>
        <p:nvSpPr>
          <p:cNvPr id="39" name="Shape 37"/>
          <p:cNvSpPr/>
          <p:nvPr/>
        </p:nvSpPr>
        <p:spPr>
          <a:xfrm>
            <a:off x="548640" y="4709160"/>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40" name="Shape 38"/>
          <p:cNvSpPr/>
          <p:nvPr/>
        </p:nvSpPr>
        <p:spPr>
          <a:xfrm>
            <a:off x="749808" y="4800600"/>
            <a:ext cx="384048" cy="384048"/>
          </a:xfrm>
          <a:prstGeom prst="ellipse">
            <a:avLst/>
          </a:prstGeom>
          <a:solidFill>
            <a:srgbClr val="0E7C7B"/>
          </a:solidFill>
          <a:ln/>
        </p:spPr>
      </p:sp>
      <p:sp>
        <p:nvSpPr>
          <p:cNvPr id="41" name="Text 39"/>
          <p:cNvSpPr txBox="1"/>
          <p:nvPr/>
        </p:nvSpPr>
        <p:spPr>
          <a:xfrm>
            <a:off x="749808" y="4800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2" name="Text 40"/>
          <p:cNvSpPr txBox="1"/>
          <p:nvPr/>
        </p:nvSpPr>
        <p:spPr>
          <a:xfrm>
            <a:off x="1298448" y="4754880"/>
            <a:ext cx="6949440" cy="256032"/>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Integration &amp; Benchmark Evaluation</a:t>
            </a:r>
            <a:endParaRPr lang="en-US" sz="1200" dirty="0"/>
          </a:p>
        </p:txBody>
      </p:sp>
      <p:sp>
        <p:nvSpPr>
          <p:cNvPr id="43" name="Text 41"/>
          <p:cNvSpPr txBox="1"/>
          <p:nvPr/>
        </p:nvSpPr>
        <p:spPr>
          <a:xfrm>
            <a:off x="1298448" y="5001768"/>
            <a:ext cx="6949440" cy="256032"/>
          </a:xfrm>
          <a:prstGeom prst="rect">
            <a:avLst/>
          </a:prstGeom>
          <a:noFill/>
          <a:ln/>
        </p:spPr>
        <p:txBody>
          <a:bodyPr wrap="square" lIns="0" tIns="0" rIns="0" bIns="0" rtlCol="0" anchor="ctr"/>
          <a:lstStyle/>
          <a:p>
            <a:pPr indent="0" marL="0">
              <a:lnSpc>
                <a:spcPct val="105000"/>
              </a:lnSpc>
              <a:buNone/>
            </a:pPr>
            <a:r>
              <a:rPr lang="en-US" sz="880" dirty="0">
                <a:solidFill>
                  <a:srgbClr val="5A6472"/>
                </a:solidFill>
                <a:latin typeface="Calibri" pitchFamily="34" charset="0"/>
                <a:ea typeface="Calibri" pitchFamily="34" charset="-122"/>
                <a:cs typeface="Calibri" pitchFamily="34" charset="-120"/>
              </a:rPr>
              <a:t>Run the full pipeline end-to-end on the BEIR SciFact benchmark; head-to-head comparison against naive baselines.</a:t>
            </a:r>
            <a:endParaRPr lang="en-US" sz="880" dirty="0"/>
          </a:p>
        </p:txBody>
      </p:sp>
      <p:sp>
        <p:nvSpPr>
          <p:cNvPr id="44" name="Shape 42"/>
          <p:cNvSpPr/>
          <p:nvPr/>
        </p:nvSpPr>
        <p:spPr>
          <a:xfrm>
            <a:off x="9646920" y="4818888"/>
            <a:ext cx="1783080" cy="329184"/>
          </a:xfrm>
          <a:prstGeom prst="roundRect">
            <a:avLst>
              <a:gd name="adj" fmla="val 50000"/>
            </a:avLst>
          </a:prstGeom>
          <a:solidFill>
            <a:srgbClr val="E4F3F2"/>
          </a:solidFill>
          <a:ln/>
        </p:spPr>
      </p:sp>
      <p:sp>
        <p:nvSpPr>
          <p:cNvPr id="45" name="Text 43"/>
          <p:cNvSpPr txBox="1"/>
          <p:nvPr/>
        </p:nvSpPr>
        <p:spPr>
          <a:xfrm>
            <a:off x="9646920" y="4818888"/>
            <a:ext cx="1783080" cy="329184"/>
          </a:xfrm>
          <a:prstGeom prst="rect">
            <a:avLst/>
          </a:prstGeom>
          <a:noFill/>
          <a:ln/>
        </p:spPr>
        <p:txBody>
          <a:bodyPr wrap="square" lIns="0" tIns="0" rIns="0" bIns="0" rtlCol="0" anchor="ctr"/>
          <a:lstStyle/>
          <a:p>
            <a:pPr algn="ctr" indent="0" marL="0">
              <a:buNone/>
            </a:pPr>
            <a:r>
              <a:rPr lang="en-US" sz="950" b="1" dirty="0">
                <a:solidFill>
                  <a:srgbClr val="0E7C7B"/>
                </a:solidFill>
                <a:latin typeface="Calibri" pitchFamily="34" charset="0"/>
                <a:ea typeface="Calibri" pitchFamily="34" charset="-122"/>
                <a:cs typeface="Calibri" pitchFamily="34" charset="-120"/>
              </a:rPr>
              <a:t>Months 9–11</a:t>
            </a:r>
            <a:endParaRPr lang="en-US" sz="950" dirty="0"/>
          </a:p>
        </p:txBody>
      </p:sp>
      <p:sp>
        <p:nvSpPr>
          <p:cNvPr id="46" name="Shape 44"/>
          <p:cNvSpPr/>
          <p:nvPr/>
        </p:nvSpPr>
        <p:spPr>
          <a:xfrm>
            <a:off x="548640" y="5385816"/>
            <a:ext cx="11109960" cy="566928"/>
          </a:xfrm>
          <a:prstGeom prst="roundRect">
            <a:avLst>
              <a:gd name="adj" fmla="val 12903"/>
            </a:avLst>
          </a:prstGeom>
          <a:solidFill>
            <a:srgbClr val="F4F7FC"/>
          </a:solidFill>
          <a:ln/>
          <a:effectLst>
            <a:outerShdw sx="100000" sy="100000" kx="0" ky="0" algn="bl" rotWithShape="0" blurRad="101600" dist="38100" dir="5400000">
              <a:srgbClr val="1B2A56">
                <a:alpha val="12000"/>
              </a:srgbClr>
            </a:outerShdw>
          </a:effectLst>
        </p:spPr>
      </p:sp>
      <p:sp>
        <p:nvSpPr>
          <p:cNvPr id="47" name="Shape 45"/>
          <p:cNvSpPr/>
          <p:nvPr/>
        </p:nvSpPr>
        <p:spPr>
          <a:xfrm>
            <a:off x="749808" y="5477256"/>
            <a:ext cx="384048" cy="384048"/>
          </a:xfrm>
          <a:prstGeom prst="ellipse">
            <a:avLst/>
          </a:prstGeom>
          <a:solidFill>
            <a:srgbClr val="0E7C7B"/>
          </a:solidFill>
          <a:ln/>
        </p:spPr>
      </p:sp>
      <p:sp>
        <p:nvSpPr>
          <p:cNvPr id="48" name="Text 46"/>
          <p:cNvSpPr txBox="1"/>
          <p:nvPr/>
        </p:nvSpPr>
        <p:spPr>
          <a:xfrm>
            <a:off x="749808" y="54772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9" name="Text 47"/>
          <p:cNvSpPr txBox="1"/>
          <p:nvPr/>
        </p:nvSpPr>
        <p:spPr>
          <a:xfrm>
            <a:off x="1298448" y="5431536"/>
            <a:ext cx="6949440" cy="256032"/>
          </a:xfrm>
          <a:prstGeom prst="rect">
            <a:avLst/>
          </a:prstGeom>
          <a:noFill/>
          <a:ln/>
        </p:spPr>
        <p:txBody>
          <a:bodyPr wrap="square" lIns="0" tIns="0" rIns="0" bIns="0" rtlCol="0" anchor="ctr"/>
          <a:lstStyle/>
          <a:p>
            <a:pPr indent="0" marL="0">
              <a:buNone/>
            </a:pPr>
            <a:r>
              <a:rPr lang="en-US" sz="1200" b="1" dirty="0">
                <a:solidFill>
                  <a:srgbClr val="1B2A56"/>
                </a:solidFill>
                <a:latin typeface="Calibri" pitchFamily="34" charset="0"/>
                <a:ea typeface="Calibri" pitchFamily="34" charset="-122"/>
                <a:cs typeface="Calibri" pitchFamily="34" charset="-120"/>
              </a:rPr>
              <a:t>Live Demo, Final Report &amp; Review II</a:t>
            </a:r>
            <a:endParaRPr lang="en-US" sz="1200" dirty="0"/>
          </a:p>
        </p:txBody>
      </p:sp>
      <p:sp>
        <p:nvSpPr>
          <p:cNvPr id="50" name="Text 48"/>
          <p:cNvSpPr txBox="1"/>
          <p:nvPr/>
        </p:nvSpPr>
        <p:spPr>
          <a:xfrm>
            <a:off x="1298448" y="5678424"/>
            <a:ext cx="6949440" cy="256032"/>
          </a:xfrm>
          <a:prstGeom prst="rect">
            <a:avLst/>
          </a:prstGeom>
          <a:noFill/>
          <a:ln/>
        </p:spPr>
        <p:txBody>
          <a:bodyPr wrap="square" lIns="0" tIns="0" rIns="0" bIns="0" rtlCol="0" anchor="ctr"/>
          <a:lstStyle/>
          <a:p>
            <a:pPr indent="0" marL="0">
              <a:lnSpc>
                <a:spcPct val="105000"/>
              </a:lnSpc>
              <a:buNone/>
            </a:pPr>
            <a:r>
              <a:rPr lang="en-US" sz="880" dirty="0">
                <a:solidFill>
                  <a:srgbClr val="5A6472"/>
                </a:solidFill>
                <a:latin typeface="Calibri" pitchFamily="34" charset="0"/>
                <a:ea typeface="Calibri" pitchFamily="34" charset="-122"/>
                <a:cs typeface="Calibri" pitchFamily="34" charset="-120"/>
              </a:rPr>
              <a:t>Autonomous "Live Sentry" proof-of-concept; final report writing and defense preparation.</a:t>
            </a:r>
            <a:endParaRPr lang="en-US" sz="880" dirty="0"/>
          </a:p>
        </p:txBody>
      </p:sp>
      <p:sp>
        <p:nvSpPr>
          <p:cNvPr id="51" name="Shape 49"/>
          <p:cNvSpPr/>
          <p:nvPr/>
        </p:nvSpPr>
        <p:spPr>
          <a:xfrm>
            <a:off x="9646920" y="5495544"/>
            <a:ext cx="1783080" cy="329184"/>
          </a:xfrm>
          <a:prstGeom prst="roundRect">
            <a:avLst>
              <a:gd name="adj" fmla="val 50000"/>
            </a:avLst>
          </a:prstGeom>
          <a:solidFill>
            <a:srgbClr val="E4F3F2"/>
          </a:solidFill>
          <a:ln/>
        </p:spPr>
      </p:sp>
      <p:sp>
        <p:nvSpPr>
          <p:cNvPr id="52" name="Text 50"/>
          <p:cNvSpPr txBox="1"/>
          <p:nvPr/>
        </p:nvSpPr>
        <p:spPr>
          <a:xfrm>
            <a:off x="9646920" y="5495544"/>
            <a:ext cx="1783080" cy="329184"/>
          </a:xfrm>
          <a:prstGeom prst="rect">
            <a:avLst/>
          </a:prstGeom>
          <a:noFill/>
          <a:ln/>
        </p:spPr>
        <p:txBody>
          <a:bodyPr wrap="square" lIns="0" tIns="0" rIns="0" bIns="0" rtlCol="0" anchor="ctr"/>
          <a:lstStyle/>
          <a:p>
            <a:pPr algn="ctr" indent="0" marL="0">
              <a:buNone/>
            </a:pPr>
            <a:r>
              <a:rPr lang="en-US" sz="950" b="1" dirty="0">
                <a:solidFill>
                  <a:srgbClr val="0E7C7B"/>
                </a:solidFill>
                <a:latin typeface="Calibri" pitchFamily="34" charset="0"/>
                <a:ea typeface="Calibri" pitchFamily="34" charset="-122"/>
                <a:cs typeface="Calibri" pitchFamily="34" charset="-120"/>
              </a:rPr>
              <a:t>Months 11–12</a:t>
            </a:r>
            <a:endParaRPr lang="en-US" sz="950" dirty="0"/>
          </a:p>
        </p:txBody>
      </p:sp>
      <p:sp>
        <p:nvSpPr>
          <p:cNvPr id="53" name="Text 51"/>
          <p:cNvSpPr txBox="1"/>
          <p:nvPr/>
        </p:nvSpPr>
        <p:spPr>
          <a:xfrm>
            <a:off x="548640" y="6117336"/>
            <a:ext cx="11109960" cy="274320"/>
          </a:xfrm>
          <a:prstGeom prst="rect">
            <a:avLst/>
          </a:prstGeom>
          <a:noFill/>
          <a:ln/>
        </p:spPr>
        <p:txBody>
          <a:bodyPr wrap="square" lIns="0" tIns="0" rIns="0" bIns="0" rtlCol="0" anchor="ctr"/>
          <a:lstStyle/>
          <a:p>
            <a:pPr indent="0" marL="0">
              <a:buNone/>
            </a:pPr>
            <a:r>
              <a:rPr lang="en-US" sz="950" i="1" dirty="0">
                <a:solidFill>
                  <a:srgbClr val="5A6472"/>
                </a:solidFill>
                <a:latin typeface="Calibri" pitchFamily="34" charset="0"/>
                <a:ea typeface="Calibri" pitchFamily="34" charset="-122"/>
                <a:cs typeface="Calibri" pitchFamily="34" charset="-120"/>
              </a:rPr>
              <a:t>A full-year plan by design — each module builds on a validated predecessor, so the build order itself de-risks the schedule.</a:t>
            </a:r>
            <a:endParaRPr lang="en-US" sz="950" dirty="0"/>
          </a:p>
        </p:txBody>
      </p:sp>
      <p:sp>
        <p:nvSpPr>
          <p:cNvPr id="54" name="Text 52"/>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55" name="Text 53"/>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EXPECTED OUTCOMES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Expected Outcomes &amp; Success Criteria</a:t>
            </a:r>
            <a:endParaRPr lang="en-US" sz="3200" dirty="0"/>
          </a:p>
        </p:txBody>
      </p:sp>
      <p:sp>
        <p:nvSpPr>
          <p:cNvPr id="4" name="Text 2"/>
          <p:cNvSpPr txBox="1"/>
          <p:nvPr/>
        </p:nvSpPr>
        <p:spPr>
          <a:xfrm>
            <a:off x="548640" y="1325880"/>
            <a:ext cx="10972800" cy="32004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These are the outcomes VectorSentry is designed to achieve — targets we will validate empirically over the course of the year, not results we already have.</a:t>
            </a:r>
            <a:endParaRPr lang="en-US" sz="1150" dirty="0"/>
          </a:p>
        </p:txBody>
      </p:sp>
      <p:sp>
        <p:nvSpPr>
          <p:cNvPr id="5" name="Shape 3"/>
          <p:cNvSpPr/>
          <p:nvPr/>
        </p:nvSpPr>
        <p:spPr>
          <a:xfrm>
            <a:off x="548640" y="1783080"/>
            <a:ext cx="1110996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6" name="Shape 4"/>
          <p:cNvSpPr/>
          <p:nvPr/>
        </p:nvSpPr>
        <p:spPr>
          <a:xfrm>
            <a:off x="777240" y="1947672"/>
            <a:ext cx="384048" cy="384048"/>
          </a:xfrm>
          <a:prstGeom prst="ellipse">
            <a:avLst/>
          </a:prstGeom>
          <a:solidFill>
            <a:srgbClr val="0E7C7B"/>
          </a:solidFill>
          <a:ln/>
        </p:spPr>
      </p:sp>
      <p:sp>
        <p:nvSpPr>
          <p:cNvPr id="7" name="Text 5"/>
          <p:cNvSpPr txBox="1"/>
          <p:nvPr/>
        </p:nvSpPr>
        <p:spPr>
          <a:xfrm>
            <a:off x="777240" y="19476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71600" y="1856232"/>
            <a:ext cx="9875520" cy="292608"/>
          </a:xfrm>
          <a:prstGeom prst="rect">
            <a:avLst/>
          </a:prstGeom>
          <a:noFill/>
          <a:ln/>
        </p:spPr>
        <p:txBody>
          <a:bodyPr wrap="square" lIns="0" tIns="0" rIns="0" bIns="0" rtlCol="0" anchor="ctr"/>
          <a:lstStyle/>
          <a:p>
            <a:pPr indent="0" marL="0">
              <a:buNone/>
            </a:pPr>
            <a:r>
              <a:rPr lang="en-US" sz="1300" b="1" dirty="0">
                <a:solidFill>
                  <a:srgbClr val="1B2A56"/>
                </a:solidFill>
                <a:latin typeface="Calibri" pitchFamily="34" charset="0"/>
                <a:ea typeface="Calibri" pitchFamily="34" charset="-122"/>
                <a:cs typeface="Calibri" pitchFamily="34" charset="-120"/>
              </a:rPr>
              <a:t>A reliable, oracle-free detector</a:t>
            </a:r>
            <a:endParaRPr lang="en-US" sz="1300" dirty="0"/>
          </a:p>
        </p:txBody>
      </p:sp>
      <p:sp>
        <p:nvSpPr>
          <p:cNvPr id="9" name="Text 7"/>
          <p:cNvSpPr txBox="1"/>
          <p:nvPr/>
        </p:nvSpPr>
        <p:spPr>
          <a:xfrm>
            <a:off x="1371600" y="2148840"/>
            <a:ext cx="9875520" cy="329184"/>
          </a:xfrm>
          <a:prstGeom prst="rect">
            <a:avLst/>
          </a:prstGeom>
          <a:noFill/>
          <a:ln/>
        </p:spPr>
        <p:txBody>
          <a:bodyPr wrap="square" lIns="0" tIns="0" rIns="0" bIns="0" rtlCol="0" anchor="ctr"/>
          <a:lstStyle/>
          <a:p>
            <a:pPr indent="0" marL="0">
              <a:lnSpc>
                <a:spcPct val="110000"/>
              </a:lnSpc>
              <a:buNone/>
            </a:pPr>
            <a:r>
              <a:rPr lang="en-US" sz="1000" dirty="0">
                <a:solidFill>
                  <a:srgbClr val="20242E"/>
                </a:solidFill>
                <a:latin typeface="Calibri" pitchFamily="34" charset="0"/>
                <a:ea typeface="Calibri" pitchFamily="34" charset="-122"/>
                <a:cs typeface="Calibri" pitchFamily="34" charset="-120"/>
              </a:rPr>
              <a:t>Flags mixed-generation contamination without requiring labeled ground truth, at accuracy competitive with established OOD-detection baselines.</a:t>
            </a:r>
            <a:endParaRPr lang="en-US" sz="1000" dirty="0"/>
          </a:p>
        </p:txBody>
      </p:sp>
      <p:sp>
        <p:nvSpPr>
          <p:cNvPr id="10" name="Shape 8"/>
          <p:cNvSpPr/>
          <p:nvPr/>
        </p:nvSpPr>
        <p:spPr>
          <a:xfrm>
            <a:off x="548640" y="2587752"/>
            <a:ext cx="1110996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11" name="Shape 9"/>
          <p:cNvSpPr/>
          <p:nvPr/>
        </p:nvSpPr>
        <p:spPr>
          <a:xfrm>
            <a:off x="777240" y="2752344"/>
            <a:ext cx="384048" cy="384048"/>
          </a:xfrm>
          <a:prstGeom prst="ellipse">
            <a:avLst/>
          </a:prstGeom>
          <a:solidFill>
            <a:srgbClr val="0E7C7B"/>
          </a:solidFill>
          <a:ln/>
        </p:spPr>
      </p:sp>
      <p:sp>
        <p:nvSpPr>
          <p:cNvPr id="12" name="Text 10"/>
          <p:cNvSpPr txBox="1"/>
          <p:nvPr/>
        </p:nvSpPr>
        <p:spPr>
          <a:xfrm>
            <a:off x="777240" y="275234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71600" y="2660904"/>
            <a:ext cx="9875520" cy="292608"/>
          </a:xfrm>
          <a:prstGeom prst="rect">
            <a:avLst/>
          </a:prstGeom>
          <a:noFill/>
          <a:ln/>
        </p:spPr>
        <p:txBody>
          <a:bodyPr wrap="square" lIns="0" tIns="0" rIns="0" bIns="0" rtlCol="0" anchor="ctr"/>
          <a:lstStyle/>
          <a:p>
            <a:pPr indent="0" marL="0">
              <a:buNone/>
            </a:pPr>
            <a:r>
              <a:rPr lang="en-US" sz="1300" b="1" dirty="0">
                <a:solidFill>
                  <a:srgbClr val="1B2A56"/>
                </a:solidFill>
                <a:latin typeface="Calibri" pitchFamily="34" charset="0"/>
                <a:ea typeface="Calibri" pitchFamily="34" charset="-122"/>
                <a:cs typeface="Calibri" pitchFamily="34" charset="-120"/>
              </a:rPr>
              <a:t>A provably near-optimal scheduler</a:t>
            </a:r>
            <a:endParaRPr lang="en-US" sz="1300" dirty="0"/>
          </a:p>
        </p:txBody>
      </p:sp>
      <p:sp>
        <p:nvSpPr>
          <p:cNvPr id="14" name="Text 12"/>
          <p:cNvSpPr txBox="1"/>
          <p:nvPr/>
        </p:nvSpPr>
        <p:spPr>
          <a:xfrm>
            <a:off x="1371600" y="2953512"/>
            <a:ext cx="9875520" cy="329184"/>
          </a:xfrm>
          <a:prstGeom prst="rect">
            <a:avLst/>
          </a:prstGeom>
          <a:noFill/>
          <a:ln/>
        </p:spPr>
        <p:txBody>
          <a:bodyPr wrap="square" lIns="0" tIns="0" rIns="0" bIns="0" rtlCol="0" anchor="ctr"/>
          <a:lstStyle/>
          <a:p>
            <a:pPr indent="0" marL="0">
              <a:lnSpc>
                <a:spcPct val="110000"/>
              </a:lnSpc>
              <a:buNone/>
            </a:pPr>
            <a:r>
              <a:rPr lang="en-US" sz="1000" dirty="0">
                <a:solidFill>
                  <a:srgbClr val="20242E"/>
                </a:solidFill>
                <a:latin typeface="Calibri" pitchFamily="34" charset="0"/>
                <a:ea typeface="Calibri" pitchFamily="34" charset="-122"/>
                <a:cs typeface="Calibri" pitchFamily="34" charset="-120"/>
              </a:rPr>
              <a:t>Frontier-greedy prioritization tracks the exact ILP solution closely, so budget is spent close to optimally even at production scale.</a:t>
            </a:r>
            <a:endParaRPr lang="en-US" sz="1000" dirty="0"/>
          </a:p>
        </p:txBody>
      </p:sp>
      <p:sp>
        <p:nvSpPr>
          <p:cNvPr id="15" name="Shape 13"/>
          <p:cNvSpPr/>
          <p:nvPr/>
        </p:nvSpPr>
        <p:spPr>
          <a:xfrm>
            <a:off x="548640" y="3392424"/>
            <a:ext cx="1110996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16" name="Shape 14"/>
          <p:cNvSpPr/>
          <p:nvPr/>
        </p:nvSpPr>
        <p:spPr>
          <a:xfrm>
            <a:off x="777240" y="3557016"/>
            <a:ext cx="384048" cy="384048"/>
          </a:xfrm>
          <a:prstGeom prst="ellipse">
            <a:avLst/>
          </a:prstGeom>
          <a:solidFill>
            <a:srgbClr val="0E7C7B"/>
          </a:solidFill>
          <a:ln/>
        </p:spPr>
      </p:sp>
      <p:sp>
        <p:nvSpPr>
          <p:cNvPr id="17" name="Text 15"/>
          <p:cNvSpPr txBox="1"/>
          <p:nvPr/>
        </p:nvSpPr>
        <p:spPr>
          <a:xfrm>
            <a:off x="777240" y="35570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371600" y="3465576"/>
            <a:ext cx="9875520" cy="292608"/>
          </a:xfrm>
          <a:prstGeom prst="rect">
            <a:avLst/>
          </a:prstGeom>
          <a:noFill/>
          <a:ln/>
        </p:spPr>
        <p:txBody>
          <a:bodyPr wrap="square" lIns="0" tIns="0" rIns="0" bIns="0" rtlCol="0" anchor="ctr"/>
          <a:lstStyle/>
          <a:p>
            <a:pPr indent="0" marL="0">
              <a:buNone/>
            </a:pPr>
            <a:r>
              <a:rPr lang="en-US" sz="1300" b="1" dirty="0">
                <a:solidFill>
                  <a:srgbClr val="1B2A56"/>
                </a:solidFill>
                <a:latin typeface="Calibri" pitchFamily="34" charset="0"/>
                <a:ea typeface="Calibri" pitchFamily="34" charset="-122"/>
                <a:cs typeface="Calibri" pitchFamily="34" charset="-120"/>
              </a:rPr>
              <a:t>Meaningfully better recovery per budget unit</a:t>
            </a:r>
            <a:endParaRPr lang="en-US" sz="1300" dirty="0"/>
          </a:p>
        </p:txBody>
      </p:sp>
      <p:sp>
        <p:nvSpPr>
          <p:cNvPr id="19" name="Text 17"/>
          <p:cNvSpPr txBox="1"/>
          <p:nvPr/>
        </p:nvSpPr>
        <p:spPr>
          <a:xfrm>
            <a:off x="1371600" y="3758184"/>
            <a:ext cx="9875520" cy="329184"/>
          </a:xfrm>
          <a:prstGeom prst="rect">
            <a:avLst/>
          </a:prstGeom>
          <a:noFill/>
          <a:ln/>
        </p:spPr>
        <p:txBody>
          <a:bodyPr wrap="square" lIns="0" tIns="0" rIns="0" bIns="0" rtlCol="0" anchor="ctr"/>
          <a:lstStyle/>
          <a:p>
            <a:pPr indent="0" marL="0">
              <a:lnSpc>
                <a:spcPct val="110000"/>
              </a:lnSpc>
              <a:buNone/>
            </a:pPr>
            <a:r>
              <a:rPr lang="en-US" sz="1000" dirty="0">
                <a:solidFill>
                  <a:srgbClr val="20242E"/>
                </a:solidFill>
                <a:latin typeface="Calibri" pitchFamily="34" charset="0"/>
                <a:ea typeface="Calibri" pitchFamily="34" charset="-122"/>
                <a:cs typeface="Calibri" pitchFamily="34" charset="-120"/>
              </a:rPr>
              <a:t>Outperforms naive full-re-embed-everything practice under the same budget, especially at tight budgets where prioritization matters most.</a:t>
            </a:r>
            <a:endParaRPr lang="en-US" sz="1000" dirty="0"/>
          </a:p>
        </p:txBody>
      </p:sp>
      <p:sp>
        <p:nvSpPr>
          <p:cNvPr id="20" name="Shape 18"/>
          <p:cNvSpPr/>
          <p:nvPr/>
        </p:nvSpPr>
        <p:spPr>
          <a:xfrm>
            <a:off x="548640" y="4197096"/>
            <a:ext cx="11109960" cy="713232"/>
          </a:xfrm>
          <a:prstGeom prst="roundRect">
            <a:avLst>
              <a:gd name="adj" fmla="val 10256"/>
            </a:avLst>
          </a:prstGeom>
          <a:solidFill>
            <a:srgbClr val="F4F7FC"/>
          </a:solidFill>
          <a:ln/>
          <a:effectLst>
            <a:outerShdw sx="100000" sy="100000" kx="0" ky="0" algn="bl" rotWithShape="0" blurRad="101600" dist="38100" dir="5400000">
              <a:srgbClr val="1B2A56">
                <a:alpha val="12000"/>
              </a:srgbClr>
            </a:outerShdw>
          </a:effectLst>
        </p:spPr>
      </p:sp>
      <p:sp>
        <p:nvSpPr>
          <p:cNvPr id="21" name="Shape 19"/>
          <p:cNvSpPr/>
          <p:nvPr/>
        </p:nvSpPr>
        <p:spPr>
          <a:xfrm>
            <a:off x="777240" y="4361688"/>
            <a:ext cx="384048" cy="384048"/>
          </a:xfrm>
          <a:prstGeom prst="ellipse">
            <a:avLst/>
          </a:prstGeom>
          <a:solidFill>
            <a:srgbClr val="0E7C7B"/>
          </a:solidFill>
          <a:ln/>
        </p:spPr>
      </p:sp>
      <p:sp>
        <p:nvSpPr>
          <p:cNvPr id="22" name="Text 20"/>
          <p:cNvSpPr txBox="1"/>
          <p:nvPr/>
        </p:nvSpPr>
        <p:spPr>
          <a:xfrm>
            <a:off x="777240" y="43616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txBox="1"/>
          <p:nvPr/>
        </p:nvSpPr>
        <p:spPr>
          <a:xfrm>
            <a:off x="1371600" y="4270248"/>
            <a:ext cx="9875520" cy="292608"/>
          </a:xfrm>
          <a:prstGeom prst="rect">
            <a:avLst/>
          </a:prstGeom>
          <a:noFill/>
          <a:ln/>
        </p:spPr>
        <p:txBody>
          <a:bodyPr wrap="square" lIns="0" tIns="0" rIns="0" bIns="0" rtlCol="0" anchor="ctr"/>
          <a:lstStyle/>
          <a:p>
            <a:pPr indent="0" marL="0">
              <a:buNone/>
            </a:pPr>
            <a:r>
              <a:rPr lang="en-US" sz="1300" b="1" dirty="0">
                <a:solidFill>
                  <a:srgbClr val="1B2A56"/>
                </a:solidFill>
                <a:latin typeface="Calibri" pitchFamily="34" charset="0"/>
                <a:ea typeface="Calibri" pitchFamily="34" charset="-122"/>
                <a:cs typeface="Calibri" pitchFamily="34" charset="-120"/>
              </a:rPr>
              <a:t>A safety gate that never ships a regression</a:t>
            </a:r>
            <a:endParaRPr lang="en-US" sz="1300" dirty="0"/>
          </a:p>
        </p:txBody>
      </p:sp>
      <p:sp>
        <p:nvSpPr>
          <p:cNvPr id="24" name="Text 22"/>
          <p:cNvSpPr txBox="1"/>
          <p:nvPr/>
        </p:nvSpPr>
        <p:spPr>
          <a:xfrm>
            <a:off x="1371600" y="4562856"/>
            <a:ext cx="9875520" cy="329184"/>
          </a:xfrm>
          <a:prstGeom prst="rect">
            <a:avLst/>
          </a:prstGeom>
          <a:noFill/>
          <a:ln/>
        </p:spPr>
        <p:txBody>
          <a:bodyPr wrap="square" lIns="0" tIns="0" rIns="0" bIns="0" rtlCol="0" anchor="ctr"/>
          <a:lstStyle/>
          <a:p>
            <a:pPr indent="0" marL="0">
              <a:lnSpc>
                <a:spcPct val="110000"/>
              </a:lnSpc>
              <a:buNone/>
            </a:pPr>
            <a:r>
              <a:rPr lang="en-US" sz="1000" dirty="0">
                <a:solidFill>
                  <a:srgbClr val="20242E"/>
                </a:solidFill>
                <a:latin typeface="Calibri" pitchFamily="34" charset="0"/>
                <a:ea typeface="Calibri" pitchFamily="34" charset="-122"/>
                <a:cs typeface="Calibri" pitchFamily="34" charset="-120"/>
              </a:rPr>
              <a:t>No remediation plan is deployed if it would regress a protected, high-value query set — verified automatically before every cutover.</a:t>
            </a:r>
            <a:endParaRPr lang="en-US" sz="1000" dirty="0"/>
          </a:p>
        </p:txBody>
      </p:sp>
      <p:sp>
        <p:nvSpPr>
          <p:cNvPr id="25" name="Shape 23"/>
          <p:cNvSpPr/>
          <p:nvPr/>
        </p:nvSpPr>
        <p:spPr>
          <a:xfrm>
            <a:off x="548640" y="5074920"/>
            <a:ext cx="11109960" cy="1188720"/>
          </a:xfrm>
          <a:prstGeom prst="roundRect">
            <a:avLst>
              <a:gd name="adj" fmla="val 6154"/>
            </a:avLst>
          </a:prstGeom>
          <a:solidFill>
            <a:srgbClr val="1B2A56"/>
          </a:solidFill>
          <a:ln/>
        </p:spPr>
      </p:sp>
      <p:sp>
        <p:nvSpPr>
          <p:cNvPr id="26" name="Text 24"/>
          <p:cNvSpPr txBox="1"/>
          <p:nvPr/>
        </p:nvSpPr>
        <p:spPr>
          <a:xfrm>
            <a:off x="822960" y="5221224"/>
            <a:ext cx="10515600" cy="256032"/>
          </a:xfrm>
          <a:prstGeom prst="rect">
            <a:avLst/>
          </a:prstGeom>
          <a:noFill/>
          <a:ln/>
        </p:spPr>
        <p:txBody>
          <a:bodyPr wrap="square" lIns="0" tIns="0" rIns="0" bIns="0" rtlCol="0" anchor="ctr"/>
          <a:lstStyle/>
          <a:p>
            <a:pPr indent="0" marL="0">
              <a:buNone/>
            </a:pPr>
            <a:r>
              <a:rPr lang="en-US" sz="1050" b="1" spc="100" kern="0" dirty="0">
                <a:solidFill>
                  <a:srgbClr val="E4F3F2"/>
                </a:solidFill>
                <a:latin typeface="Calibri" pitchFamily="34" charset="0"/>
                <a:ea typeface="Calibri" pitchFamily="34" charset="-122"/>
                <a:cs typeface="Calibri" pitchFamily="34" charset="-120"/>
              </a:rPr>
              <a:t>HOW WE'LL KNOW IF WE SUCCEEDED</a:t>
            </a:r>
            <a:endParaRPr lang="en-US" sz="1050" dirty="0"/>
          </a:p>
        </p:txBody>
      </p:sp>
      <p:sp>
        <p:nvSpPr>
          <p:cNvPr id="27" name="Text 25"/>
          <p:cNvSpPr txBox="1"/>
          <p:nvPr/>
        </p:nvSpPr>
        <p:spPr>
          <a:xfrm>
            <a:off x="822960" y="5513832"/>
            <a:ext cx="10515600" cy="685800"/>
          </a:xfrm>
          <a:prstGeom prst="rect">
            <a:avLst/>
          </a:prstGeom>
          <a:noFill/>
          <a:ln/>
        </p:spPr>
        <p:txBody>
          <a:bodyPr wrap="square" lIns="0" tIns="0" rIns="0" bIns="0" rtlCol="0" anchor="ctr"/>
          <a:lstStyle/>
          <a:p>
            <a:pPr indent="0" marL="0">
              <a:lnSpc>
                <a:spcPct val="130000"/>
              </a:lnSpc>
              <a:buNone/>
            </a:pPr>
            <a:r>
              <a:rPr lang="en-US" sz="1150" dirty="0">
                <a:solidFill>
                  <a:srgbClr val="FFFFFF"/>
                </a:solidFill>
                <a:latin typeface="Calibri" pitchFamily="34" charset="0"/>
                <a:ea typeface="Calibri" pitchFamily="34" charset="-122"/>
                <a:cs typeface="Calibri" pitchFamily="34" charset="-120"/>
              </a:rPr>
              <a:t>Each objective from the Objectives &amp; Scope slide has a specific, pre-committed target metric. Review II will report the actual measured numbers against these targets — including where we fall short, not just where we succeed.</a:t>
            </a:r>
            <a:endParaRPr lang="en-US" sz="1150" dirty="0"/>
          </a:p>
        </p:txBody>
      </p:sp>
      <p:sp>
        <p:nvSpPr>
          <p:cNvPr id="28" name="Text 26"/>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29" name="Text 27"/>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601200" cy="320040"/>
          </a:xfrm>
          <a:prstGeom prst="rect">
            <a:avLst/>
          </a:prstGeom>
          <a:noFill/>
          <a:ln/>
        </p:spPr>
        <p:txBody>
          <a:bodyPr wrap="square" lIns="0" tIns="0" rIns="0" bIns="0" rtlCol="0" anchor="ctr"/>
          <a:lstStyle/>
          <a:p>
            <a:pPr indent="0" marL="0">
              <a:buNone/>
            </a:pPr>
            <a:r>
              <a:rPr lang="en-US" sz="1250" b="1" spc="200" kern="0" dirty="0">
                <a:solidFill>
                  <a:srgbClr val="0E7C7B"/>
                </a:solidFill>
                <a:latin typeface="Calibri" pitchFamily="34" charset="0"/>
                <a:ea typeface="Calibri" pitchFamily="34" charset="-122"/>
                <a:cs typeface="Calibri" pitchFamily="34" charset="-120"/>
              </a:rPr>
              <a:t>REFERENCES</a:t>
            </a:r>
            <a:endParaRPr lang="en-US" sz="1250" dirty="0"/>
          </a:p>
        </p:txBody>
      </p:sp>
      <p:sp>
        <p:nvSpPr>
          <p:cNvPr id="3" name="Text 1"/>
          <p:cNvSpPr txBox="1"/>
          <p:nvPr/>
        </p:nvSpPr>
        <p:spPr>
          <a:xfrm>
            <a:off x="548640" y="685800"/>
            <a:ext cx="10607040" cy="685800"/>
          </a:xfrm>
          <a:prstGeom prst="rect">
            <a:avLst/>
          </a:prstGeom>
          <a:noFill/>
          <a:ln/>
        </p:spPr>
        <p:txBody>
          <a:bodyPr wrap="square" lIns="0" tIns="0" rIns="0" bIns="0" rtlCol="0" anchor="ctr"/>
          <a:lstStyle/>
          <a:p>
            <a:pPr indent="0" marL="0">
              <a:buNone/>
            </a:pPr>
            <a:r>
              <a:rPr lang="en-US" sz="3200" b="1" dirty="0">
                <a:solidFill>
                  <a:srgbClr val="1B2A56"/>
                </a:solidFill>
                <a:latin typeface="Cambria" pitchFamily="34" charset="0"/>
                <a:ea typeface="Cambria" pitchFamily="34" charset="-122"/>
                <a:cs typeface="Cambria" pitchFamily="34" charset="-120"/>
              </a:rPr>
              <a:t>References (APA)</a:t>
            </a:r>
            <a:endParaRPr lang="en-US" sz="3200" dirty="0"/>
          </a:p>
        </p:txBody>
      </p:sp>
      <p:sp>
        <p:nvSpPr>
          <p:cNvPr id="4" name="Text 2"/>
          <p:cNvSpPr txBox="1"/>
          <p:nvPr/>
        </p:nvSpPr>
        <p:spPr>
          <a:xfrm>
            <a:off x="548640" y="1280160"/>
            <a:ext cx="10972800" cy="274320"/>
          </a:xfrm>
          <a:prstGeom prst="rect">
            <a:avLst/>
          </a:prstGeom>
          <a:noFill/>
          <a:ln/>
        </p:spPr>
        <p:txBody>
          <a:bodyPr wrap="square" lIns="0" tIns="0" rIns="0" bIns="0" rtlCol="0" anchor="ctr"/>
          <a:lstStyle/>
          <a:p>
            <a:pPr indent="0" marL="0">
              <a:buNone/>
            </a:pPr>
            <a:r>
              <a:rPr lang="en-US" sz="1000" i="1" dirty="0">
                <a:solidFill>
                  <a:srgbClr val="5A6472"/>
                </a:solidFill>
                <a:latin typeface="Calibri" pitchFamily="34" charset="0"/>
                <a:ea typeface="Calibri" pitchFamily="34" charset="-122"/>
                <a:cs typeface="Calibri" pitchFamily="34" charset="-120"/>
              </a:rPr>
              <a:t>All 15 sources — abbreviated per guideline space constraints; full annotated list with problem/method/dataset/findings/limitations in the companion document.</a:t>
            </a:r>
            <a:endParaRPr lang="en-US" sz="1000" dirty="0"/>
          </a:p>
        </p:txBody>
      </p:sp>
      <p:sp>
        <p:nvSpPr>
          <p:cNvPr id="5" name="Text 3"/>
          <p:cNvSpPr txBox="1"/>
          <p:nvPr/>
        </p:nvSpPr>
        <p:spPr>
          <a:xfrm>
            <a:off x="548640" y="1691640"/>
            <a:ext cx="11109960" cy="4709160"/>
          </a:xfrm>
          <a:prstGeom prst="rect">
            <a:avLst/>
          </a:prstGeom>
          <a:noFill/>
          <a:ln/>
        </p:spPr>
        <p:txBody>
          <a:bodyPr wrap="square" lIns="0" tIns="0" rIns="0" bIns="0" rtlCol="0" anchor="ctr"/>
          <a:lstStyle/>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Breslau, L., Cao, P., Fan, L., Phillips, G., &amp; Shenker, S. (1999). Web caching and Zipf-like distributions: Evidence and implications. IEEE INFOCOM.</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Breunig, M. M., Kriegel, H.-P., Ng, R. T., &amp; Sander, J. (2000). LOF: Identifying density-based local outliers. ACM SIGMOD.</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Fuster Baggetto, A., &amp; Fresno, V. (2022). Is anisotropy truly harmful for dense retrieval? Findings of ACL: EMNLP 2022.</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Hu, Y., Bansal, S., Cao, K., Rao, R., Subbian, K., &amp; Leskovec, J. (2022). Learning backward compatible embeddings. ACM KDD.</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Karval, R., &amp; Singh, A. (2023). Silent failures in machine learning production systems. IEEE Conference Publication.</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Lample, G., Conneau, A., Ranzato, M., Denoyer, L., &amp; Jégou, H. (2018). Word translation without parallel data (MUSE). ICLR.</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Liu, F. T., Ting, K. M., &amp; Zhou, Z.-H. (2008). Isolation forest. IEEE ICDM.</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Lu, J., Yin, W., &amp; Xu, Y. (2024). Recent advances in OOD detection: Problems and approaches. ACM Computing Surveys.</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Malkov, Y. A., &amp; Yashunin, D. A. (2020). Efficient and robust approximate nearest neighbor search using HNSW. IEEE TPAMI.</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Muennighoff, N., Tazi, N., Magne, L., &amp; Reimers, N. (2023). MTEB: Massive text embedding benchmark. ACL.</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Pan, J. J., Wang, J., &amp; Li, G. (2024). Survey of vector database management systems. The VLDB Journal, Springer.</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Sinha, P., &amp; Zoltners, A. A. (1979). The multiple-choice knapsack problem. Operations Research, 27(3).</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Sun, Y., Ming, Y., Zhu, X., &amp; Li, Y. (2022). Out-of-distribution detection with deep nearest neighbors. ICML.</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Vejendla, H. (2025). Drift-Adapter: A lightweight framework for continuous dense retrieval adaptation. EMNLP.</a:t>
            </a:r>
            <a:endParaRPr lang="en-US" sz="860" dirty="0"/>
          </a:p>
          <a:p>
            <a:pPr indent="0" marL="0">
              <a:lnSpc>
                <a:spcPct val="105000"/>
              </a:lnSpc>
              <a:spcAft>
                <a:spcPts val="450"/>
              </a:spcAft>
              <a:buNone/>
            </a:pPr>
            <a:r>
              <a:rPr lang="en-US" sz="860" dirty="0">
                <a:solidFill>
                  <a:srgbClr val="20242E"/>
                </a:solidFill>
                <a:latin typeface="Calibri" pitchFamily="34" charset="0"/>
                <a:ea typeface="Calibri" pitchFamily="34" charset="-122"/>
                <a:cs typeface="Calibri" pitchFamily="34" charset="-120"/>
              </a:rPr>
              <a:t>Wu, K., Wu, E., &amp; Zou, J. (2024). How faithful are RAG models? Quantifying the tug-of-war. arXiv preprint / survey.</a:t>
            </a:r>
            <a:endParaRPr lang="en-US" sz="860" dirty="0"/>
          </a:p>
        </p:txBody>
      </p:sp>
      <p:sp>
        <p:nvSpPr>
          <p:cNvPr id="6"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5A6472"/>
                </a:solidFill>
                <a:latin typeface="Calibri" pitchFamily="34" charset="0"/>
                <a:ea typeface="Calibri" pitchFamily="34" charset="-122"/>
                <a:cs typeface="Calibri" pitchFamily="34" charset="-120"/>
              </a:rPr>
              <a:t>VectorSentry  |  Review I</a:t>
            </a:r>
            <a:endParaRPr lang="en-US" sz="900" dirty="0"/>
          </a:p>
        </p:txBody>
      </p:sp>
      <p:sp>
        <p:nvSpPr>
          <p:cNvPr id="7" name="Text 5"/>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5A647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2026-08-28T02:18:48Z</dcterms:created>
  <dcterms:modified xsi:type="dcterms:W3CDTF">2026-08-28T02:18:48Z</dcterms:modified>
</cp:coreProperties>
</file>