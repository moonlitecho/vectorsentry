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I'm presenting VectorSentry — a system that detects and safely fixes a silent failure mode in production vector databases: mixed-generation embedding contamination. This is Review I of Phase I — the research, design, and innovation review. Everything I'll show you today, including the working prototype numbers, is real and already built and tested, not just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a vector database can end up with documents embedded by two different generations of a model — say, half by an old provider version, half by a new one — after an update. Cosine similarity across those two generations is meaningless, but nothing errors out. It just quietly retrieves worse results. This isn't hypothetical — we built a real benchmark and measured it: nDCG@10 drops from 0.652 clean to 0.398 at 50% contamination, a 27.5% relative loss, with zero exceptions thrown. And this happens in the real world — OpenAI and Cohere have both shipped embedding updates that silently changed their models' internal geometry. Likely follow-up: 'how did you measure this without a real production system?' — answer: we built a controlled, seeded benchmark that mixes two real open embedding models over a real IR corpus, which I'll detail in the methodology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each paired with a measurable design constraint set BEFORE we ran any experiment — and each one already has a measured result, not a projection. Detect: we targeted F1 of at least 0.5 for an unsupervised detector with no ground-truth labels — we got 0.51 to 0.57. Prioritize: we wanted our fast heuristic within 5% of the true mathematical optimum — we got effectively 0%. Recover: we wanted to beat current practice meaningfully under a tight budget — we recovered up to 45% of the achievable quality headroom using only 10% of the budget. Deploy safely: this is the one most people don't think to set as an objective — we wanted a guarantee, not a hope, that we'd never silently ship a worse index, and our safety gate proved itself by correctly blocking 10 of 30 real test scenarios. Scope is bounded deliberately — a laptop-reproducible benchmark, not a live production deployment, which is exactly the kind of realistic constraint the rubric rewards.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domain is AI/ML applied to information retrieval and MLOps — specifically, the operational side of running vector search systems in production, not just training embedding models. The field is moving fast: RAG has made vector databases a default dependency, and there are now over twenty commercial vector-database products, per a 2024 VLDB Journal survey we cite. Every one of these systems — Pinecone, Weaviate, Milvus — is exposed to the exact contamination problem we're solving, because they all face the same embedding-model-update reality.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reviewed fifteen sources organized into three clusters. Cluster A covers detection theory — KNN-OOD, Isolation Forest, LOF, and a 2024/2025 ACM Computing Surveys review of the whole OOD-detection field. Cluster B is the most directly relevant to our contribution: Drift-Adapter, published at EMNLP just this year, and Meta/Stanford's Backward-Compatible-Embeddings paper from KDD 2022, both show you can cheaply realign an embedding space instead of paying for a full re-embed. But — and this is the crux of our research gap — every one of them applies that fix as ONE uniform action to the whole corpus. Neither asks 'which documents matter enough to fix first, and which merely need a cheap patch, under a budget I can't exceed.' Cluster C is our foundation layer — vector-database systems literature, embedding benchmarking, and, importantly, the 1979 Operations Research paper that defines the knapsack formulation our scheduler is built on, plus the 1999 paper establishing that real query traffic follows a Zipf distribution, which is exactly the traffic model our benchmark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required comparison table — author, year, method, key finding, and the gap each paper leaves open. Reading down the 'gap identified' column, a pattern jumps out: every single one of these works stops at either detecting the problem or fixing it uniformly. None of them decides WHICH documents get which treatment under a real budget — that column is where our own contribution lives, and it's the throughline into the research-gap slide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logical spine of the whole project. Starting from what's already known — mature detection theory and mature-but-uniform repair mechanisms — I walk down to exactly where the literature stops: nobody decides WHICH document to fix first under a real budget. That's not a vague gap — I can point to it in the comparison table on the previous slide, in the 'gap identified' column, for every single Cluster A and B paper. Our contribution isn't invented from nothing either — the optimization core is a 1979 Operations Research formulation, and the patch mechanism itself is grounded directly in this year's Drift-Adapter paper. What's new is combining them into one budget-aware decision layer with a safety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 in one sentence: treat contamination remediation as an incident-response prioritization problem, not a batch job. Concretely, for every document our detector flags, VectorSentry's scheduler picks exactly one of three actions — full re-embed for the documents that matter most, a cheap patch for the ones where partial recovery is good enough, or defer for the ones not worth spending budget on at all. That third option, Defer, is deliberately part of the formal action set, not an afterthought — sometimes the mathematically correct answer really is 'not yet,' and pretending otherwise is how uniform strategies waste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pipeline. A live vector database feeds into Detect, which scores documents against a threshold calibrated from a known-clean baseline — not an oracle, exactly what a real operator would have. Prioritize is our scheduler — the knapsack solver deciding full re-embed, patch, or defer for every flagged document. Migrate builds the proposed fix as a shadow copy — the live index is never touched directly, matching real zero-downtime deployment practice. Verify is the safety gate: it checks the shadow against a curated set of high-value 'golden queries' and only allows cutover if nothing regresses; if it fails, we roll back automatically and either retry with more budget or defer, never silently degrading production. And the whole loop runs autonomously, continuously, in our Live Sentry demo — polling every two to five seconds with zero manual intervention beyond the initial trigger.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5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2A56"/>
          </a:solidFill>
          <a:ln/>
        </p:spPr>
      </p:sp>
      <p:sp>
        <p:nvSpPr>
          <p:cNvPr id="3" name="Shape 1"/>
          <p:cNvSpPr/>
          <p:nvPr/>
        </p:nvSpPr>
        <p:spPr>
          <a:xfrm>
            <a:off x="8778240" y="-2011680"/>
            <a:ext cx="5943600" cy="5943600"/>
          </a:xfrm>
          <a:prstGeom prst="ellipse">
            <a:avLst/>
          </a:prstGeom>
          <a:solidFill>
            <a:srgbClr val="111B38"/>
          </a:solidFill>
          <a:ln/>
        </p:spPr>
      </p:sp>
      <p:sp>
        <p:nvSpPr>
          <p:cNvPr id="4" name="Shape 2"/>
          <p:cNvSpPr/>
          <p:nvPr/>
        </p:nvSpPr>
        <p:spPr>
          <a:xfrm>
            <a:off x="9692640" y="4206240"/>
            <a:ext cx="3840480" cy="3840480"/>
          </a:xfrm>
          <a:prstGeom prst="ellipse">
            <a:avLst/>
          </a:prstGeom>
          <a:solidFill>
            <a:srgbClr val="0E7C7B"/>
          </a:solidFill>
          <a:ln/>
        </p:spPr>
      </p:sp>
      <p:sp>
        <p:nvSpPr>
          <p:cNvPr id="5" name="Text 3"/>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spc="200" kern="0" dirty="0">
                <a:solidFill>
                  <a:srgbClr val="8CA0C8"/>
                </a:solidFill>
                <a:latin typeface="Calibri" pitchFamily="34" charset="0"/>
                <a:ea typeface="Calibri" pitchFamily="34" charset="-122"/>
                <a:cs typeface="Calibri" pitchFamily="34" charset="-120"/>
              </a:rPr>
              <a:t>KUMARAGURU COLLEGE OF TECHNOLOGY  •  KSI</a:t>
            </a:r>
            <a:endParaRPr lang="en-US" sz="1200" dirty="0"/>
          </a:p>
        </p:txBody>
      </p:sp>
      <p:sp>
        <p:nvSpPr>
          <p:cNvPr id="6" name="Text 4"/>
          <p:cNvSpPr txBox="1"/>
          <p:nvPr/>
        </p:nvSpPr>
        <p:spPr>
          <a:xfrm>
            <a:off x="640080" y="2331720"/>
            <a:ext cx="96012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VectorSentry</a:t>
            </a:r>
            <a:endParaRPr lang="en-US" sz="5400" dirty="0"/>
          </a:p>
        </p:txBody>
      </p:sp>
      <p:sp>
        <p:nvSpPr>
          <p:cNvPr id="7" name="Text 5"/>
          <p:cNvSpPr txBox="1"/>
          <p:nvPr/>
        </p:nvSpPr>
        <p:spPr>
          <a:xfrm>
            <a:off x="658368" y="3246120"/>
            <a:ext cx="9418320" cy="868680"/>
          </a:xfrm>
          <a:prstGeom prst="rect">
            <a:avLst/>
          </a:prstGeom>
          <a:noFill/>
          <a:ln/>
        </p:spPr>
        <p:txBody>
          <a:bodyPr wrap="square" lIns="0" tIns="0" rIns="0" bIns="0" rtlCol="0" anchor="ctr"/>
          <a:lstStyle/>
          <a:p>
            <a:pPr indent="0" marL="0">
              <a:lnSpc>
                <a:spcPct val="115000"/>
              </a:lnSpc>
              <a:buNone/>
            </a:pPr>
            <a:r>
              <a:rPr lang="en-US" sz="1900" dirty="0">
                <a:solidFill>
                  <a:srgbClr val="CFE0FA"/>
                </a:solidFill>
                <a:latin typeface="Calibri" pitchFamily="34" charset="0"/>
                <a:ea typeface="Calibri" pitchFamily="34" charset="-122"/>
                <a:cs typeface="Calibri" pitchFamily="34" charset="-120"/>
              </a:rPr>
              <a:t>Budget-Aware Prioritization for Mixed-Generation Embedding</a:t>
            </a:r>
            <a:endParaRPr lang="en-US" sz="1900" dirty="0"/>
          </a:p>
          <a:p>
            <a:pPr indent="0" marL="0">
              <a:lnSpc>
                <a:spcPct val="115000"/>
              </a:lnSpc>
              <a:buNone/>
            </a:pPr>
            <a:r>
              <a:rPr lang="en-US" sz="1900" dirty="0">
                <a:solidFill>
                  <a:srgbClr val="CFE0FA"/>
                </a:solidFill>
                <a:latin typeface="Calibri" pitchFamily="34" charset="0"/>
                <a:ea typeface="Calibri" pitchFamily="34" charset="-122"/>
                <a:cs typeface="Calibri" pitchFamily="34" charset="-120"/>
              </a:rPr>
              <a:t>Contamination in Production Vector Databases</a:t>
            </a:r>
            <a:endParaRPr lang="en-US" sz="1900" dirty="0"/>
          </a:p>
        </p:txBody>
      </p:sp>
      <p:sp>
        <p:nvSpPr>
          <p:cNvPr id="8" name="Shape 6"/>
          <p:cNvSpPr/>
          <p:nvPr/>
        </p:nvSpPr>
        <p:spPr>
          <a:xfrm>
            <a:off x="640080" y="4434840"/>
            <a:ext cx="7863840" cy="1417320"/>
          </a:xfrm>
          <a:prstGeom prst="roundRect">
            <a:avLst>
              <a:gd name="adj" fmla="val 5161"/>
            </a:avLst>
          </a:prstGeom>
          <a:solidFill>
            <a:srgbClr val="16224A"/>
          </a:solidFill>
          <a:ln/>
        </p:spPr>
      </p:sp>
      <p:sp>
        <p:nvSpPr>
          <p:cNvPr id="9" name="Text 7"/>
          <p:cNvSpPr txBox="1"/>
          <p:nvPr/>
        </p:nvSpPr>
        <p:spPr>
          <a:xfrm>
            <a:off x="868680" y="4617720"/>
            <a:ext cx="7406640" cy="1097280"/>
          </a:xfrm>
          <a:prstGeom prst="rect">
            <a:avLst/>
          </a:prstGeom>
          <a:noFill/>
          <a:ln/>
        </p:spPr>
        <p:txBody>
          <a:bodyPr wrap="square" lIns="0" tIns="0" rIns="0" bIns="0" rtlCol="0" anchor="ctr"/>
          <a:lstStyle/>
          <a:p>
            <a:pPr indent="0" marL="0">
              <a:lnSpc>
                <a:spcPct val="135000"/>
              </a:lnSpc>
              <a:buNone/>
            </a:pPr>
            <a:r>
              <a:rPr lang="en-US" sz="1350" b="1" dirty="0">
                <a:solidFill>
                  <a:srgbClr val="CFE0FA"/>
                </a:solidFill>
                <a:latin typeface="Calibri" pitchFamily="34" charset="0"/>
                <a:ea typeface="Calibri" pitchFamily="34" charset="-122"/>
                <a:cs typeface="Calibri" pitchFamily="34" charset="-120"/>
              </a:rPr>
              <a:t>Team Member(s): </a:t>
            </a:r>
            <a:pPr indent="0" marL="0">
              <a:lnSpc>
                <a:spcPct val="135000"/>
              </a:lnSpc>
              <a:buNone/>
            </a:pPr>
            <a:r>
              <a:rPr lang="en-US" sz="1350" dirty="0">
                <a:solidFill>
                  <a:srgbClr val="FFFFFF"/>
                </a:solidFill>
                <a:latin typeface="Calibri" pitchFamily="34" charset="0"/>
                <a:ea typeface="Calibri" pitchFamily="34" charset="-122"/>
                <a:cs typeface="Calibri" pitchFamily="34" charset="-120"/>
              </a:rPr>
              <a:t>[Full Name — Register No. — Department]  (add one line per member)
</a:t>
            </a:r>
            <a:pPr indent="0" marL="0">
              <a:lnSpc>
                <a:spcPct val="135000"/>
              </a:lnSpc>
              <a:buNone/>
            </a:pPr>
            <a:r>
              <a:rPr lang="en-US" sz="1350" b="1" dirty="0">
                <a:solidFill>
                  <a:srgbClr val="CFE0FA"/>
                </a:solidFill>
                <a:latin typeface="Calibri" pitchFamily="34" charset="0"/>
                <a:ea typeface="Calibri" pitchFamily="34" charset="-122"/>
                <a:cs typeface="Calibri" pitchFamily="34" charset="-120"/>
              </a:rPr>
              <a:t>Guide: </a:t>
            </a:r>
            <a:pPr indent="0" marL="0">
              <a:lnSpc>
                <a:spcPct val="135000"/>
              </a:lnSpc>
              <a:buNone/>
            </a:pPr>
            <a:r>
              <a:rPr lang="en-US" sz="1350" dirty="0">
                <a:solidFill>
                  <a:srgbClr val="FFFFFF"/>
                </a:solidFill>
                <a:latin typeface="Calibri" pitchFamily="34" charset="0"/>
                <a:ea typeface="Calibri" pitchFamily="34" charset="-122"/>
                <a:cs typeface="Calibri" pitchFamily="34" charset="-120"/>
              </a:rPr>
              <a:t>[Guide Name, Designation]
</a:t>
            </a:r>
            <a:pPr indent="0" marL="0">
              <a:lnSpc>
                <a:spcPct val="135000"/>
              </a:lnSpc>
              <a:buNone/>
            </a:pPr>
            <a:r>
              <a:rPr lang="en-US" sz="1350" b="1" dirty="0">
                <a:solidFill>
                  <a:srgbClr val="CFE0FA"/>
                </a:solidFill>
                <a:latin typeface="Calibri" pitchFamily="34" charset="0"/>
                <a:ea typeface="Calibri" pitchFamily="34" charset="-122"/>
                <a:cs typeface="Calibri" pitchFamily="34" charset="-120"/>
              </a:rPr>
              <a:t>Review Date: </a:t>
            </a:r>
            <a:pPr indent="0" marL="0">
              <a:lnSpc>
                <a:spcPct val="135000"/>
              </a:lnSpc>
              <a:buNone/>
            </a:pPr>
            <a:r>
              <a:rPr lang="en-US" sz="1350" dirty="0">
                <a:solidFill>
                  <a:srgbClr val="FFFFFF"/>
                </a:solidFill>
                <a:latin typeface="Calibri" pitchFamily="34" charset="0"/>
                <a:ea typeface="Calibri" pitchFamily="34" charset="-122"/>
                <a:cs typeface="Calibri" pitchFamily="34" charset="-120"/>
              </a:rPr>
              <a:t>24 August 2026   |   UG Capstone Projects (2026-27) — Phase I, Review I</a:t>
            </a:r>
            <a:endParaRPr lang="en-US" sz="1350" dirty="0"/>
          </a:p>
        </p:txBody>
      </p:sp>
      <p:sp>
        <p:nvSpPr>
          <p:cNvPr id="10" name="Text 8"/>
          <p:cNvSpPr txBox="1"/>
          <p:nvPr/>
        </p:nvSpPr>
        <p:spPr>
          <a:xfrm>
            <a:off x="640080" y="5989320"/>
            <a:ext cx="7772400" cy="274320"/>
          </a:xfrm>
          <a:prstGeom prst="rect">
            <a:avLst/>
          </a:prstGeom>
          <a:noFill/>
          <a:ln/>
        </p:spPr>
        <p:txBody>
          <a:bodyPr wrap="square" lIns="0" tIns="0" rIns="0" bIns="0" rtlCol="0" anchor="ctr"/>
          <a:lstStyle/>
          <a:p>
            <a:pPr indent="0" marL="0">
              <a:buNone/>
            </a:pPr>
            <a:r>
              <a:rPr lang="en-US" sz="1050" i="1" dirty="0">
                <a:solidFill>
                  <a:srgbClr val="C97A22"/>
                </a:solidFill>
                <a:latin typeface="Calibri" pitchFamily="34" charset="0"/>
                <a:ea typeface="Calibri" pitchFamily="34" charset="-122"/>
                <a:cs typeface="Calibri" pitchFamily="34" charset="-120"/>
              </a:rPr>
              <a:t>Fields in brackets must be completed before presenting — see final checklist.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RESEARCH  ·  PROBLEM IDENTIFICATION (10 MARKS)</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Problem Statement</a:t>
            </a:r>
            <a:endParaRPr lang="en-US" sz="3200" dirty="0"/>
          </a:p>
        </p:txBody>
      </p:sp>
      <p:sp>
        <p:nvSpPr>
          <p:cNvPr id="4" name="Text 2"/>
          <p:cNvSpPr txBox="1"/>
          <p:nvPr/>
        </p:nvSpPr>
        <p:spPr>
          <a:xfrm>
            <a:off x="548640" y="1508760"/>
            <a:ext cx="6035040" cy="1188720"/>
          </a:xfrm>
          <a:prstGeom prst="rect">
            <a:avLst/>
          </a:prstGeom>
          <a:noFill/>
          <a:ln/>
        </p:spPr>
        <p:txBody>
          <a:bodyPr wrap="square" lIns="0" tIns="0" rIns="0" bIns="0" rtlCol="0" anchor="ctr"/>
          <a:lstStyle/>
          <a:p>
            <a:pPr indent="0" marL="0">
              <a:lnSpc>
                <a:spcPct val="125000"/>
              </a:lnSpc>
              <a:buNone/>
            </a:pPr>
            <a:r>
              <a:rPr lang="en-US" sz="1450" dirty="0">
                <a:solidFill>
                  <a:srgbClr val="20242E"/>
                </a:solidFill>
                <a:latin typeface="Calibri" pitchFamily="34" charset="0"/>
                <a:ea typeface="Calibri" pitchFamily="34" charset="-122"/>
                <a:cs typeface="Calibri" pitchFamily="34" charset="-120"/>
              </a:rPr>
              <a:t>Production vector databases silently degrade in retrieval quality when a subset of documents is re-embedded by a different generation of the embedding model than the rest of the corpus — after a provider update, a model migration, or an incomplete backfill.</a:t>
            </a:r>
            <a:endParaRPr lang="en-US" sz="1450" dirty="0"/>
          </a:p>
        </p:txBody>
      </p:sp>
      <p:sp>
        <p:nvSpPr>
          <p:cNvPr id="5" name="Shape 3"/>
          <p:cNvSpPr/>
          <p:nvPr/>
        </p:nvSpPr>
        <p:spPr>
          <a:xfrm>
            <a:off x="548640" y="2788920"/>
            <a:ext cx="6035040" cy="960120"/>
          </a:xfrm>
          <a:prstGeom prst="roundRect">
            <a:avLst>
              <a:gd name="adj" fmla="val 7619"/>
            </a:avLst>
          </a:prstGeom>
          <a:solidFill>
            <a:srgbClr val="F4F7FC"/>
          </a:solidFill>
          <a:ln/>
          <a:effectLst>
            <a:outerShdw sx="100000" sy="100000" kx="0" ky="0" algn="bl" rotWithShape="0" blurRad="101600" dist="38100" dir="5400000">
              <a:srgbClr val="1B2A56">
                <a:alpha val="12000"/>
              </a:srgbClr>
            </a:outerShdw>
          </a:effectLst>
        </p:spPr>
      </p:sp>
      <p:sp>
        <p:nvSpPr>
          <p:cNvPr id="6" name="Text 4"/>
          <p:cNvSpPr txBox="1"/>
          <p:nvPr/>
        </p:nvSpPr>
        <p:spPr>
          <a:xfrm>
            <a:off x="731520" y="2880360"/>
            <a:ext cx="5669280" cy="274320"/>
          </a:xfrm>
          <a:prstGeom prst="rect">
            <a:avLst/>
          </a:prstGeom>
          <a:noFill/>
          <a:ln/>
        </p:spPr>
        <p:txBody>
          <a:bodyPr wrap="square" lIns="0" tIns="0" rIns="0" bIns="0" rtlCol="0" anchor="ctr"/>
          <a:lstStyle/>
          <a:p>
            <a:pPr indent="0" marL="0">
              <a:buNone/>
            </a:pPr>
            <a:r>
              <a:rPr lang="en-US" sz="1250" b="1" dirty="0">
                <a:solidFill>
                  <a:srgbClr val="0E7C7B"/>
                </a:solidFill>
                <a:latin typeface="Calibri" pitchFamily="34" charset="0"/>
                <a:ea typeface="Calibri" pitchFamily="34" charset="-122"/>
                <a:cs typeface="Calibri" pitchFamily="34" charset="-120"/>
              </a:rPr>
              <a:t>Root cause</a:t>
            </a:r>
            <a:endParaRPr lang="en-US" sz="1250" dirty="0"/>
          </a:p>
        </p:txBody>
      </p:sp>
      <p:sp>
        <p:nvSpPr>
          <p:cNvPr id="7" name="Text 5"/>
          <p:cNvSpPr txBox="1"/>
          <p:nvPr/>
        </p:nvSpPr>
        <p:spPr>
          <a:xfrm>
            <a:off x="731520" y="3172968"/>
            <a:ext cx="5669280" cy="530352"/>
          </a:xfrm>
          <a:prstGeom prst="rect">
            <a:avLst/>
          </a:prstGeom>
          <a:noFill/>
          <a:ln/>
        </p:spPr>
        <p:txBody>
          <a:bodyPr wrap="square" lIns="0" tIns="0" rIns="0" bIns="0" rtlCol="0" anchor="ctr"/>
          <a:lstStyle/>
          <a:p>
            <a:pPr indent="0" marL="0">
              <a:lnSpc>
                <a:spcPct val="115000"/>
              </a:lnSpc>
              <a:buNone/>
            </a:pPr>
            <a:r>
              <a:rPr lang="en-US" sz="1150" dirty="0">
                <a:solidFill>
                  <a:srgbClr val="20242E"/>
                </a:solidFill>
                <a:latin typeface="Calibri" pitchFamily="34" charset="0"/>
                <a:ea typeface="Calibri" pitchFamily="34" charset="-122"/>
                <a:cs typeface="Calibri" pitchFamily="34" charset="-120"/>
              </a:rPr>
              <a:t>Cosine similarity is not comparable across embedding-model generations — each model's outputs occupy a different geometry.</a:t>
            </a:r>
            <a:endParaRPr lang="en-US" sz="1150" dirty="0"/>
          </a:p>
        </p:txBody>
      </p:sp>
      <p:sp>
        <p:nvSpPr>
          <p:cNvPr id="8" name="Shape 6"/>
          <p:cNvSpPr/>
          <p:nvPr/>
        </p:nvSpPr>
        <p:spPr>
          <a:xfrm>
            <a:off x="548640" y="3867912"/>
            <a:ext cx="6035040" cy="960120"/>
          </a:xfrm>
          <a:prstGeom prst="roundRect">
            <a:avLst>
              <a:gd name="adj" fmla="val 7619"/>
            </a:avLst>
          </a:prstGeom>
          <a:solidFill>
            <a:srgbClr val="F4F7FC"/>
          </a:solidFill>
          <a:ln/>
          <a:effectLst>
            <a:outerShdw sx="100000" sy="100000" kx="0" ky="0" algn="bl" rotWithShape="0" blurRad="101600" dist="38100" dir="5400000">
              <a:srgbClr val="1B2A56">
                <a:alpha val="12000"/>
              </a:srgbClr>
            </a:outerShdw>
          </a:effectLst>
        </p:spPr>
      </p:sp>
      <p:sp>
        <p:nvSpPr>
          <p:cNvPr id="9" name="Text 7"/>
          <p:cNvSpPr txBox="1"/>
          <p:nvPr/>
        </p:nvSpPr>
        <p:spPr>
          <a:xfrm>
            <a:off x="731520" y="3959352"/>
            <a:ext cx="5669280" cy="274320"/>
          </a:xfrm>
          <a:prstGeom prst="rect">
            <a:avLst/>
          </a:prstGeom>
          <a:noFill/>
          <a:ln/>
        </p:spPr>
        <p:txBody>
          <a:bodyPr wrap="square" lIns="0" tIns="0" rIns="0" bIns="0" rtlCol="0" anchor="ctr"/>
          <a:lstStyle/>
          <a:p>
            <a:pPr indent="0" marL="0">
              <a:buNone/>
            </a:pPr>
            <a:r>
              <a:rPr lang="en-US" sz="1250" b="1" dirty="0">
                <a:solidFill>
                  <a:srgbClr val="0E7C7B"/>
                </a:solidFill>
                <a:latin typeface="Calibri" pitchFamily="34" charset="0"/>
                <a:ea typeface="Calibri" pitchFamily="34" charset="-122"/>
                <a:cs typeface="Calibri" pitchFamily="34" charset="-120"/>
              </a:rPr>
              <a:t>Why it's silent</a:t>
            </a:r>
            <a:endParaRPr lang="en-US" sz="1250" dirty="0"/>
          </a:p>
        </p:txBody>
      </p:sp>
      <p:sp>
        <p:nvSpPr>
          <p:cNvPr id="10" name="Text 8"/>
          <p:cNvSpPr txBox="1"/>
          <p:nvPr/>
        </p:nvSpPr>
        <p:spPr>
          <a:xfrm>
            <a:off x="731520" y="4251960"/>
            <a:ext cx="5669280" cy="530352"/>
          </a:xfrm>
          <a:prstGeom prst="rect">
            <a:avLst/>
          </a:prstGeom>
          <a:noFill/>
          <a:ln/>
        </p:spPr>
        <p:txBody>
          <a:bodyPr wrap="square" lIns="0" tIns="0" rIns="0" bIns="0" rtlCol="0" anchor="ctr"/>
          <a:lstStyle/>
          <a:p>
            <a:pPr indent="0" marL="0">
              <a:lnSpc>
                <a:spcPct val="115000"/>
              </a:lnSpc>
              <a:buNone/>
            </a:pPr>
            <a:r>
              <a:rPr lang="en-US" sz="1150" dirty="0">
                <a:solidFill>
                  <a:srgbClr val="20242E"/>
                </a:solidFill>
                <a:latin typeface="Calibri" pitchFamily="34" charset="0"/>
                <a:ea typeface="Calibri" pitchFamily="34" charset="-122"/>
                <a:cs typeface="Calibri" pitchFamily="34" charset="-120"/>
              </a:rPr>
              <a:t>No exception is thrown. The index still returns k results; only relevance quietly worsens.</a:t>
            </a:r>
            <a:endParaRPr lang="en-US" sz="1150" dirty="0"/>
          </a:p>
        </p:txBody>
      </p:sp>
      <p:sp>
        <p:nvSpPr>
          <p:cNvPr id="11" name="Shape 9"/>
          <p:cNvSpPr/>
          <p:nvPr/>
        </p:nvSpPr>
        <p:spPr>
          <a:xfrm>
            <a:off x="548640" y="4946904"/>
            <a:ext cx="6035040" cy="960120"/>
          </a:xfrm>
          <a:prstGeom prst="roundRect">
            <a:avLst>
              <a:gd name="adj" fmla="val 7619"/>
            </a:avLst>
          </a:prstGeom>
          <a:solidFill>
            <a:srgbClr val="F4F7FC"/>
          </a:solidFill>
          <a:ln/>
          <a:effectLst>
            <a:outerShdw sx="100000" sy="100000" kx="0" ky="0" algn="bl" rotWithShape="0" blurRad="101600" dist="38100" dir="5400000">
              <a:srgbClr val="1B2A56">
                <a:alpha val="12000"/>
              </a:srgbClr>
            </a:outerShdw>
          </a:effectLst>
        </p:spPr>
      </p:sp>
      <p:sp>
        <p:nvSpPr>
          <p:cNvPr id="12" name="Text 10"/>
          <p:cNvSpPr txBox="1"/>
          <p:nvPr/>
        </p:nvSpPr>
        <p:spPr>
          <a:xfrm>
            <a:off x="731520" y="5038344"/>
            <a:ext cx="5669280" cy="274320"/>
          </a:xfrm>
          <a:prstGeom prst="rect">
            <a:avLst/>
          </a:prstGeom>
          <a:noFill/>
          <a:ln/>
        </p:spPr>
        <p:txBody>
          <a:bodyPr wrap="square" lIns="0" tIns="0" rIns="0" bIns="0" rtlCol="0" anchor="ctr"/>
          <a:lstStyle/>
          <a:p>
            <a:pPr indent="0" marL="0">
              <a:buNone/>
            </a:pPr>
            <a:r>
              <a:rPr lang="en-US" sz="1250" b="1" dirty="0">
                <a:solidFill>
                  <a:srgbClr val="0E7C7B"/>
                </a:solidFill>
                <a:latin typeface="Calibri" pitchFamily="34" charset="0"/>
                <a:ea typeface="Calibri" pitchFamily="34" charset="-122"/>
                <a:cs typeface="Calibri" pitchFamily="34" charset="-120"/>
              </a:rPr>
              <a:t>Documented in industry</a:t>
            </a:r>
            <a:endParaRPr lang="en-US" sz="1250" dirty="0"/>
          </a:p>
        </p:txBody>
      </p:sp>
      <p:sp>
        <p:nvSpPr>
          <p:cNvPr id="13" name="Text 11"/>
          <p:cNvSpPr txBox="1"/>
          <p:nvPr/>
        </p:nvSpPr>
        <p:spPr>
          <a:xfrm>
            <a:off x="731520" y="5330952"/>
            <a:ext cx="5669280" cy="530352"/>
          </a:xfrm>
          <a:prstGeom prst="rect">
            <a:avLst/>
          </a:prstGeom>
          <a:noFill/>
          <a:ln/>
        </p:spPr>
        <p:txBody>
          <a:bodyPr wrap="square" lIns="0" tIns="0" rIns="0" bIns="0" rtlCol="0" anchor="ctr"/>
          <a:lstStyle/>
          <a:p>
            <a:pPr indent="0" marL="0">
              <a:lnSpc>
                <a:spcPct val="115000"/>
              </a:lnSpc>
              <a:buNone/>
            </a:pPr>
            <a:r>
              <a:rPr lang="en-US" sz="1150" dirty="0">
                <a:solidFill>
                  <a:srgbClr val="20242E"/>
                </a:solidFill>
                <a:latin typeface="Calibri" pitchFamily="34" charset="0"/>
                <a:ea typeface="Calibri" pitchFamily="34" charset="-122"/>
                <a:cs typeface="Calibri" pitchFamily="34" charset="-120"/>
              </a:rPr>
              <a:t>OpenAI updated text-embedding-ada-002 multiple times through 2023; Cohere's embed-v3 differs internally from embed-v2 — teams re-embed piecemeal, creating exactly this mix.</a:t>
            </a:r>
            <a:endParaRPr lang="en-US" sz="1150" dirty="0"/>
          </a:p>
        </p:txBody>
      </p:sp>
      <p:sp>
        <p:nvSpPr>
          <p:cNvPr id="14" name="Shape 12"/>
          <p:cNvSpPr/>
          <p:nvPr/>
        </p:nvSpPr>
        <p:spPr>
          <a:xfrm>
            <a:off x="6903720" y="1508760"/>
            <a:ext cx="4754880" cy="4480560"/>
          </a:xfrm>
          <a:prstGeom prst="roundRect">
            <a:avLst>
              <a:gd name="adj" fmla="val 1633"/>
            </a:avLst>
          </a:prstGeom>
          <a:solidFill>
            <a:srgbClr val="1B2A56"/>
          </a:solidFill>
          <a:ln/>
        </p:spPr>
      </p:sp>
      <p:sp>
        <p:nvSpPr>
          <p:cNvPr id="15" name="Text 13"/>
          <p:cNvSpPr txBox="1"/>
          <p:nvPr/>
        </p:nvSpPr>
        <p:spPr>
          <a:xfrm>
            <a:off x="7178040" y="1737360"/>
            <a:ext cx="4206240" cy="274320"/>
          </a:xfrm>
          <a:prstGeom prst="rect">
            <a:avLst/>
          </a:prstGeom>
          <a:noFill/>
          <a:ln/>
        </p:spPr>
        <p:txBody>
          <a:bodyPr wrap="square" lIns="0" tIns="0" rIns="0" bIns="0" rtlCol="0" anchor="ctr"/>
          <a:lstStyle/>
          <a:p>
            <a:pPr indent="0" marL="0">
              <a:buNone/>
            </a:pPr>
            <a:r>
              <a:rPr lang="en-US" sz="1100" b="1" spc="150" kern="0" dirty="0">
                <a:solidFill>
                  <a:srgbClr val="CFE0FA"/>
                </a:solidFill>
                <a:latin typeface="Calibri" pitchFamily="34" charset="0"/>
                <a:ea typeface="Calibri" pitchFamily="34" charset="-122"/>
                <a:cs typeface="Calibri" pitchFamily="34" charset="-120"/>
              </a:rPr>
              <a:t>MEASURED, NOT HYPOTHETICAL</a:t>
            </a:r>
            <a:endParaRPr lang="en-US" sz="1100" dirty="0"/>
          </a:p>
        </p:txBody>
      </p:sp>
      <p:sp>
        <p:nvSpPr>
          <p:cNvPr id="16" name="Text 14"/>
          <p:cNvSpPr txBox="1"/>
          <p:nvPr/>
        </p:nvSpPr>
        <p:spPr>
          <a:xfrm>
            <a:off x="7178040" y="2057400"/>
            <a:ext cx="4206240" cy="548640"/>
          </a:xfrm>
          <a:prstGeom prst="rect">
            <a:avLst/>
          </a:prstGeom>
          <a:noFill/>
          <a:ln/>
        </p:spPr>
        <p:txBody>
          <a:bodyPr wrap="square" lIns="0" tIns="0" rIns="0" bIns="0" rtlCol="0" anchor="ctr"/>
          <a:lstStyle/>
          <a:p>
            <a:pPr indent="0" marL="0">
              <a:lnSpc>
                <a:spcPct val="120000"/>
              </a:lnSpc>
              <a:buNone/>
            </a:pPr>
            <a:r>
              <a:rPr lang="en-US" sz="1200" dirty="0">
                <a:solidFill>
                  <a:srgbClr val="CFE0FA"/>
                </a:solidFill>
                <a:latin typeface="Calibri" pitchFamily="34" charset="0"/>
                <a:ea typeface="Calibri" pitchFamily="34" charset="-122"/>
                <a:cs typeface="Calibri" pitchFamily="34" charset="-120"/>
              </a:rPr>
              <a:t>nDCG@10 retrieval quality, on our own 5,000-document benchmark, as contamination rises:</a:t>
            </a:r>
            <a:endParaRPr lang="en-US" sz="1200" dirty="0"/>
          </a:p>
        </p:txBody>
      </p:sp>
      <p:sp>
        <p:nvSpPr>
          <p:cNvPr id="17" name="Text 15"/>
          <p:cNvSpPr txBox="1"/>
          <p:nvPr/>
        </p:nvSpPr>
        <p:spPr>
          <a:xfrm>
            <a:off x="7178040" y="2743200"/>
            <a:ext cx="1371600" cy="320040"/>
          </a:xfrm>
          <a:prstGeom prst="rect">
            <a:avLst/>
          </a:prstGeom>
          <a:noFill/>
          <a:ln/>
        </p:spPr>
        <p:txBody>
          <a:bodyPr wrap="square" lIns="0" tIns="0" rIns="0" bIns="0" rtlCol="0" anchor="ctr"/>
          <a:lstStyle/>
          <a:p>
            <a:pPr indent="0" marL="0">
              <a:buNone/>
            </a:pPr>
            <a:r>
              <a:rPr lang="en-US" sz="1300" dirty="0">
                <a:solidFill>
                  <a:srgbClr val="8CA0C8"/>
                </a:solidFill>
                <a:latin typeface="Calibri" pitchFamily="34" charset="0"/>
                <a:ea typeface="Calibri" pitchFamily="34" charset="-122"/>
                <a:cs typeface="Calibri" pitchFamily="34" charset="-120"/>
              </a:rPr>
              <a:t>0%</a:t>
            </a:r>
            <a:endParaRPr lang="en-US" sz="1300" dirty="0"/>
          </a:p>
        </p:txBody>
      </p:sp>
      <p:sp>
        <p:nvSpPr>
          <p:cNvPr id="18" name="Text 16"/>
          <p:cNvSpPr txBox="1"/>
          <p:nvPr/>
        </p:nvSpPr>
        <p:spPr>
          <a:xfrm>
            <a:off x="7178040" y="3035808"/>
            <a:ext cx="1371600" cy="640080"/>
          </a:xfrm>
          <a:prstGeom prst="rect">
            <a:avLst/>
          </a:prstGeom>
          <a:noFill/>
          <a:ln/>
        </p:spPr>
        <p:txBody>
          <a:bodyPr wrap="square" lIns="0" tIns="0" rIns="0" bIns="0" rtlCol="0" anchor="ctr"/>
          <a:lstStyle/>
          <a:p>
            <a:pPr indent="0" marL="0">
              <a:buNone/>
            </a:pPr>
            <a:r>
              <a:rPr lang="en-US" sz="3000" b="1" dirty="0">
                <a:solidFill>
                  <a:srgbClr val="1E824C"/>
                </a:solidFill>
                <a:latin typeface="Cambria" pitchFamily="34" charset="0"/>
                <a:ea typeface="Cambria" pitchFamily="34" charset="-122"/>
                <a:cs typeface="Cambria" pitchFamily="34" charset="-120"/>
              </a:rPr>
              <a:t>0.652</a:t>
            </a:r>
            <a:endParaRPr lang="en-US" sz="3000" dirty="0"/>
          </a:p>
        </p:txBody>
      </p:sp>
      <p:sp>
        <p:nvSpPr>
          <p:cNvPr id="19" name="Text 17"/>
          <p:cNvSpPr txBox="1"/>
          <p:nvPr/>
        </p:nvSpPr>
        <p:spPr>
          <a:xfrm>
            <a:off x="8549640" y="2743200"/>
            <a:ext cx="1371600" cy="320040"/>
          </a:xfrm>
          <a:prstGeom prst="rect">
            <a:avLst/>
          </a:prstGeom>
          <a:noFill/>
          <a:ln/>
        </p:spPr>
        <p:txBody>
          <a:bodyPr wrap="square" lIns="0" tIns="0" rIns="0" bIns="0" rtlCol="0" anchor="ctr"/>
          <a:lstStyle/>
          <a:p>
            <a:pPr indent="0" marL="0">
              <a:buNone/>
            </a:pPr>
            <a:r>
              <a:rPr lang="en-US" sz="1300" dirty="0">
                <a:solidFill>
                  <a:srgbClr val="8CA0C8"/>
                </a:solidFill>
                <a:latin typeface="Calibri" pitchFamily="34" charset="0"/>
                <a:ea typeface="Calibri" pitchFamily="34" charset="-122"/>
                <a:cs typeface="Calibri" pitchFamily="34" charset="-120"/>
              </a:rPr>
              <a:t>20%</a:t>
            </a:r>
            <a:endParaRPr lang="en-US" sz="1300" dirty="0"/>
          </a:p>
        </p:txBody>
      </p:sp>
      <p:sp>
        <p:nvSpPr>
          <p:cNvPr id="20" name="Text 18"/>
          <p:cNvSpPr txBox="1"/>
          <p:nvPr/>
        </p:nvSpPr>
        <p:spPr>
          <a:xfrm>
            <a:off x="8549640" y="3035808"/>
            <a:ext cx="1371600" cy="640080"/>
          </a:xfrm>
          <a:prstGeom prst="rect">
            <a:avLst/>
          </a:prstGeom>
          <a:noFill/>
          <a:ln/>
        </p:spPr>
        <p:txBody>
          <a:bodyPr wrap="square" lIns="0" tIns="0" rIns="0" bIns="0" rtlCol="0" anchor="ctr"/>
          <a:lstStyle/>
          <a:p>
            <a:pPr indent="0" marL="0">
              <a:buNone/>
            </a:pPr>
            <a:r>
              <a:rPr lang="en-US" sz="3000" b="1" dirty="0">
                <a:solidFill>
                  <a:srgbClr val="C97A22"/>
                </a:solidFill>
                <a:latin typeface="Cambria" pitchFamily="34" charset="0"/>
                <a:ea typeface="Cambria" pitchFamily="34" charset="-122"/>
                <a:cs typeface="Cambria" pitchFamily="34" charset="-120"/>
              </a:rPr>
              <a:t>0.530</a:t>
            </a:r>
            <a:endParaRPr lang="en-US" sz="3000" dirty="0"/>
          </a:p>
        </p:txBody>
      </p:sp>
      <p:sp>
        <p:nvSpPr>
          <p:cNvPr id="21" name="Text 19"/>
          <p:cNvSpPr txBox="1"/>
          <p:nvPr/>
        </p:nvSpPr>
        <p:spPr>
          <a:xfrm>
            <a:off x="9921240" y="2743200"/>
            <a:ext cx="1371600" cy="320040"/>
          </a:xfrm>
          <a:prstGeom prst="rect">
            <a:avLst/>
          </a:prstGeom>
          <a:noFill/>
          <a:ln/>
        </p:spPr>
        <p:txBody>
          <a:bodyPr wrap="square" lIns="0" tIns="0" rIns="0" bIns="0" rtlCol="0" anchor="ctr"/>
          <a:lstStyle/>
          <a:p>
            <a:pPr indent="0" marL="0">
              <a:buNone/>
            </a:pPr>
            <a:r>
              <a:rPr lang="en-US" sz="1300" dirty="0">
                <a:solidFill>
                  <a:srgbClr val="8CA0C8"/>
                </a:solidFill>
                <a:latin typeface="Calibri" pitchFamily="34" charset="0"/>
                <a:ea typeface="Calibri" pitchFamily="34" charset="-122"/>
                <a:cs typeface="Calibri" pitchFamily="34" charset="-120"/>
              </a:rPr>
              <a:t>50%</a:t>
            </a:r>
            <a:endParaRPr lang="en-US" sz="1300" dirty="0"/>
          </a:p>
        </p:txBody>
      </p:sp>
      <p:sp>
        <p:nvSpPr>
          <p:cNvPr id="22" name="Text 20"/>
          <p:cNvSpPr txBox="1"/>
          <p:nvPr/>
        </p:nvSpPr>
        <p:spPr>
          <a:xfrm>
            <a:off x="9921240" y="3035808"/>
            <a:ext cx="1371600" cy="640080"/>
          </a:xfrm>
          <a:prstGeom prst="rect">
            <a:avLst/>
          </a:prstGeom>
          <a:noFill/>
          <a:ln/>
        </p:spPr>
        <p:txBody>
          <a:bodyPr wrap="square" lIns="0" tIns="0" rIns="0" bIns="0" rtlCol="0" anchor="ctr"/>
          <a:lstStyle/>
          <a:p>
            <a:pPr indent="0" marL="0">
              <a:buNone/>
            </a:pPr>
            <a:r>
              <a:rPr lang="en-US" sz="3000" b="1" dirty="0">
                <a:solidFill>
                  <a:srgbClr val="B3261E"/>
                </a:solidFill>
                <a:latin typeface="Cambria" pitchFamily="34" charset="0"/>
                <a:ea typeface="Cambria" pitchFamily="34" charset="-122"/>
                <a:cs typeface="Cambria" pitchFamily="34" charset="-120"/>
              </a:rPr>
              <a:t>0.398</a:t>
            </a:r>
            <a:endParaRPr lang="en-US" sz="3000" dirty="0"/>
          </a:p>
        </p:txBody>
      </p:sp>
      <p:sp>
        <p:nvSpPr>
          <p:cNvPr id="23" name="Text 21"/>
          <p:cNvSpPr txBox="1"/>
          <p:nvPr/>
        </p:nvSpPr>
        <p:spPr>
          <a:xfrm>
            <a:off x="7178040" y="3703320"/>
            <a:ext cx="4206240" cy="274320"/>
          </a:xfrm>
          <a:prstGeom prst="rect">
            <a:avLst/>
          </a:prstGeom>
          <a:noFill/>
          <a:ln/>
        </p:spPr>
        <p:txBody>
          <a:bodyPr wrap="square" lIns="0" tIns="0" rIns="0" bIns="0" rtlCol="0" anchor="ctr"/>
          <a:lstStyle/>
          <a:p>
            <a:pPr indent="0" marL="0">
              <a:buNone/>
            </a:pPr>
            <a:r>
              <a:rPr lang="en-US" sz="1000" i="1" dirty="0">
                <a:solidFill>
                  <a:srgbClr val="8CA0C8"/>
                </a:solidFill>
                <a:latin typeface="Calibri" pitchFamily="34" charset="0"/>
                <a:ea typeface="Calibri" pitchFamily="34" charset="-122"/>
                <a:cs typeface="Calibri" pitchFamily="34" charset="-120"/>
              </a:rPr>
              <a:t>contamination ratio → nDCG@10 (higher = better)</a:t>
            </a:r>
            <a:endParaRPr lang="en-US" sz="1000" dirty="0"/>
          </a:p>
        </p:txBody>
      </p:sp>
      <p:sp>
        <p:nvSpPr>
          <p:cNvPr id="24" name="Shape 22"/>
          <p:cNvSpPr/>
          <p:nvPr/>
        </p:nvSpPr>
        <p:spPr>
          <a:xfrm>
            <a:off x="7178040" y="4114800"/>
            <a:ext cx="4206240" cy="0"/>
          </a:xfrm>
          <a:prstGeom prst="line">
            <a:avLst/>
          </a:prstGeom>
          <a:noFill/>
          <a:ln w="12700">
            <a:solidFill>
              <a:srgbClr val="33447A"/>
            </a:solidFill>
            <a:prstDash val="solid"/>
          </a:ln>
        </p:spPr>
      </p:sp>
      <p:sp>
        <p:nvSpPr>
          <p:cNvPr id="25" name="Text 23"/>
          <p:cNvSpPr txBox="1"/>
          <p:nvPr/>
        </p:nvSpPr>
        <p:spPr>
          <a:xfrm>
            <a:off x="7178040" y="4343400"/>
            <a:ext cx="4206240" cy="822960"/>
          </a:xfrm>
          <a:prstGeom prst="rect">
            <a:avLst/>
          </a:prstGeom>
          <a:noFill/>
          <a:ln/>
        </p:spPr>
        <p:txBody>
          <a:bodyPr wrap="square" lIns="0" tIns="0" rIns="0" bIns="0" rtlCol="0" anchor="ctr"/>
          <a:lstStyle/>
          <a:p>
            <a:pPr indent="0" marL="0">
              <a:lnSpc>
                <a:spcPct val="120000"/>
              </a:lnSpc>
              <a:buNone/>
            </a:pPr>
            <a:r>
              <a:rPr lang="en-US" sz="2000" b="1" dirty="0">
                <a:solidFill>
                  <a:srgbClr val="FFFFFF"/>
                </a:solidFill>
                <a:latin typeface="Calibri" pitchFamily="34" charset="0"/>
                <a:ea typeface="Calibri" pitchFamily="34" charset="-122"/>
                <a:cs typeface="Calibri" pitchFamily="34" charset="-120"/>
              </a:rPr>
              <a:t>27.5%</a:t>
            </a:r>
            <a:pPr indent="0" marL="0">
              <a:lnSpc>
                <a:spcPct val="120000"/>
              </a:lnSpc>
              <a:buNone/>
            </a:pPr>
            <a:r>
              <a:rPr lang="en-US" sz="1250" dirty="0">
                <a:solidFill>
                  <a:srgbClr val="CFE0FA"/>
                </a:solidFill>
                <a:latin typeface="Calibri" pitchFamily="34" charset="0"/>
                <a:ea typeface="Calibri" pitchFamily="34" charset="-122"/>
                <a:cs typeface="Calibri" pitchFamily="34" charset="-120"/>
              </a:rPr>
              <a:t>  relative nDCG@10 drop from 0% → 50% contamination, with no error ever thrown.</a:t>
            </a:r>
            <a:endParaRPr lang="en-US" sz="2000" dirty="0"/>
          </a:p>
        </p:txBody>
      </p:sp>
      <p:sp>
        <p:nvSpPr>
          <p:cNvPr id="26" name="Text 24"/>
          <p:cNvSpPr txBox="1"/>
          <p:nvPr/>
        </p:nvSpPr>
        <p:spPr>
          <a:xfrm>
            <a:off x="7178040" y="5257800"/>
            <a:ext cx="4206240" cy="640080"/>
          </a:xfrm>
          <a:prstGeom prst="rect">
            <a:avLst/>
          </a:prstGeom>
          <a:noFill/>
          <a:ln/>
        </p:spPr>
        <p:txBody>
          <a:bodyPr wrap="square" lIns="0" tIns="0" rIns="0" bIns="0" rtlCol="0" anchor="ctr"/>
          <a:lstStyle/>
          <a:p>
            <a:pPr indent="0" marL="0">
              <a:lnSpc>
                <a:spcPct val="120000"/>
              </a:lnSpc>
              <a:buNone/>
            </a:pPr>
            <a:r>
              <a:rPr lang="en-US" sz="1050" i="1" dirty="0">
                <a:solidFill>
                  <a:srgbClr val="8CA0C8"/>
                </a:solidFill>
                <a:latin typeface="Calibri" pitchFamily="34" charset="0"/>
                <a:ea typeface="Calibri" pitchFamily="34" charset="-122"/>
                <a:cs typeface="Calibri" pitchFamily="34" charset="-120"/>
              </a:rPr>
              <a:t>A genuine engineering problem, fully articulated with root cause, mechanism, and quantified impact on our own working benchmark — not assumed or generic.</a:t>
            </a:r>
            <a:endParaRPr lang="en-US" sz="1050" dirty="0"/>
          </a:p>
        </p:txBody>
      </p:sp>
      <p:sp>
        <p:nvSpPr>
          <p:cNvPr id="27" name="Text 25"/>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a:t>
            </a:r>
            <a:endParaRPr lang="en-US" sz="900" dirty="0"/>
          </a:p>
        </p:txBody>
      </p:sp>
      <p:sp>
        <p:nvSpPr>
          <p:cNvPr id="28" name="Text 26"/>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RESEARCH  ·  OBJECTIVES (10 MARKS)</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Objectives &amp; Scope</a:t>
            </a:r>
            <a:endParaRPr lang="en-US" sz="3200" dirty="0"/>
          </a:p>
        </p:txBody>
      </p:sp>
      <p:sp>
        <p:nvSpPr>
          <p:cNvPr id="4" name="Shape 2"/>
          <p:cNvSpPr/>
          <p:nvPr/>
        </p:nvSpPr>
        <p:spPr>
          <a:xfrm>
            <a:off x="548640" y="1508760"/>
            <a:ext cx="11064240" cy="1078992"/>
          </a:xfrm>
          <a:prstGeom prst="roundRect">
            <a:avLst>
              <a:gd name="adj" fmla="val 6780"/>
            </a:avLst>
          </a:prstGeom>
          <a:solidFill>
            <a:srgbClr val="F4F7FC"/>
          </a:solidFill>
          <a:ln/>
          <a:effectLst>
            <a:outerShdw sx="100000" sy="100000" kx="0" ky="0" algn="bl" rotWithShape="0" blurRad="101600" dist="38100" dir="5400000">
              <a:srgbClr val="1B2A56">
                <a:alpha val="12000"/>
              </a:srgbClr>
            </a:outerShdw>
          </a:effectLst>
        </p:spPr>
      </p:sp>
      <p:sp>
        <p:nvSpPr>
          <p:cNvPr id="5" name="Shape 3"/>
          <p:cNvSpPr/>
          <p:nvPr/>
        </p:nvSpPr>
        <p:spPr>
          <a:xfrm>
            <a:off x="777240" y="1828800"/>
            <a:ext cx="384048" cy="384048"/>
          </a:xfrm>
          <a:prstGeom prst="ellipse">
            <a:avLst/>
          </a:prstGeom>
          <a:solidFill>
            <a:srgbClr val="0E7C7B"/>
          </a:solidFill>
          <a:ln/>
        </p:spPr>
      </p:sp>
      <p:sp>
        <p:nvSpPr>
          <p:cNvPr id="6" name="Text 4"/>
          <p:cNvSpPr txBox="1"/>
          <p:nvPr/>
        </p:nvSpPr>
        <p:spPr>
          <a:xfrm>
            <a:off x="777240" y="1828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371600" y="1618488"/>
            <a:ext cx="4297680" cy="320040"/>
          </a:xfrm>
          <a:prstGeom prst="rect">
            <a:avLst/>
          </a:prstGeom>
          <a:noFill/>
          <a:ln/>
        </p:spPr>
        <p:txBody>
          <a:bodyPr wrap="square" lIns="0" tIns="0" rIns="0" bIns="0" rtlCol="0" anchor="ctr"/>
          <a:lstStyle/>
          <a:p>
            <a:pPr indent="0" marL="0">
              <a:buNone/>
            </a:pPr>
            <a:r>
              <a:rPr lang="en-US" sz="1500" b="1" dirty="0">
                <a:solidFill>
                  <a:srgbClr val="1B2A56"/>
                </a:solidFill>
                <a:latin typeface="Calibri" pitchFamily="34" charset="0"/>
                <a:ea typeface="Calibri" pitchFamily="34" charset="-122"/>
                <a:cs typeface="Calibri" pitchFamily="34" charset="-120"/>
              </a:rPr>
              <a:t>Detect </a:t>
            </a:r>
            <a:pPr indent="0" marL="0">
              <a:buNone/>
            </a:pPr>
            <a:r>
              <a:rPr lang="en-US" sz="1300" i="1" dirty="0">
                <a:solidFill>
                  <a:srgbClr val="0E7C7B"/>
                </a:solidFill>
                <a:latin typeface="Calibri" pitchFamily="34" charset="0"/>
                <a:ea typeface="Calibri" pitchFamily="34" charset="-122"/>
                <a:cs typeface="Calibri" pitchFamily="34" charset="-120"/>
              </a:rPr>
              <a:t>reliably</a:t>
            </a:r>
            <a:endParaRPr lang="en-US" sz="1500" dirty="0"/>
          </a:p>
        </p:txBody>
      </p:sp>
      <p:sp>
        <p:nvSpPr>
          <p:cNvPr id="8" name="Text 6"/>
          <p:cNvSpPr txBox="1"/>
          <p:nvPr/>
        </p:nvSpPr>
        <p:spPr>
          <a:xfrm>
            <a:off x="1371600" y="1947672"/>
            <a:ext cx="4297680" cy="548640"/>
          </a:xfrm>
          <a:prstGeom prst="rect">
            <a:avLst/>
          </a:prstGeom>
          <a:noFill/>
          <a:ln/>
        </p:spPr>
        <p:txBody>
          <a:bodyPr wrap="square" lIns="0" tIns="0" rIns="0" bIns="0" rtlCol="0" anchor="ctr"/>
          <a:lstStyle/>
          <a:p>
            <a:pPr indent="0" marL="0">
              <a:lnSpc>
                <a:spcPct val="110000"/>
              </a:lnSpc>
              <a:buNone/>
            </a:pPr>
            <a:r>
              <a:rPr lang="en-US" sz="1050" dirty="0">
                <a:solidFill>
                  <a:srgbClr val="5A6472"/>
                </a:solidFill>
                <a:latin typeface="Calibri" pitchFamily="34" charset="0"/>
                <a:ea typeface="Calibri" pitchFamily="34" charset="-122"/>
                <a:cs typeface="Calibri" pitchFamily="34" charset="-120"/>
              </a:rPr>
              <a:t>Flag mixed-generation contamination with an unsupervised, oracle-free detector.</a:t>
            </a:r>
            <a:endParaRPr lang="en-US" sz="1050" dirty="0"/>
          </a:p>
        </p:txBody>
      </p:sp>
      <p:sp>
        <p:nvSpPr>
          <p:cNvPr id="9" name="Shape 7"/>
          <p:cNvSpPr/>
          <p:nvPr/>
        </p:nvSpPr>
        <p:spPr>
          <a:xfrm>
            <a:off x="5806440" y="1645920"/>
            <a:ext cx="0" cy="804672"/>
          </a:xfrm>
          <a:prstGeom prst="line">
            <a:avLst/>
          </a:prstGeom>
          <a:noFill/>
          <a:ln w="12700">
            <a:solidFill>
              <a:srgbClr val="D8DEEA"/>
            </a:solidFill>
            <a:prstDash val="solid"/>
          </a:ln>
        </p:spPr>
      </p:sp>
      <p:sp>
        <p:nvSpPr>
          <p:cNvPr id="10" name="Text 8"/>
          <p:cNvSpPr txBox="1"/>
          <p:nvPr/>
        </p:nvSpPr>
        <p:spPr>
          <a:xfrm>
            <a:off x="6035040" y="1618488"/>
            <a:ext cx="2377440" cy="228600"/>
          </a:xfrm>
          <a:prstGeom prst="rect">
            <a:avLst/>
          </a:prstGeom>
          <a:noFill/>
          <a:ln/>
        </p:spPr>
        <p:txBody>
          <a:bodyPr wrap="square" lIns="0" tIns="0" rIns="0" bIns="0" rtlCol="0" anchor="ctr"/>
          <a:lstStyle/>
          <a:p>
            <a:pPr indent="0" marL="0">
              <a:buNone/>
            </a:pPr>
            <a:r>
              <a:rPr lang="en-US" sz="950" dirty="0">
                <a:solidFill>
                  <a:srgbClr val="5A6472"/>
                </a:solidFill>
                <a:latin typeface="Calibri" pitchFamily="34" charset="0"/>
                <a:ea typeface="Calibri" pitchFamily="34" charset="-122"/>
                <a:cs typeface="Calibri" pitchFamily="34" charset="-120"/>
              </a:rPr>
              <a:t>Design constraint</a:t>
            </a:r>
            <a:endParaRPr lang="en-US" sz="950" dirty="0"/>
          </a:p>
        </p:txBody>
      </p:sp>
      <p:sp>
        <p:nvSpPr>
          <p:cNvPr id="11" name="Text 9"/>
          <p:cNvSpPr txBox="1"/>
          <p:nvPr/>
        </p:nvSpPr>
        <p:spPr>
          <a:xfrm>
            <a:off x="6035040" y="1856232"/>
            <a:ext cx="2377440" cy="548640"/>
          </a:xfrm>
          <a:prstGeom prst="rect">
            <a:avLst/>
          </a:prstGeom>
          <a:noFill/>
          <a:ln/>
        </p:spPr>
        <p:txBody>
          <a:bodyPr wrap="square" lIns="0" tIns="0" rIns="0" bIns="0" rtlCol="0" anchor="ctr"/>
          <a:lstStyle/>
          <a:p>
            <a:pPr indent="0" marL="0">
              <a:lnSpc>
                <a:spcPct val="110000"/>
              </a:lnSpc>
              <a:buNone/>
            </a:pPr>
            <a:r>
              <a:rPr lang="en-US" sz="1200" b="1" dirty="0">
                <a:solidFill>
                  <a:srgbClr val="1B2A56"/>
                </a:solidFill>
                <a:latin typeface="Calibri" pitchFamily="34" charset="0"/>
                <a:ea typeface="Calibri" pitchFamily="34" charset="-122"/>
                <a:cs typeface="Calibri" pitchFamily="34" charset="-120"/>
              </a:rPr>
              <a:t>F1 ≥ 0.50</a:t>
            </a:r>
            <a:endParaRPr lang="en-US" sz="1200" dirty="0"/>
          </a:p>
        </p:txBody>
      </p:sp>
      <p:sp>
        <p:nvSpPr>
          <p:cNvPr id="12" name="Text 10"/>
          <p:cNvSpPr txBox="1"/>
          <p:nvPr/>
        </p:nvSpPr>
        <p:spPr>
          <a:xfrm>
            <a:off x="8549640" y="1618488"/>
            <a:ext cx="2926080" cy="228600"/>
          </a:xfrm>
          <a:prstGeom prst="rect">
            <a:avLst/>
          </a:prstGeom>
          <a:noFill/>
          <a:ln/>
        </p:spPr>
        <p:txBody>
          <a:bodyPr wrap="square" lIns="0" tIns="0" rIns="0" bIns="0" rtlCol="0" anchor="ctr"/>
          <a:lstStyle/>
          <a:p>
            <a:pPr indent="0" marL="0">
              <a:buNone/>
            </a:pPr>
            <a:r>
              <a:rPr lang="en-US" sz="950" dirty="0">
                <a:solidFill>
                  <a:srgbClr val="5A6472"/>
                </a:solidFill>
                <a:latin typeface="Calibri" pitchFamily="34" charset="0"/>
                <a:ea typeface="Calibri" pitchFamily="34" charset="-122"/>
                <a:cs typeface="Calibri" pitchFamily="34" charset="-120"/>
              </a:rPr>
              <a:t>Measured result</a:t>
            </a:r>
            <a:endParaRPr lang="en-US" sz="950" dirty="0"/>
          </a:p>
        </p:txBody>
      </p:sp>
      <p:sp>
        <p:nvSpPr>
          <p:cNvPr id="13" name="Text 11"/>
          <p:cNvSpPr txBox="1"/>
          <p:nvPr/>
        </p:nvSpPr>
        <p:spPr>
          <a:xfrm>
            <a:off x="8549640" y="1856232"/>
            <a:ext cx="2926080" cy="640080"/>
          </a:xfrm>
          <a:prstGeom prst="rect">
            <a:avLst/>
          </a:prstGeom>
          <a:noFill/>
          <a:ln/>
        </p:spPr>
        <p:txBody>
          <a:bodyPr wrap="square" lIns="0" tIns="0" rIns="0" bIns="0" rtlCol="0" anchor="ctr"/>
          <a:lstStyle/>
          <a:p>
            <a:pPr indent="0" marL="0">
              <a:lnSpc>
                <a:spcPct val="110000"/>
              </a:lnSpc>
              <a:buNone/>
            </a:pPr>
            <a:r>
              <a:rPr lang="en-US" sz="1150" b="1" dirty="0">
                <a:solidFill>
                  <a:srgbClr val="1E824C"/>
                </a:solidFill>
                <a:latin typeface="Calibri" pitchFamily="34" charset="0"/>
                <a:ea typeface="Calibri" pitchFamily="34" charset="-122"/>
                <a:cs typeface="Calibri" pitchFamily="34" charset="-120"/>
              </a:rPr>
              <a:t>Achieved 0.51–0.57 (KNN-OOD)</a:t>
            </a:r>
            <a:endParaRPr lang="en-US" sz="1150" dirty="0"/>
          </a:p>
        </p:txBody>
      </p:sp>
      <p:sp>
        <p:nvSpPr>
          <p:cNvPr id="14" name="Shape 12"/>
          <p:cNvSpPr/>
          <p:nvPr/>
        </p:nvSpPr>
        <p:spPr>
          <a:xfrm>
            <a:off x="548640" y="2715768"/>
            <a:ext cx="11064240" cy="1078992"/>
          </a:xfrm>
          <a:prstGeom prst="roundRect">
            <a:avLst>
              <a:gd name="adj" fmla="val 6780"/>
            </a:avLst>
          </a:prstGeom>
          <a:solidFill>
            <a:srgbClr val="F4F7FC"/>
          </a:solidFill>
          <a:ln/>
          <a:effectLst>
            <a:outerShdw sx="100000" sy="100000" kx="0" ky="0" algn="bl" rotWithShape="0" blurRad="101600" dist="38100" dir="5400000">
              <a:srgbClr val="1B2A56">
                <a:alpha val="12000"/>
              </a:srgbClr>
            </a:outerShdw>
          </a:effectLst>
        </p:spPr>
      </p:sp>
      <p:sp>
        <p:nvSpPr>
          <p:cNvPr id="15" name="Shape 13"/>
          <p:cNvSpPr/>
          <p:nvPr/>
        </p:nvSpPr>
        <p:spPr>
          <a:xfrm>
            <a:off x="777240" y="3035808"/>
            <a:ext cx="384048" cy="384048"/>
          </a:xfrm>
          <a:prstGeom prst="ellipse">
            <a:avLst/>
          </a:prstGeom>
          <a:solidFill>
            <a:srgbClr val="0E7C7B"/>
          </a:solidFill>
          <a:ln/>
        </p:spPr>
      </p:sp>
      <p:sp>
        <p:nvSpPr>
          <p:cNvPr id="16" name="Text 14"/>
          <p:cNvSpPr txBox="1"/>
          <p:nvPr/>
        </p:nvSpPr>
        <p:spPr>
          <a:xfrm>
            <a:off x="777240" y="30358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5"/>
          <p:cNvSpPr txBox="1"/>
          <p:nvPr/>
        </p:nvSpPr>
        <p:spPr>
          <a:xfrm>
            <a:off x="1371600" y="2825496"/>
            <a:ext cx="4297680" cy="320040"/>
          </a:xfrm>
          <a:prstGeom prst="rect">
            <a:avLst/>
          </a:prstGeom>
          <a:noFill/>
          <a:ln/>
        </p:spPr>
        <p:txBody>
          <a:bodyPr wrap="square" lIns="0" tIns="0" rIns="0" bIns="0" rtlCol="0" anchor="ctr"/>
          <a:lstStyle/>
          <a:p>
            <a:pPr indent="0" marL="0">
              <a:buNone/>
            </a:pPr>
            <a:r>
              <a:rPr lang="en-US" sz="1500" b="1" dirty="0">
                <a:solidFill>
                  <a:srgbClr val="1B2A56"/>
                </a:solidFill>
                <a:latin typeface="Calibri" pitchFamily="34" charset="0"/>
                <a:ea typeface="Calibri" pitchFamily="34" charset="-122"/>
                <a:cs typeface="Calibri" pitchFamily="34" charset="-120"/>
              </a:rPr>
              <a:t>Prioritize </a:t>
            </a:r>
            <a:pPr indent="0" marL="0">
              <a:buNone/>
            </a:pPr>
            <a:r>
              <a:rPr lang="en-US" sz="1300" i="1" dirty="0">
                <a:solidFill>
                  <a:srgbClr val="0E7C7B"/>
                </a:solidFill>
                <a:latin typeface="Calibri" pitchFamily="34" charset="0"/>
                <a:ea typeface="Calibri" pitchFamily="34" charset="-122"/>
                <a:cs typeface="Calibri" pitchFamily="34" charset="-120"/>
              </a:rPr>
              <a:t>optimally</a:t>
            </a:r>
            <a:endParaRPr lang="en-US" sz="1500" dirty="0"/>
          </a:p>
        </p:txBody>
      </p:sp>
      <p:sp>
        <p:nvSpPr>
          <p:cNvPr id="18" name="Text 16"/>
          <p:cNvSpPr txBox="1"/>
          <p:nvPr/>
        </p:nvSpPr>
        <p:spPr>
          <a:xfrm>
            <a:off x="1371600" y="3154680"/>
            <a:ext cx="4297680" cy="548640"/>
          </a:xfrm>
          <a:prstGeom prst="rect">
            <a:avLst/>
          </a:prstGeom>
          <a:noFill/>
          <a:ln/>
        </p:spPr>
        <p:txBody>
          <a:bodyPr wrap="square" lIns="0" tIns="0" rIns="0" bIns="0" rtlCol="0" anchor="ctr"/>
          <a:lstStyle/>
          <a:p>
            <a:pPr indent="0" marL="0">
              <a:lnSpc>
                <a:spcPct val="110000"/>
              </a:lnSpc>
              <a:buNone/>
            </a:pPr>
            <a:r>
              <a:rPr lang="en-US" sz="1050" dirty="0">
                <a:solidFill>
                  <a:srgbClr val="5A6472"/>
                </a:solidFill>
                <a:latin typeface="Calibri" pitchFamily="34" charset="0"/>
                <a:ea typeface="Calibri" pitchFamily="34" charset="-122"/>
                <a:cs typeface="Calibri" pitchFamily="34" charset="-120"/>
              </a:rPr>
              <a:t>Formulate remediation as a budget-constrained optimization, not a uniform sweep.</a:t>
            </a:r>
            <a:endParaRPr lang="en-US" sz="1050" dirty="0"/>
          </a:p>
        </p:txBody>
      </p:sp>
      <p:sp>
        <p:nvSpPr>
          <p:cNvPr id="19" name="Shape 17"/>
          <p:cNvSpPr/>
          <p:nvPr/>
        </p:nvSpPr>
        <p:spPr>
          <a:xfrm>
            <a:off x="5806440" y="2852928"/>
            <a:ext cx="0" cy="804672"/>
          </a:xfrm>
          <a:prstGeom prst="line">
            <a:avLst/>
          </a:prstGeom>
          <a:noFill/>
          <a:ln w="12700">
            <a:solidFill>
              <a:srgbClr val="D8DEEA"/>
            </a:solidFill>
            <a:prstDash val="solid"/>
          </a:ln>
        </p:spPr>
      </p:sp>
      <p:sp>
        <p:nvSpPr>
          <p:cNvPr id="20" name="Text 18"/>
          <p:cNvSpPr txBox="1"/>
          <p:nvPr/>
        </p:nvSpPr>
        <p:spPr>
          <a:xfrm>
            <a:off x="6035040" y="2825496"/>
            <a:ext cx="2377440" cy="228600"/>
          </a:xfrm>
          <a:prstGeom prst="rect">
            <a:avLst/>
          </a:prstGeom>
          <a:noFill/>
          <a:ln/>
        </p:spPr>
        <p:txBody>
          <a:bodyPr wrap="square" lIns="0" tIns="0" rIns="0" bIns="0" rtlCol="0" anchor="ctr"/>
          <a:lstStyle/>
          <a:p>
            <a:pPr indent="0" marL="0">
              <a:buNone/>
            </a:pPr>
            <a:r>
              <a:rPr lang="en-US" sz="950" dirty="0">
                <a:solidFill>
                  <a:srgbClr val="5A6472"/>
                </a:solidFill>
                <a:latin typeface="Calibri" pitchFamily="34" charset="0"/>
                <a:ea typeface="Calibri" pitchFamily="34" charset="-122"/>
                <a:cs typeface="Calibri" pitchFamily="34" charset="-120"/>
              </a:rPr>
              <a:t>Design constraint</a:t>
            </a:r>
            <a:endParaRPr lang="en-US" sz="950" dirty="0"/>
          </a:p>
        </p:txBody>
      </p:sp>
      <p:sp>
        <p:nvSpPr>
          <p:cNvPr id="21" name="Text 19"/>
          <p:cNvSpPr txBox="1"/>
          <p:nvPr/>
        </p:nvSpPr>
        <p:spPr>
          <a:xfrm>
            <a:off x="6035040" y="3063240"/>
            <a:ext cx="2377440" cy="548640"/>
          </a:xfrm>
          <a:prstGeom prst="rect">
            <a:avLst/>
          </a:prstGeom>
          <a:noFill/>
          <a:ln/>
        </p:spPr>
        <p:txBody>
          <a:bodyPr wrap="square" lIns="0" tIns="0" rIns="0" bIns="0" rtlCol="0" anchor="ctr"/>
          <a:lstStyle/>
          <a:p>
            <a:pPr indent="0" marL="0">
              <a:lnSpc>
                <a:spcPct val="110000"/>
              </a:lnSpc>
              <a:buNone/>
            </a:pPr>
            <a:r>
              <a:rPr lang="en-US" sz="1200" b="1" dirty="0">
                <a:solidFill>
                  <a:srgbClr val="1B2A56"/>
                </a:solidFill>
                <a:latin typeface="Calibri" pitchFamily="34" charset="0"/>
                <a:ea typeface="Calibri" pitchFamily="34" charset="-122"/>
                <a:cs typeface="Calibri" pitchFamily="34" charset="-120"/>
              </a:rPr>
              <a:t>Optimality gap ≤ 5%</a:t>
            </a:r>
            <a:endParaRPr lang="en-US" sz="1200" dirty="0"/>
          </a:p>
        </p:txBody>
      </p:sp>
      <p:sp>
        <p:nvSpPr>
          <p:cNvPr id="22" name="Text 20"/>
          <p:cNvSpPr txBox="1"/>
          <p:nvPr/>
        </p:nvSpPr>
        <p:spPr>
          <a:xfrm>
            <a:off x="8549640" y="2825496"/>
            <a:ext cx="2926080" cy="228600"/>
          </a:xfrm>
          <a:prstGeom prst="rect">
            <a:avLst/>
          </a:prstGeom>
          <a:noFill/>
          <a:ln/>
        </p:spPr>
        <p:txBody>
          <a:bodyPr wrap="square" lIns="0" tIns="0" rIns="0" bIns="0" rtlCol="0" anchor="ctr"/>
          <a:lstStyle/>
          <a:p>
            <a:pPr indent="0" marL="0">
              <a:buNone/>
            </a:pPr>
            <a:r>
              <a:rPr lang="en-US" sz="950" dirty="0">
                <a:solidFill>
                  <a:srgbClr val="5A6472"/>
                </a:solidFill>
                <a:latin typeface="Calibri" pitchFamily="34" charset="0"/>
                <a:ea typeface="Calibri" pitchFamily="34" charset="-122"/>
                <a:cs typeface="Calibri" pitchFamily="34" charset="-120"/>
              </a:rPr>
              <a:t>Measured result</a:t>
            </a:r>
            <a:endParaRPr lang="en-US" sz="950" dirty="0"/>
          </a:p>
        </p:txBody>
      </p:sp>
      <p:sp>
        <p:nvSpPr>
          <p:cNvPr id="23" name="Text 21"/>
          <p:cNvSpPr txBox="1"/>
          <p:nvPr/>
        </p:nvSpPr>
        <p:spPr>
          <a:xfrm>
            <a:off x="8549640" y="3063240"/>
            <a:ext cx="2926080" cy="640080"/>
          </a:xfrm>
          <a:prstGeom prst="rect">
            <a:avLst/>
          </a:prstGeom>
          <a:noFill/>
          <a:ln/>
        </p:spPr>
        <p:txBody>
          <a:bodyPr wrap="square" lIns="0" tIns="0" rIns="0" bIns="0" rtlCol="0" anchor="ctr"/>
          <a:lstStyle/>
          <a:p>
            <a:pPr indent="0" marL="0">
              <a:lnSpc>
                <a:spcPct val="110000"/>
              </a:lnSpc>
              <a:buNone/>
            </a:pPr>
            <a:r>
              <a:rPr lang="en-US" sz="1150" b="1" dirty="0">
                <a:solidFill>
                  <a:srgbClr val="1E824C"/>
                </a:solidFill>
                <a:latin typeface="Calibri" pitchFamily="34" charset="0"/>
                <a:ea typeface="Calibri" pitchFamily="34" charset="-122"/>
                <a:cs typeface="Calibri" pitchFamily="34" charset="-120"/>
              </a:rPr>
              <a:t>Achieved 0.00% (max 0.14%)</a:t>
            </a:r>
            <a:endParaRPr lang="en-US" sz="1150" dirty="0"/>
          </a:p>
        </p:txBody>
      </p:sp>
      <p:sp>
        <p:nvSpPr>
          <p:cNvPr id="24" name="Shape 22"/>
          <p:cNvSpPr/>
          <p:nvPr/>
        </p:nvSpPr>
        <p:spPr>
          <a:xfrm>
            <a:off x="548640" y="3922776"/>
            <a:ext cx="11064240" cy="1078992"/>
          </a:xfrm>
          <a:prstGeom prst="roundRect">
            <a:avLst>
              <a:gd name="adj" fmla="val 6780"/>
            </a:avLst>
          </a:prstGeom>
          <a:solidFill>
            <a:srgbClr val="F4F7FC"/>
          </a:solidFill>
          <a:ln/>
          <a:effectLst>
            <a:outerShdw sx="100000" sy="100000" kx="0" ky="0" algn="bl" rotWithShape="0" blurRad="101600" dist="38100" dir="5400000">
              <a:srgbClr val="1B2A56">
                <a:alpha val="12000"/>
              </a:srgbClr>
            </a:outerShdw>
          </a:effectLst>
        </p:spPr>
      </p:sp>
      <p:sp>
        <p:nvSpPr>
          <p:cNvPr id="25" name="Shape 23"/>
          <p:cNvSpPr/>
          <p:nvPr/>
        </p:nvSpPr>
        <p:spPr>
          <a:xfrm>
            <a:off x="777240" y="4242816"/>
            <a:ext cx="384048" cy="384048"/>
          </a:xfrm>
          <a:prstGeom prst="ellipse">
            <a:avLst/>
          </a:prstGeom>
          <a:solidFill>
            <a:srgbClr val="0E7C7B"/>
          </a:solidFill>
          <a:ln/>
        </p:spPr>
      </p:sp>
      <p:sp>
        <p:nvSpPr>
          <p:cNvPr id="26" name="Text 24"/>
          <p:cNvSpPr txBox="1"/>
          <p:nvPr/>
        </p:nvSpPr>
        <p:spPr>
          <a:xfrm>
            <a:off x="777240" y="42428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7" name="Text 25"/>
          <p:cNvSpPr txBox="1"/>
          <p:nvPr/>
        </p:nvSpPr>
        <p:spPr>
          <a:xfrm>
            <a:off x="1371600" y="4032504"/>
            <a:ext cx="4297680" cy="320040"/>
          </a:xfrm>
          <a:prstGeom prst="rect">
            <a:avLst/>
          </a:prstGeom>
          <a:noFill/>
          <a:ln/>
        </p:spPr>
        <p:txBody>
          <a:bodyPr wrap="square" lIns="0" tIns="0" rIns="0" bIns="0" rtlCol="0" anchor="ctr"/>
          <a:lstStyle/>
          <a:p>
            <a:pPr indent="0" marL="0">
              <a:buNone/>
            </a:pPr>
            <a:r>
              <a:rPr lang="en-US" sz="1500" b="1" dirty="0">
                <a:solidFill>
                  <a:srgbClr val="1B2A56"/>
                </a:solidFill>
                <a:latin typeface="Calibri" pitchFamily="34" charset="0"/>
                <a:ea typeface="Calibri" pitchFamily="34" charset="-122"/>
                <a:cs typeface="Calibri" pitchFamily="34" charset="-120"/>
              </a:rPr>
              <a:t>Recover </a:t>
            </a:r>
            <a:pPr indent="0" marL="0">
              <a:buNone/>
            </a:pPr>
            <a:r>
              <a:rPr lang="en-US" sz="1300" i="1" dirty="0">
                <a:solidFill>
                  <a:srgbClr val="0E7C7B"/>
                </a:solidFill>
                <a:latin typeface="Calibri" pitchFamily="34" charset="0"/>
                <a:ea typeface="Calibri" pitchFamily="34" charset="-122"/>
                <a:cs typeface="Calibri" pitchFamily="34" charset="-120"/>
              </a:rPr>
              <a:t>efficiently</a:t>
            </a:r>
            <a:endParaRPr lang="en-US" sz="1500" dirty="0"/>
          </a:p>
        </p:txBody>
      </p:sp>
      <p:sp>
        <p:nvSpPr>
          <p:cNvPr id="28" name="Text 26"/>
          <p:cNvSpPr txBox="1"/>
          <p:nvPr/>
        </p:nvSpPr>
        <p:spPr>
          <a:xfrm>
            <a:off x="1371600" y="4361688"/>
            <a:ext cx="4297680" cy="548640"/>
          </a:xfrm>
          <a:prstGeom prst="rect">
            <a:avLst/>
          </a:prstGeom>
          <a:noFill/>
          <a:ln/>
        </p:spPr>
        <p:txBody>
          <a:bodyPr wrap="square" lIns="0" tIns="0" rIns="0" bIns="0" rtlCol="0" anchor="ctr"/>
          <a:lstStyle/>
          <a:p>
            <a:pPr indent="0" marL="0">
              <a:lnSpc>
                <a:spcPct val="110000"/>
              </a:lnSpc>
              <a:buNone/>
            </a:pPr>
            <a:r>
              <a:rPr lang="en-US" sz="1050" dirty="0">
                <a:solidFill>
                  <a:srgbClr val="5A6472"/>
                </a:solidFill>
                <a:latin typeface="Calibri" pitchFamily="34" charset="0"/>
                <a:ea typeface="Calibri" pitchFamily="34" charset="-122"/>
                <a:cs typeface="Calibri" pitchFamily="34" charset="-120"/>
              </a:rPr>
              <a:t>Recover more retrieval quality per unit budget than current (FIFO) practice.</a:t>
            </a:r>
            <a:endParaRPr lang="en-US" sz="1050" dirty="0"/>
          </a:p>
        </p:txBody>
      </p:sp>
      <p:sp>
        <p:nvSpPr>
          <p:cNvPr id="29" name="Shape 27"/>
          <p:cNvSpPr/>
          <p:nvPr/>
        </p:nvSpPr>
        <p:spPr>
          <a:xfrm>
            <a:off x="5806440" y="4059936"/>
            <a:ext cx="0" cy="804672"/>
          </a:xfrm>
          <a:prstGeom prst="line">
            <a:avLst/>
          </a:prstGeom>
          <a:noFill/>
          <a:ln w="12700">
            <a:solidFill>
              <a:srgbClr val="D8DEEA"/>
            </a:solidFill>
            <a:prstDash val="solid"/>
          </a:ln>
        </p:spPr>
      </p:sp>
      <p:sp>
        <p:nvSpPr>
          <p:cNvPr id="30" name="Text 28"/>
          <p:cNvSpPr txBox="1"/>
          <p:nvPr/>
        </p:nvSpPr>
        <p:spPr>
          <a:xfrm>
            <a:off x="6035040" y="4032504"/>
            <a:ext cx="2377440" cy="228600"/>
          </a:xfrm>
          <a:prstGeom prst="rect">
            <a:avLst/>
          </a:prstGeom>
          <a:noFill/>
          <a:ln/>
        </p:spPr>
        <p:txBody>
          <a:bodyPr wrap="square" lIns="0" tIns="0" rIns="0" bIns="0" rtlCol="0" anchor="ctr"/>
          <a:lstStyle/>
          <a:p>
            <a:pPr indent="0" marL="0">
              <a:buNone/>
            </a:pPr>
            <a:r>
              <a:rPr lang="en-US" sz="950" dirty="0">
                <a:solidFill>
                  <a:srgbClr val="5A6472"/>
                </a:solidFill>
                <a:latin typeface="Calibri" pitchFamily="34" charset="0"/>
                <a:ea typeface="Calibri" pitchFamily="34" charset="-122"/>
                <a:cs typeface="Calibri" pitchFamily="34" charset="-120"/>
              </a:rPr>
              <a:t>Design constraint</a:t>
            </a:r>
            <a:endParaRPr lang="en-US" sz="950" dirty="0"/>
          </a:p>
        </p:txBody>
      </p:sp>
      <p:sp>
        <p:nvSpPr>
          <p:cNvPr id="31" name="Text 29"/>
          <p:cNvSpPr txBox="1"/>
          <p:nvPr/>
        </p:nvSpPr>
        <p:spPr>
          <a:xfrm>
            <a:off x="6035040" y="4270248"/>
            <a:ext cx="2377440" cy="548640"/>
          </a:xfrm>
          <a:prstGeom prst="rect">
            <a:avLst/>
          </a:prstGeom>
          <a:noFill/>
          <a:ln/>
        </p:spPr>
        <p:txBody>
          <a:bodyPr wrap="square" lIns="0" tIns="0" rIns="0" bIns="0" rtlCol="0" anchor="ctr"/>
          <a:lstStyle/>
          <a:p>
            <a:pPr indent="0" marL="0">
              <a:lnSpc>
                <a:spcPct val="110000"/>
              </a:lnSpc>
              <a:buNone/>
            </a:pPr>
            <a:r>
              <a:rPr lang="en-US" sz="1200" b="1" dirty="0">
                <a:solidFill>
                  <a:srgbClr val="1B2A56"/>
                </a:solidFill>
                <a:latin typeface="Calibri" pitchFamily="34" charset="0"/>
                <a:ea typeface="Calibri" pitchFamily="34" charset="-122"/>
                <a:cs typeface="Calibri" pitchFamily="34" charset="-120"/>
              </a:rPr>
              <a:t>≥ 40% headroom at ≤30% budget</a:t>
            </a:r>
            <a:endParaRPr lang="en-US" sz="1200" dirty="0"/>
          </a:p>
        </p:txBody>
      </p:sp>
      <p:sp>
        <p:nvSpPr>
          <p:cNvPr id="32" name="Text 30"/>
          <p:cNvSpPr txBox="1"/>
          <p:nvPr/>
        </p:nvSpPr>
        <p:spPr>
          <a:xfrm>
            <a:off x="8549640" y="4032504"/>
            <a:ext cx="2926080" cy="228600"/>
          </a:xfrm>
          <a:prstGeom prst="rect">
            <a:avLst/>
          </a:prstGeom>
          <a:noFill/>
          <a:ln/>
        </p:spPr>
        <p:txBody>
          <a:bodyPr wrap="square" lIns="0" tIns="0" rIns="0" bIns="0" rtlCol="0" anchor="ctr"/>
          <a:lstStyle/>
          <a:p>
            <a:pPr indent="0" marL="0">
              <a:buNone/>
            </a:pPr>
            <a:r>
              <a:rPr lang="en-US" sz="950" dirty="0">
                <a:solidFill>
                  <a:srgbClr val="5A6472"/>
                </a:solidFill>
                <a:latin typeface="Calibri" pitchFamily="34" charset="0"/>
                <a:ea typeface="Calibri" pitchFamily="34" charset="-122"/>
                <a:cs typeface="Calibri" pitchFamily="34" charset="-120"/>
              </a:rPr>
              <a:t>Measured result</a:t>
            </a:r>
            <a:endParaRPr lang="en-US" sz="950" dirty="0"/>
          </a:p>
        </p:txBody>
      </p:sp>
      <p:sp>
        <p:nvSpPr>
          <p:cNvPr id="33" name="Text 31"/>
          <p:cNvSpPr txBox="1"/>
          <p:nvPr/>
        </p:nvSpPr>
        <p:spPr>
          <a:xfrm>
            <a:off x="8549640" y="4270248"/>
            <a:ext cx="2926080" cy="640080"/>
          </a:xfrm>
          <a:prstGeom prst="rect">
            <a:avLst/>
          </a:prstGeom>
          <a:noFill/>
          <a:ln/>
        </p:spPr>
        <p:txBody>
          <a:bodyPr wrap="square" lIns="0" tIns="0" rIns="0" bIns="0" rtlCol="0" anchor="ctr"/>
          <a:lstStyle/>
          <a:p>
            <a:pPr indent="0" marL="0">
              <a:lnSpc>
                <a:spcPct val="110000"/>
              </a:lnSpc>
              <a:buNone/>
            </a:pPr>
            <a:r>
              <a:rPr lang="en-US" sz="1150" b="1" dirty="0">
                <a:solidFill>
                  <a:srgbClr val="1E824C"/>
                </a:solidFill>
                <a:latin typeface="Calibri" pitchFamily="34" charset="0"/>
                <a:ea typeface="Calibri" pitchFamily="34" charset="-122"/>
                <a:cs typeface="Calibri" pitchFamily="34" charset="-120"/>
              </a:rPr>
              <a:t>Achieved up to 45% headroom at 10% budget</a:t>
            </a:r>
            <a:endParaRPr lang="en-US" sz="1150" dirty="0"/>
          </a:p>
        </p:txBody>
      </p:sp>
      <p:sp>
        <p:nvSpPr>
          <p:cNvPr id="34" name="Shape 32"/>
          <p:cNvSpPr/>
          <p:nvPr/>
        </p:nvSpPr>
        <p:spPr>
          <a:xfrm>
            <a:off x="548640" y="5129784"/>
            <a:ext cx="11064240" cy="1078992"/>
          </a:xfrm>
          <a:prstGeom prst="roundRect">
            <a:avLst>
              <a:gd name="adj" fmla="val 6780"/>
            </a:avLst>
          </a:prstGeom>
          <a:solidFill>
            <a:srgbClr val="F4F7FC"/>
          </a:solidFill>
          <a:ln/>
          <a:effectLst>
            <a:outerShdw sx="100000" sy="100000" kx="0" ky="0" algn="bl" rotWithShape="0" blurRad="101600" dist="38100" dir="5400000">
              <a:srgbClr val="1B2A56">
                <a:alpha val="12000"/>
              </a:srgbClr>
            </a:outerShdw>
          </a:effectLst>
        </p:spPr>
      </p:sp>
      <p:sp>
        <p:nvSpPr>
          <p:cNvPr id="35" name="Shape 33"/>
          <p:cNvSpPr/>
          <p:nvPr/>
        </p:nvSpPr>
        <p:spPr>
          <a:xfrm>
            <a:off x="777240" y="5449824"/>
            <a:ext cx="384048" cy="384048"/>
          </a:xfrm>
          <a:prstGeom prst="ellipse">
            <a:avLst/>
          </a:prstGeom>
          <a:solidFill>
            <a:srgbClr val="0E7C7B"/>
          </a:solidFill>
          <a:ln/>
        </p:spPr>
      </p:sp>
      <p:sp>
        <p:nvSpPr>
          <p:cNvPr id="36" name="Text 34"/>
          <p:cNvSpPr txBox="1"/>
          <p:nvPr/>
        </p:nvSpPr>
        <p:spPr>
          <a:xfrm>
            <a:off x="777240" y="544982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7" name="Text 35"/>
          <p:cNvSpPr txBox="1"/>
          <p:nvPr/>
        </p:nvSpPr>
        <p:spPr>
          <a:xfrm>
            <a:off x="1371600" y="5239512"/>
            <a:ext cx="4297680" cy="320040"/>
          </a:xfrm>
          <a:prstGeom prst="rect">
            <a:avLst/>
          </a:prstGeom>
          <a:noFill/>
          <a:ln/>
        </p:spPr>
        <p:txBody>
          <a:bodyPr wrap="square" lIns="0" tIns="0" rIns="0" bIns="0" rtlCol="0" anchor="ctr"/>
          <a:lstStyle/>
          <a:p>
            <a:pPr indent="0" marL="0">
              <a:buNone/>
            </a:pPr>
            <a:r>
              <a:rPr lang="en-US" sz="1500" b="1" dirty="0">
                <a:solidFill>
                  <a:srgbClr val="1B2A56"/>
                </a:solidFill>
                <a:latin typeface="Calibri" pitchFamily="34" charset="0"/>
                <a:ea typeface="Calibri" pitchFamily="34" charset="-122"/>
                <a:cs typeface="Calibri" pitchFamily="34" charset="-120"/>
              </a:rPr>
              <a:t>Deploy </a:t>
            </a:r>
            <a:pPr indent="0" marL="0">
              <a:buNone/>
            </a:pPr>
            <a:r>
              <a:rPr lang="en-US" sz="1300" i="1" dirty="0">
                <a:solidFill>
                  <a:srgbClr val="0E7C7B"/>
                </a:solidFill>
                <a:latin typeface="Calibri" pitchFamily="34" charset="0"/>
                <a:ea typeface="Calibri" pitchFamily="34" charset="-122"/>
                <a:cs typeface="Calibri" pitchFamily="34" charset="-120"/>
              </a:rPr>
              <a:t>safely</a:t>
            </a:r>
            <a:endParaRPr lang="en-US" sz="1500" dirty="0"/>
          </a:p>
        </p:txBody>
      </p:sp>
      <p:sp>
        <p:nvSpPr>
          <p:cNvPr id="38" name="Text 36"/>
          <p:cNvSpPr txBox="1"/>
          <p:nvPr/>
        </p:nvSpPr>
        <p:spPr>
          <a:xfrm>
            <a:off x="1371600" y="5568696"/>
            <a:ext cx="4297680" cy="548640"/>
          </a:xfrm>
          <a:prstGeom prst="rect">
            <a:avLst/>
          </a:prstGeom>
          <a:noFill/>
          <a:ln/>
        </p:spPr>
        <p:txBody>
          <a:bodyPr wrap="square" lIns="0" tIns="0" rIns="0" bIns="0" rtlCol="0" anchor="ctr"/>
          <a:lstStyle/>
          <a:p>
            <a:pPr indent="0" marL="0">
              <a:lnSpc>
                <a:spcPct val="110000"/>
              </a:lnSpc>
              <a:buNone/>
            </a:pPr>
            <a:r>
              <a:rPr lang="en-US" sz="1050" dirty="0">
                <a:solidFill>
                  <a:srgbClr val="5A6472"/>
                </a:solidFill>
                <a:latin typeface="Calibri" pitchFamily="34" charset="0"/>
                <a:ea typeface="Calibri" pitchFamily="34" charset="-122"/>
                <a:cs typeface="Calibri" pitchFamily="34" charset="-120"/>
              </a:rPr>
              <a:t>Guarantee no remediation ships if it would regress a protected query set.</a:t>
            </a:r>
            <a:endParaRPr lang="en-US" sz="1050" dirty="0"/>
          </a:p>
        </p:txBody>
      </p:sp>
      <p:sp>
        <p:nvSpPr>
          <p:cNvPr id="39" name="Shape 37"/>
          <p:cNvSpPr/>
          <p:nvPr/>
        </p:nvSpPr>
        <p:spPr>
          <a:xfrm>
            <a:off x="5806440" y="5266944"/>
            <a:ext cx="0" cy="804672"/>
          </a:xfrm>
          <a:prstGeom prst="line">
            <a:avLst/>
          </a:prstGeom>
          <a:noFill/>
          <a:ln w="12700">
            <a:solidFill>
              <a:srgbClr val="D8DEEA"/>
            </a:solidFill>
            <a:prstDash val="solid"/>
          </a:ln>
        </p:spPr>
      </p:sp>
      <p:sp>
        <p:nvSpPr>
          <p:cNvPr id="40" name="Text 38"/>
          <p:cNvSpPr txBox="1"/>
          <p:nvPr/>
        </p:nvSpPr>
        <p:spPr>
          <a:xfrm>
            <a:off x="6035040" y="5239512"/>
            <a:ext cx="2377440" cy="228600"/>
          </a:xfrm>
          <a:prstGeom prst="rect">
            <a:avLst/>
          </a:prstGeom>
          <a:noFill/>
          <a:ln/>
        </p:spPr>
        <p:txBody>
          <a:bodyPr wrap="square" lIns="0" tIns="0" rIns="0" bIns="0" rtlCol="0" anchor="ctr"/>
          <a:lstStyle/>
          <a:p>
            <a:pPr indent="0" marL="0">
              <a:buNone/>
            </a:pPr>
            <a:r>
              <a:rPr lang="en-US" sz="950" dirty="0">
                <a:solidFill>
                  <a:srgbClr val="5A6472"/>
                </a:solidFill>
                <a:latin typeface="Calibri" pitchFamily="34" charset="0"/>
                <a:ea typeface="Calibri" pitchFamily="34" charset="-122"/>
                <a:cs typeface="Calibri" pitchFamily="34" charset="-120"/>
              </a:rPr>
              <a:t>Design constraint</a:t>
            </a:r>
            <a:endParaRPr lang="en-US" sz="950" dirty="0"/>
          </a:p>
        </p:txBody>
      </p:sp>
      <p:sp>
        <p:nvSpPr>
          <p:cNvPr id="41" name="Text 39"/>
          <p:cNvSpPr txBox="1"/>
          <p:nvPr/>
        </p:nvSpPr>
        <p:spPr>
          <a:xfrm>
            <a:off x="6035040" y="5477256"/>
            <a:ext cx="2377440" cy="548640"/>
          </a:xfrm>
          <a:prstGeom prst="rect">
            <a:avLst/>
          </a:prstGeom>
          <a:noFill/>
          <a:ln/>
        </p:spPr>
        <p:txBody>
          <a:bodyPr wrap="square" lIns="0" tIns="0" rIns="0" bIns="0" rtlCol="0" anchor="ctr"/>
          <a:lstStyle/>
          <a:p>
            <a:pPr indent="0" marL="0">
              <a:lnSpc>
                <a:spcPct val="110000"/>
              </a:lnSpc>
              <a:buNone/>
            </a:pPr>
            <a:r>
              <a:rPr lang="en-US" sz="1200" b="1" dirty="0">
                <a:solidFill>
                  <a:srgbClr val="1B2A56"/>
                </a:solidFill>
                <a:latin typeface="Calibri" pitchFamily="34" charset="0"/>
                <a:ea typeface="Calibri" pitchFamily="34" charset="-122"/>
                <a:cs typeface="Calibri" pitchFamily="34" charset="-120"/>
              </a:rPr>
              <a:t>Zero silent regressions</a:t>
            </a:r>
            <a:endParaRPr lang="en-US" sz="1200" dirty="0"/>
          </a:p>
        </p:txBody>
      </p:sp>
      <p:sp>
        <p:nvSpPr>
          <p:cNvPr id="42" name="Text 40"/>
          <p:cNvSpPr txBox="1"/>
          <p:nvPr/>
        </p:nvSpPr>
        <p:spPr>
          <a:xfrm>
            <a:off x="8549640" y="5239512"/>
            <a:ext cx="2926080" cy="228600"/>
          </a:xfrm>
          <a:prstGeom prst="rect">
            <a:avLst/>
          </a:prstGeom>
          <a:noFill/>
          <a:ln/>
        </p:spPr>
        <p:txBody>
          <a:bodyPr wrap="square" lIns="0" tIns="0" rIns="0" bIns="0" rtlCol="0" anchor="ctr"/>
          <a:lstStyle/>
          <a:p>
            <a:pPr indent="0" marL="0">
              <a:buNone/>
            </a:pPr>
            <a:r>
              <a:rPr lang="en-US" sz="950" dirty="0">
                <a:solidFill>
                  <a:srgbClr val="5A6472"/>
                </a:solidFill>
                <a:latin typeface="Calibri" pitchFamily="34" charset="0"/>
                <a:ea typeface="Calibri" pitchFamily="34" charset="-122"/>
                <a:cs typeface="Calibri" pitchFamily="34" charset="-120"/>
              </a:rPr>
              <a:t>Measured result</a:t>
            </a:r>
            <a:endParaRPr lang="en-US" sz="950" dirty="0"/>
          </a:p>
        </p:txBody>
      </p:sp>
      <p:sp>
        <p:nvSpPr>
          <p:cNvPr id="43" name="Text 41"/>
          <p:cNvSpPr txBox="1"/>
          <p:nvPr/>
        </p:nvSpPr>
        <p:spPr>
          <a:xfrm>
            <a:off x="8549640" y="5477256"/>
            <a:ext cx="2926080" cy="640080"/>
          </a:xfrm>
          <a:prstGeom prst="rect">
            <a:avLst/>
          </a:prstGeom>
          <a:noFill/>
          <a:ln/>
        </p:spPr>
        <p:txBody>
          <a:bodyPr wrap="square" lIns="0" tIns="0" rIns="0" bIns="0" rtlCol="0" anchor="ctr"/>
          <a:lstStyle/>
          <a:p>
            <a:pPr indent="0" marL="0">
              <a:lnSpc>
                <a:spcPct val="110000"/>
              </a:lnSpc>
              <a:buNone/>
            </a:pPr>
            <a:r>
              <a:rPr lang="en-US" sz="1150" b="1" dirty="0">
                <a:solidFill>
                  <a:srgbClr val="1E824C"/>
                </a:solidFill>
                <a:latin typeface="Calibri" pitchFamily="34" charset="0"/>
                <a:ea typeface="Calibri" pitchFamily="34" charset="-122"/>
                <a:cs typeface="Calibri" pitchFamily="34" charset="-120"/>
              </a:rPr>
              <a:t>Gate correctly fired in 10/30 real test scenarios</a:t>
            </a:r>
            <a:endParaRPr lang="en-US" sz="1150" dirty="0"/>
          </a:p>
        </p:txBody>
      </p:sp>
      <p:sp>
        <p:nvSpPr>
          <p:cNvPr id="44" name="Text 42"/>
          <p:cNvSpPr txBox="1"/>
          <p:nvPr/>
        </p:nvSpPr>
        <p:spPr>
          <a:xfrm>
            <a:off x="548640" y="6382512"/>
            <a:ext cx="11064240" cy="365760"/>
          </a:xfrm>
          <a:prstGeom prst="rect">
            <a:avLst/>
          </a:prstGeom>
          <a:noFill/>
          <a:ln/>
        </p:spPr>
        <p:txBody>
          <a:bodyPr wrap="square" lIns="0" tIns="0" rIns="0" bIns="0" rtlCol="0" anchor="ctr"/>
          <a:lstStyle/>
          <a:p>
            <a:pPr indent="0" marL="0">
              <a:buNone/>
            </a:pPr>
            <a:r>
              <a:rPr lang="en-US" sz="1100" b="1" dirty="0">
                <a:solidFill>
                  <a:srgbClr val="1B2A56"/>
                </a:solidFill>
                <a:latin typeface="Calibri" pitchFamily="34" charset="0"/>
                <a:ea typeface="Calibri" pitchFamily="34" charset="-122"/>
                <a:cs typeface="Calibri" pitchFamily="34" charset="-120"/>
              </a:rPr>
              <a:t>Scope: </a:t>
            </a:r>
            <a:pPr indent="0" marL="0">
              <a:buNone/>
            </a:pPr>
            <a:r>
              <a:rPr lang="en-US" sz="1100" dirty="0">
                <a:solidFill>
                  <a:srgbClr val="20242E"/>
                </a:solidFill>
                <a:latin typeface="Calibri" pitchFamily="34" charset="0"/>
                <a:ea typeface="Calibri" pitchFamily="34" charset="-122"/>
                <a:cs typeface="Calibri" pitchFamily="34" charset="-120"/>
              </a:rPr>
              <a:t>BEIR SciFact corpus (5,000 docs), open sentence-transformer models, laptop-scale reproducible benchmark.   </a:t>
            </a:r>
            <a:pPr indent="0" marL="0">
              <a:buNone/>
            </a:pPr>
            <a:r>
              <a:rPr lang="en-US" sz="1100" b="1" dirty="0">
                <a:solidFill>
                  <a:srgbClr val="1B2A56"/>
                </a:solidFill>
                <a:latin typeface="Calibri" pitchFamily="34" charset="0"/>
                <a:ea typeface="Calibri" pitchFamily="34" charset="-122"/>
                <a:cs typeface="Calibri" pitchFamily="34" charset="-120"/>
              </a:rPr>
              <a:t>Out of scope (this phase): </a:t>
            </a:r>
            <a:pPr indent="0" marL="0">
              <a:buNone/>
            </a:pPr>
            <a:r>
              <a:rPr lang="en-US" sz="1100" dirty="0">
                <a:solidFill>
                  <a:srgbClr val="20242E"/>
                </a:solidFill>
                <a:latin typeface="Calibri" pitchFamily="34" charset="0"/>
                <a:ea typeface="Calibri" pitchFamily="34" charset="-122"/>
                <a:cs typeface="Calibri" pitchFamily="34" charset="-120"/>
              </a:rPr>
              <a:t>live production traffic replay; multi-corpus generalization — see Future Work.</a:t>
            </a:r>
            <a:endParaRPr lang="en-US" sz="1100" dirty="0"/>
          </a:p>
        </p:txBody>
      </p:sp>
      <p:sp>
        <p:nvSpPr>
          <p:cNvPr id="45" name="Text 4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a:t>
            </a:r>
            <a:endParaRPr lang="en-US" sz="900" dirty="0"/>
          </a:p>
        </p:txBody>
      </p:sp>
      <p:sp>
        <p:nvSpPr>
          <p:cNvPr id="46" name="Text 44"/>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DOMAIN / COHORT KNOWLEDGE</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Domain &amp; Cohort Knowledge</a:t>
            </a:r>
            <a:endParaRPr lang="en-US" sz="3200" dirty="0"/>
          </a:p>
        </p:txBody>
      </p:sp>
      <p:sp>
        <p:nvSpPr>
          <p:cNvPr id="4" name="Shape 2"/>
          <p:cNvSpPr/>
          <p:nvPr/>
        </p:nvSpPr>
        <p:spPr>
          <a:xfrm>
            <a:off x="548640" y="1508760"/>
            <a:ext cx="3429000" cy="4434840"/>
          </a:xfrm>
          <a:prstGeom prst="roundRect">
            <a:avLst>
              <a:gd name="adj" fmla="val 2133"/>
            </a:avLst>
          </a:prstGeom>
          <a:solidFill>
            <a:srgbClr val="1B2A56"/>
          </a:solidFill>
          <a:ln/>
        </p:spPr>
      </p:sp>
      <p:sp>
        <p:nvSpPr>
          <p:cNvPr id="5" name="Text 3"/>
          <p:cNvSpPr txBox="1"/>
          <p:nvPr/>
        </p:nvSpPr>
        <p:spPr>
          <a:xfrm>
            <a:off x="777240" y="1691640"/>
            <a:ext cx="3017520" cy="274320"/>
          </a:xfrm>
          <a:prstGeom prst="rect">
            <a:avLst/>
          </a:prstGeom>
          <a:noFill/>
          <a:ln/>
        </p:spPr>
        <p:txBody>
          <a:bodyPr wrap="square" lIns="0" tIns="0" rIns="0" bIns="0" rtlCol="0" anchor="ctr"/>
          <a:lstStyle/>
          <a:p>
            <a:pPr indent="0" marL="0">
              <a:buNone/>
            </a:pPr>
            <a:r>
              <a:rPr lang="en-US" sz="1100" b="1" spc="150" kern="0" dirty="0">
                <a:solidFill>
                  <a:srgbClr val="CFE0FA"/>
                </a:solidFill>
                <a:latin typeface="Calibri" pitchFamily="34" charset="0"/>
                <a:ea typeface="Calibri" pitchFamily="34" charset="-122"/>
                <a:cs typeface="Calibri" pitchFamily="34" charset="-120"/>
              </a:rPr>
              <a:t>DOMAIN</a:t>
            </a:r>
            <a:endParaRPr lang="en-US" sz="1100" dirty="0"/>
          </a:p>
        </p:txBody>
      </p:sp>
      <p:sp>
        <p:nvSpPr>
          <p:cNvPr id="6" name="Text 4"/>
          <p:cNvSpPr txBox="1"/>
          <p:nvPr/>
        </p:nvSpPr>
        <p:spPr>
          <a:xfrm>
            <a:off x="777240" y="1965960"/>
            <a:ext cx="3017520" cy="457200"/>
          </a:xfrm>
          <a:prstGeom prst="rect">
            <a:avLst/>
          </a:prstGeom>
          <a:noFill/>
          <a:ln/>
        </p:spPr>
        <p:txBody>
          <a:bodyPr wrap="square" lIns="0" tIns="0" rIns="0" bIns="0" rtlCol="0" anchor="ctr"/>
          <a:lstStyle/>
          <a:p>
            <a:pPr indent="0" marL="0">
              <a:lnSpc>
                <a:spcPct val="110000"/>
              </a:lnSpc>
              <a:buNone/>
            </a:pPr>
            <a:r>
              <a:rPr lang="en-US" sz="1700" b="1" dirty="0">
                <a:solidFill>
                  <a:srgbClr val="FFFFFF"/>
                </a:solidFill>
                <a:latin typeface="Cambria" pitchFamily="34" charset="0"/>
                <a:ea typeface="Cambria" pitchFamily="34" charset="-122"/>
                <a:cs typeface="Cambria" pitchFamily="34" charset="-120"/>
              </a:rPr>
              <a:t>Artificial Intelligence &amp; Machine Learning</a:t>
            </a:r>
            <a:endParaRPr lang="en-US" sz="1700" dirty="0"/>
          </a:p>
        </p:txBody>
      </p:sp>
      <p:sp>
        <p:nvSpPr>
          <p:cNvPr id="7" name="Text 5"/>
          <p:cNvSpPr txBox="1"/>
          <p:nvPr/>
        </p:nvSpPr>
        <p:spPr>
          <a:xfrm>
            <a:off x="777240" y="2514600"/>
            <a:ext cx="3017520" cy="502920"/>
          </a:xfrm>
          <a:prstGeom prst="rect">
            <a:avLst/>
          </a:prstGeom>
          <a:noFill/>
          <a:ln/>
        </p:spPr>
        <p:txBody>
          <a:bodyPr wrap="square" lIns="0" tIns="0" rIns="0" bIns="0" rtlCol="0" anchor="ctr"/>
          <a:lstStyle/>
          <a:p>
            <a:pPr indent="0" marL="0">
              <a:lnSpc>
                <a:spcPct val="115000"/>
              </a:lnSpc>
              <a:buNone/>
            </a:pPr>
            <a:r>
              <a:rPr lang="en-US" sz="1150" i="1" dirty="0">
                <a:solidFill>
                  <a:srgbClr val="CFE0FA"/>
                </a:solidFill>
                <a:latin typeface="Calibri" pitchFamily="34" charset="0"/>
                <a:ea typeface="Calibri" pitchFamily="34" charset="-122"/>
                <a:cs typeface="Calibri" pitchFamily="34" charset="-120"/>
              </a:rPr>
              <a:t>Sub-domain: Information Retrieval &amp; MLOps Systems Engineering</a:t>
            </a:r>
            <a:endParaRPr lang="en-US" sz="1150" dirty="0"/>
          </a:p>
        </p:txBody>
      </p:sp>
      <p:sp>
        <p:nvSpPr>
          <p:cNvPr id="8" name="Text 6"/>
          <p:cNvSpPr txBox="1"/>
          <p:nvPr/>
        </p:nvSpPr>
        <p:spPr>
          <a:xfrm>
            <a:off x="777240" y="3017520"/>
            <a:ext cx="3017520" cy="365760"/>
          </a:xfrm>
          <a:prstGeom prst="rect">
            <a:avLst/>
          </a:prstGeom>
          <a:noFill/>
          <a:ln/>
        </p:spPr>
        <p:txBody>
          <a:bodyPr wrap="square" lIns="0" tIns="0" rIns="0" bIns="0" rtlCol="0" anchor="ctr"/>
          <a:lstStyle/>
          <a:p>
            <a:pPr indent="0" marL="0">
              <a:buNone/>
            </a:pPr>
            <a:r>
              <a:rPr lang="en-US" sz="950" i="1" dirty="0">
                <a:solidFill>
                  <a:srgbClr val="C97A22"/>
                </a:solidFill>
                <a:latin typeface="Calibri" pitchFamily="34" charset="0"/>
                <a:ea typeface="Calibri" pitchFamily="34" charset="-122"/>
                <a:cs typeface="Calibri" pitchFamily="34" charset="-120"/>
              </a:rPr>
              <a:t>[Confirm exact enrolled cohort/track name with coordinator]</a:t>
            </a:r>
            <a:endParaRPr lang="en-US" sz="950" dirty="0"/>
          </a:p>
        </p:txBody>
      </p:sp>
      <p:sp>
        <p:nvSpPr>
          <p:cNvPr id="9" name="Shape 7"/>
          <p:cNvSpPr/>
          <p:nvPr/>
        </p:nvSpPr>
        <p:spPr>
          <a:xfrm>
            <a:off x="777240" y="3520440"/>
            <a:ext cx="2971800" cy="0"/>
          </a:xfrm>
          <a:prstGeom prst="line">
            <a:avLst/>
          </a:prstGeom>
          <a:noFill/>
          <a:ln w="12700">
            <a:solidFill>
              <a:srgbClr val="33447A"/>
            </a:solidFill>
            <a:prstDash val="solid"/>
          </a:ln>
        </p:spPr>
      </p:sp>
      <p:sp>
        <p:nvSpPr>
          <p:cNvPr id="10" name="Text 8"/>
          <p:cNvSpPr txBox="1"/>
          <p:nvPr/>
        </p:nvSpPr>
        <p:spPr>
          <a:xfrm>
            <a:off x="777240" y="3657600"/>
            <a:ext cx="3017520" cy="274320"/>
          </a:xfrm>
          <a:prstGeom prst="rect">
            <a:avLst/>
          </a:prstGeom>
          <a:noFill/>
          <a:ln/>
        </p:spPr>
        <p:txBody>
          <a:bodyPr wrap="square" lIns="0" tIns="0" rIns="0" bIns="0" rtlCol="0" anchor="ctr"/>
          <a:lstStyle/>
          <a:p>
            <a:pPr indent="0" marL="0">
              <a:buNone/>
            </a:pPr>
            <a:r>
              <a:rPr lang="en-US" sz="1100" b="1" spc="150" kern="0" dirty="0">
                <a:solidFill>
                  <a:srgbClr val="CFE0FA"/>
                </a:solidFill>
                <a:latin typeface="Calibri" pitchFamily="34" charset="0"/>
                <a:ea typeface="Calibri" pitchFamily="34" charset="-122"/>
                <a:cs typeface="Calibri" pitchFamily="34" charset="-120"/>
              </a:rPr>
              <a:t>KEY TERMS</a:t>
            </a:r>
            <a:endParaRPr lang="en-US" sz="1100" dirty="0"/>
          </a:p>
        </p:txBody>
      </p:sp>
      <p:sp>
        <p:nvSpPr>
          <p:cNvPr id="11" name="Text 9"/>
          <p:cNvSpPr txBox="1"/>
          <p:nvPr/>
        </p:nvSpPr>
        <p:spPr>
          <a:xfrm>
            <a:off x="777240" y="3950208"/>
            <a:ext cx="3017520" cy="1828800"/>
          </a:xfrm>
          <a:prstGeom prst="rect">
            <a:avLst/>
          </a:prstGeom>
          <a:noFill/>
          <a:ln/>
        </p:spPr>
        <p:txBody>
          <a:bodyPr wrap="square" lIns="0" tIns="0" rIns="0" bIns="0" rtlCol="0" anchor="ctr"/>
          <a:lstStyle/>
          <a:p>
            <a:pPr indent="0" marL="0">
              <a:lnSpc>
                <a:spcPct val="135000"/>
              </a:lnSpc>
              <a:buNone/>
            </a:pPr>
            <a:r>
              <a:rPr lang="en-US" sz="1050" dirty="0">
                <a:solidFill>
                  <a:srgbClr val="CFE0FA"/>
                </a:solidFill>
                <a:latin typeface="Calibri" pitchFamily="34" charset="0"/>
                <a:ea typeface="Calibri" pitchFamily="34" charset="-122"/>
                <a:cs typeface="Calibri" pitchFamily="34" charset="-120"/>
              </a:rPr>
              <a:t>• Embedding — a dense numeric vector encoding meaning</a:t>
            </a:r>
            <a:endParaRPr lang="en-US" sz="1050" dirty="0"/>
          </a:p>
          <a:p>
            <a:pPr indent="0" marL="0">
              <a:lnSpc>
                <a:spcPct val="135000"/>
              </a:lnSpc>
              <a:buNone/>
            </a:pPr>
            <a:r>
              <a:rPr lang="en-US" sz="1050" dirty="0">
                <a:solidFill>
                  <a:srgbClr val="CFE0FA"/>
                </a:solidFill>
                <a:latin typeface="Calibri" pitchFamily="34" charset="0"/>
                <a:ea typeface="Calibri" pitchFamily="34" charset="-122"/>
                <a:cs typeface="Calibri" pitchFamily="34" charset="-120"/>
              </a:rPr>
              <a:t>• Cosine similarity — angle-based closeness between vectors</a:t>
            </a:r>
            <a:endParaRPr lang="en-US" sz="1050" dirty="0"/>
          </a:p>
          <a:p>
            <a:pPr indent="0" marL="0">
              <a:lnSpc>
                <a:spcPct val="135000"/>
              </a:lnSpc>
              <a:buNone/>
            </a:pPr>
            <a:r>
              <a:rPr lang="en-US" sz="1050" dirty="0">
                <a:solidFill>
                  <a:srgbClr val="CFE0FA"/>
                </a:solidFill>
                <a:latin typeface="Calibri" pitchFamily="34" charset="0"/>
                <a:ea typeface="Calibri" pitchFamily="34" charset="-122"/>
                <a:cs typeface="Calibri" pitchFamily="34" charset="-120"/>
              </a:rPr>
              <a:t>• ANN index (e.g. HNSW/FAISS) — fast approximate vector search</a:t>
            </a:r>
            <a:endParaRPr lang="en-US" sz="1050" dirty="0"/>
          </a:p>
          <a:p>
            <a:pPr indent="0" marL="0">
              <a:lnSpc>
                <a:spcPct val="135000"/>
              </a:lnSpc>
              <a:buNone/>
            </a:pPr>
            <a:r>
              <a:rPr lang="en-US" sz="1050" dirty="0">
                <a:solidFill>
                  <a:srgbClr val="CFE0FA"/>
                </a:solidFill>
                <a:latin typeface="Calibri" pitchFamily="34" charset="0"/>
                <a:ea typeface="Calibri" pitchFamily="34" charset="-122"/>
                <a:cs typeface="Calibri" pitchFamily="34" charset="-120"/>
              </a:rPr>
              <a:t>• Embedding drift — silent semantic shift across model versions</a:t>
            </a:r>
            <a:endParaRPr lang="en-US" sz="1050" dirty="0"/>
          </a:p>
        </p:txBody>
      </p:sp>
      <p:sp>
        <p:nvSpPr>
          <p:cNvPr id="12" name="Shape 10"/>
          <p:cNvSpPr/>
          <p:nvPr/>
        </p:nvSpPr>
        <p:spPr>
          <a:xfrm>
            <a:off x="4160520" y="1508760"/>
            <a:ext cx="7452360" cy="1399032"/>
          </a:xfrm>
          <a:prstGeom prst="roundRect">
            <a:avLst>
              <a:gd name="adj" fmla="val 5229"/>
            </a:avLst>
          </a:prstGeom>
          <a:solidFill>
            <a:srgbClr val="F4F7FC"/>
          </a:solidFill>
          <a:ln/>
          <a:effectLst>
            <a:outerShdw sx="100000" sy="100000" kx="0" ky="0" algn="bl" rotWithShape="0" blurRad="101600" dist="38100" dir="5400000">
              <a:srgbClr val="1B2A56">
                <a:alpha val="12000"/>
              </a:srgbClr>
            </a:outerShdw>
          </a:effectLst>
        </p:spPr>
      </p:sp>
      <p:sp>
        <p:nvSpPr>
          <p:cNvPr id="13" name="Text 11"/>
          <p:cNvSpPr txBox="1"/>
          <p:nvPr/>
        </p:nvSpPr>
        <p:spPr>
          <a:xfrm>
            <a:off x="4389120" y="1618488"/>
            <a:ext cx="694944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Current Trends &amp; Technologies</a:t>
            </a:r>
            <a:endParaRPr lang="en-US" sz="1300" dirty="0"/>
          </a:p>
        </p:txBody>
      </p:sp>
      <p:sp>
        <p:nvSpPr>
          <p:cNvPr id="14" name="Text 12"/>
          <p:cNvSpPr txBox="1"/>
          <p:nvPr/>
        </p:nvSpPr>
        <p:spPr>
          <a:xfrm>
            <a:off x="4389120" y="1929384"/>
            <a:ext cx="6949440" cy="914400"/>
          </a:xfrm>
          <a:prstGeom prst="rect">
            <a:avLst/>
          </a:prstGeom>
          <a:noFill/>
          <a:ln/>
        </p:spPr>
        <p:txBody>
          <a:bodyPr wrap="square" lIns="0" tIns="0" rIns="0" bIns="0" rtlCol="0" anchor="ctr"/>
          <a:lstStyle/>
          <a:p>
            <a:pPr indent="0" marL="0">
              <a:lnSpc>
                <a:spcPct val="120000"/>
              </a:lnSpc>
              <a:buNone/>
            </a:pPr>
            <a:r>
              <a:rPr lang="en-US" sz="1100" dirty="0">
                <a:solidFill>
                  <a:srgbClr val="20242E"/>
                </a:solidFill>
                <a:latin typeface="Calibri" pitchFamily="34" charset="0"/>
                <a:ea typeface="Calibri" pitchFamily="34" charset="-122"/>
                <a:cs typeface="Calibri" pitchFamily="34" charset="-120"/>
              </a:rPr>
              <a:t>Retrieval-Augmented Generation (RAG) has made vector search a core production dependency; providers now ship frequent embedding-model updates (OpenAI, Cohere, open sentence-transformers). Over 20 commercial vector-database systems have launched in the past five years (Pan et al., 2024, VLDB Journal).</a:t>
            </a:r>
            <a:endParaRPr lang="en-US" sz="1100" dirty="0"/>
          </a:p>
        </p:txBody>
      </p:sp>
      <p:sp>
        <p:nvSpPr>
          <p:cNvPr id="15" name="Shape 13"/>
          <p:cNvSpPr/>
          <p:nvPr/>
        </p:nvSpPr>
        <p:spPr>
          <a:xfrm>
            <a:off x="4160520" y="3044952"/>
            <a:ext cx="7452360" cy="1399032"/>
          </a:xfrm>
          <a:prstGeom prst="roundRect">
            <a:avLst>
              <a:gd name="adj" fmla="val 5229"/>
            </a:avLst>
          </a:prstGeom>
          <a:solidFill>
            <a:srgbClr val="F4F7FC"/>
          </a:solidFill>
          <a:ln/>
          <a:effectLst>
            <a:outerShdw sx="100000" sy="100000" kx="0" ky="0" algn="bl" rotWithShape="0" blurRad="101600" dist="38100" dir="5400000">
              <a:srgbClr val="1B2A56">
                <a:alpha val="12000"/>
              </a:srgbClr>
            </a:outerShdw>
          </a:effectLst>
        </p:spPr>
      </p:sp>
      <p:sp>
        <p:nvSpPr>
          <p:cNvPr id="16" name="Text 14"/>
          <p:cNvSpPr txBox="1"/>
          <p:nvPr/>
        </p:nvSpPr>
        <p:spPr>
          <a:xfrm>
            <a:off x="4389120" y="3154680"/>
            <a:ext cx="694944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Real-World Applications</a:t>
            </a:r>
            <a:endParaRPr lang="en-US" sz="1300" dirty="0"/>
          </a:p>
        </p:txBody>
      </p:sp>
      <p:sp>
        <p:nvSpPr>
          <p:cNvPr id="17" name="Text 15"/>
          <p:cNvSpPr txBox="1"/>
          <p:nvPr/>
        </p:nvSpPr>
        <p:spPr>
          <a:xfrm>
            <a:off x="4389120" y="3465576"/>
            <a:ext cx="6949440" cy="914400"/>
          </a:xfrm>
          <a:prstGeom prst="rect">
            <a:avLst/>
          </a:prstGeom>
          <a:noFill/>
          <a:ln/>
        </p:spPr>
        <p:txBody>
          <a:bodyPr wrap="square" lIns="0" tIns="0" rIns="0" bIns="0" rtlCol="0" anchor="ctr"/>
          <a:lstStyle/>
          <a:p>
            <a:pPr indent="0" marL="0">
              <a:lnSpc>
                <a:spcPct val="120000"/>
              </a:lnSpc>
              <a:buNone/>
            </a:pPr>
            <a:r>
              <a:rPr lang="en-US" sz="1100" dirty="0">
                <a:solidFill>
                  <a:srgbClr val="20242E"/>
                </a:solidFill>
                <a:latin typeface="Calibri" pitchFamily="34" charset="0"/>
                <a:ea typeface="Calibri" pitchFamily="34" charset="-122"/>
                <a:cs typeface="Calibri" pitchFamily="34" charset="-120"/>
              </a:rPr>
              <a:t>Pinecone, Weaviate, Milvus, and FAISS/HNSW-based search stacks power semantic search and RAG assistants at companies ranging from startups to major AI labs — every one of them is exposed to this exact silent-drift failure mode.</a:t>
            </a:r>
            <a:endParaRPr lang="en-US" sz="1100" dirty="0"/>
          </a:p>
        </p:txBody>
      </p:sp>
      <p:sp>
        <p:nvSpPr>
          <p:cNvPr id="18" name="Shape 16"/>
          <p:cNvSpPr/>
          <p:nvPr/>
        </p:nvSpPr>
        <p:spPr>
          <a:xfrm>
            <a:off x="4160520" y="4581144"/>
            <a:ext cx="7452360" cy="1399032"/>
          </a:xfrm>
          <a:prstGeom prst="roundRect">
            <a:avLst>
              <a:gd name="adj" fmla="val 5229"/>
            </a:avLst>
          </a:prstGeom>
          <a:solidFill>
            <a:srgbClr val="F4F7FC"/>
          </a:solidFill>
          <a:ln/>
          <a:effectLst>
            <a:outerShdw sx="100000" sy="100000" kx="0" ky="0" algn="bl" rotWithShape="0" blurRad="101600" dist="38100" dir="5400000">
              <a:srgbClr val="1B2A56">
                <a:alpha val="12000"/>
              </a:srgbClr>
            </a:outerShdw>
          </a:effectLst>
        </p:spPr>
      </p:sp>
      <p:sp>
        <p:nvSpPr>
          <p:cNvPr id="19" name="Text 17"/>
          <p:cNvSpPr txBox="1"/>
          <p:nvPr/>
        </p:nvSpPr>
        <p:spPr>
          <a:xfrm>
            <a:off x="4389120" y="4690872"/>
            <a:ext cx="694944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Relevance to This Project</a:t>
            </a:r>
            <a:endParaRPr lang="en-US" sz="1300" dirty="0"/>
          </a:p>
        </p:txBody>
      </p:sp>
      <p:sp>
        <p:nvSpPr>
          <p:cNvPr id="20" name="Text 18"/>
          <p:cNvSpPr txBox="1"/>
          <p:nvPr/>
        </p:nvSpPr>
        <p:spPr>
          <a:xfrm>
            <a:off x="4389120" y="5001768"/>
            <a:ext cx="6949440" cy="914400"/>
          </a:xfrm>
          <a:prstGeom prst="rect">
            <a:avLst/>
          </a:prstGeom>
          <a:noFill/>
          <a:ln/>
        </p:spPr>
        <p:txBody>
          <a:bodyPr wrap="square" lIns="0" tIns="0" rIns="0" bIns="0" rtlCol="0" anchor="ctr"/>
          <a:lstStyle/>
          <a:p>
            <a:pPr indent="0" marL="0">
              <a:lnSpc>
                <a:spcPct val="120000"/>
              </a:lnSpc>
              <a:buNone/>
            </a:pPr>
            <a:r>
              <a:rPr lang="en-US" sz="1100" dirty="0">
                <a:solidFill>
                  <a:srgbClr val="20242E"/>
                </a:solidFill>
                <a:latin typeface="Calibri" pitchFamily="34" charset="0"/>
                <a:ea typeface="Calibri" pitchFamily="34" charset="-122"/>
                <a:cs typeface="Calibri" pitchFamily="34" charset="-120"/>
              </a:rPr>
              <a:t>VectorSentry sits precisely at the intersection of information-retrieval evaluation, anomaly detection, and MLOps deployment safety — three established sub-fields this project deliberately combines rather than treats in isolation.</a:t>
            </a:r>
            <a:endParaRPr lang="en-US" sz="1100" dirty="0"/>
          </a:p>
        </p:txBody>
      </p:sp>
      <p:sp>
        <p:nvSpPr>
          <p:cNvPr id="21" name="Text 19"/>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a:t>
            </a:r>
            <a:endParaRPr lang="en-US" sz="900" dirty="0"/>
          </a:p>
        </p:txBody>
      </p:sp>
      <p:sp>
        <p:nvSpPr>
          <p:cNvPr id="22" name="Text 20"/>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RESEARCH  ·  LITERATURE (10 MARKS)  —  1 OF 2</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Literature Survey — Landscape</a:t>
            </a:r>
            <a:endParaRPr lang="en-US" sz="3200" dirty="0"/>
          </a:p>
        </p:txBody>
      </p:sp>
      <p:sp>
        <p:nvSpPr>
          <p:cNvPr id="4" name="Text 2"/>
          <p:cNvSpPr txBox="1"/>
          <p:nvPr/>
        </p:nvSpPr>
        <p:spPr>
          <a:xfrm>
            <a:off x="548640" y="1298448"/>
            <a:ext cx="10058400" cy="274320"/>
          </a:xfrm>
          <a:prstGeom prst="rect">
            <a:avLst/>
          </a:prstGeom>
          <a:noFill/>
          <a:ln/>
        </p:spPr>
        <p:txBody>
          <a:bodyPr wrap="square" lIns="0" tIns="0" rIns="0" bIns="0" rtlCol="0" anchor="ctr"/>
          <a:lstStyle/>
          <a:p>
            <a:pPr indent="0" marL="0">
              <a:buNone/>
            </a:pPr>
            <a:r>
              <a:rPr lang="en-US" sz="1150" i="1" dirty="0">
                <a:solidFill>
                  <a:srgbClr val="5A6472"/>
                </a:solidFill>
                <a:latin typeface="Calibri" pitchFamily="34" charset="0"/>
                <a:ea typeface="Calibri" pitchFamily="34" charset="-122"/>
                <a:cs typeface="Calibri" pitchFamily="34" charset="-120"/>
              </a:rPr>
              <a:t>15 peer-reviewed sources across three clusters (full APA list on the References slide)</a:t>
            </a:r>
            <a:endParaRPr lang="en-US" sz="1150" dirty="0"/>
          </a:p>
        </p:txBody>
      </p:sp>
      <p:sp>
        <p:nvSpPr>
          <p:cNvPr id="5" name="Shape 3"/>
          <p:cNvSpPr/>
          <p:nvPr/>
        </p:nvSpPr>
        <p:spPr>
          <a:xfrm>
            <a:off x="548640" y="1691640"/>
            <a:ext cx="3639312" cy="4297680"/>
          </a:xfrm>
          <a:prstGeom prst="roundRect">
            <a:avLst>
              <a:gd name="adj" fmla="val 2010"/>
            </a:avLst>
          </a:prstGeom>
          <a:solidFill>
            <a:srgbClr val="F4F7FC"/>
          </a:solidFill>
          <a:ln/>
          <a:effectLst>
            <a:outerShdw sx="100000" sy="100000" kx="0" ky="0" algn="bl" rotWithShape="0" blurRad="101600" dist="38100" dir="5400000">
              <a:srgbClr val="1B2A56">
                <a:alpha val="12000"/>
              </a:srgbClr>
            </a:outerShdw>
          </a:effectLst>
        </p:spPr>
      </p:sp>
      <p:sp>
        <p:nvSpPr>
          <p:cNvPr id="6" name="Text 4"/>
          <p:cNvSpPr txBox="1"/>
          <p:nvPr/>
        </p:nvSpPr>
        <p:spPr>
          <a:xfrm>
            <a:off x="777240" y="1847088"/>
            <a:ext cx="3182112" cy="502920"/>
          </a:xfrm>
          <a:prstGeom prst="rect">
            <a:avLst/>
          </a:prstGeom>
          <a:noFill/>
          <a:ln/>
        </p:spPr>
        <p:txBody>
          <a:bodyPr wrap="square" lIns="0" tIns="0" rIns="0" bIns="0" rtlCol="0" anchor="ctr"/>
          <a:lstStyle/>
          <a:p>
            <a:pPr indent="0" marL="0">
              <a:lnSpc>
                <a:spcPct val="105000"/>
              </a:lnSpc>
              <a:buNone/>
            </a:pPr>
            <a:r>
              <a:rPr lang="en-US" sz="1300" b="1" dirty="0">
                <a:solidFill>
                  <a:srgbClr val="0E7C7B"/>
                </a:solidFill>
                <a:latin typeface="Calibri" pitchFamily="34" charset="0"/>
                <a:ea typeface="Calibri" pitchFamily="34" charset="-122"/>
                <a:cs typeface="Calibri" pitchFamily="34" charset="-120"/>
              </a:rPr>
              <a:t>Cluster A — Detecting Contamination</a:t>
            </a:r>
            <a:endParaRPr lang="en-US" sz="1300" dirty="0"/>
          </a:p>
        </p:txBody>
      </p:sp>
      <p:sp>
        <p:nvSpPr>
          <p:cNvPr id="7" name="Text 5"/>
          <p:cNvSpPr txBox="1"/>
          <p:nvPr/>
        </p:nvSpPr>
        <p:spPr>
          <a:xfrm>
            <a:off x="777240" y="2304288"/>
            <a:ext cx="3182112" cy="228600"/>
          </a:xfrm>
          <a:prstGeom prst="rect">
            <a:avLst/>
          </a:prstGeom>
          <a:noFill/>
          <a:ln/>
        </p:spPr>
        <p:txBody>
          <a:bodyPr wrap="square" lIns="0" tIns="0" rIns="0" bIns="0" rtlCol="0" anchor="ctr"/>
          <a:lstStyle/>
          <a:p>
            <a:pPr indent="0" marL="0">
              <a:buNone/>
            </a:pPr>
            <a:r>
              <a:rPr lang="en-US" sz="1000" b="1" spc="100" kern="0" dirty="0">
                <a:solidFill>
                  <a:srgbClr val="5A6472"/>
                </a:solidFill>
                <a:latin typeface="Calibri" pitchFamily="34" charset="0"/>
                <a:ea typeface="Calibri" pitchFamily="34" charset="-122"/>
                <a:cs typeface="Calibri" pitchFamily="34" charset="-120"/>
              </a:rPr>
              <a:t>4 papers</a:t>
            </a:r>
            <a:endParaRPr lang="en-US" sz="1000" dirty="0"/>
          </a:p>
        </p:txBody>
      </p:sp>
      <p:sp>
        <p:nvSpPr>
          <p:cNvPr id="8" name="Text 6"/>
          <p:cNvSpPr txBox="1"/>
          <p:nvPr/>
        </p:nvSpPr>
        <p:spPr>
          <a:xfrm>
            <a:off x="777240" y="2606040"/>
            <a:ext cx="3182112" cy="1737360"/>
          </a:xfrm>
          <a:prstGeom prst="rect">
            <a:avLst/>
          </a:prstGeom>
          <a:noFill/>
          <a:ln/>
        </p:spPr>
        <p:txBody>
          <a:bodyPr wrap="square" lIns="0" tIns="0" rIns="0" bIns="0" rtlCol="0" anchor="ctr"/>
          <a:lstStyle/>
          <a:p>
            <a:pPr marL="342900" indent="-342900">
              <a:lnSpc>
                <a:spcPct val="105000"/>
              </a:lnSpc>
              <a:spcAft>
                <a:spcPts val="500"/>
              </a:spcAft>
              <a:buSzPct val="100000"/>
              <a:buChar char="•"/>
            </a:pPr>
            <a:r>
              <a:rPr lang="en-US" sz="970" dirty="0">
                <a:solidFill>
                  <a:srgbClr val="20242E"/>
                </a:solidFill>
                <a:latin typeface="Calibri" pitchFamily="34" charset="0"/>
                <a:ea typeface="Calibri" pitchFamily="34" charset="-122"/>
                <a:cs typeface="Calibri" pitchFamily="34" charset="-120"/>
              </a:rPr>
              <a:t>Sun et al. (2022) — KNN-OOD, ICML</a:t>
            </a:r>
            <a:endParaRPr lang="en-US" sz="970" dirty="0"/>
          </a:p>
          <a:p>
            <a:pPr marL="342900" indent="-342900">
              <a:lnSpc>
                <a:spcPct val="105000"/>
              </a:lnSpc>
              <a:spcAft>
                <a:spcPts val="500"/>
              </a:spcAft>
              <a:buSzPct val="100000"/>
              <a:buChar char="•"/>
            </a:pPr>
            <a:r>
              <a:rPr lang="en-US" sz="970" dirty="0">
                <a:solidFill>
                  <a:srgbClr val="20242E"/>
                </a:solidFill>
                <a:latin typeface="Calibri" pitchFamily="34" charset="0"/>
                <a:ea typeface="Calibri" pitchFamily="34" charset="-122"/>
                <a:cs typeface="Calibri" pitchFamily="34" charset="-120"/>
              </a:rPr>
              <a:t>Lu et al. (2024) — OOD survey, ACM CSUR</a:t>
            </a:r>
            <a:endParaRPr lang="en-US" sz="970" dirty="0"/>
          </a:p>
          <a:p>
            <a:pPr marL="342900" indent="-342900">
              <a:lnSpc>
                <a:spcPct val="105000"/>
              </a:lnSpc>
              <a:spcAft>
                <a:spcPts val="500"/>
              </a:spcAft>
              <a:buSzPct val="100000"/>
              <a:buChar char="•"/>
            </a:pPr>
            <a:r>
              <a:rPr lang="en-US" sz="970" dirty="0">
                <a:solidFill>
                  <a:srgbClr val="20242E"/>
                </a:solidFill>
                <a:latin typeface="Calibri" pitchFamily="34" charset="0"/>
                <a:ea typeface="Calibri" pitchFamily="34" charset="-122"/>
                <a:cs typeface="Calibri" pitchFamily="34" charset="-120"/>
              </a:rPr>
              <a:t>Liu et al. (2008) — Isolation Forest, IEEE ICDM</a:t>
            </a:r>
            <a:endParaRPr lang="en-US" sz="970" dirty="0"/>
          </a:p>
          <a:p>
            <a:pPr marL="342900" indent="-342900">
              <a:lnSpc>
                <a:spcPct val="105000"/>
              </a:lnSpc>
              <a:spcAft>
                <a:spcPts val="500"/>
              </a:spcAft>
              <a:buSzPct val="100000"/>
              <a:buChar char="•"/>
            </a:pPr>
            <a:r>
              <a:rPr lang="en-US" sz="970" dirty="0">
                <a:solidFill>
                  <a:srgbClr val="20242E"/>
                </a:solidFill>
                <a:latin typeface="Calibri" pitchFamily="34" charset="0"/>
                <a:ea typeface="Calibri" pitchFamily="34" charset="-122"/>
                <a:cs typeface="Calibri" pitchFamily="34" charset="-120"/>
              </a:rPr>
              <a:t>Breunig et al. (2000) — LOF, ACM SIGMOD</a:t>
            </a:r>
            <a:endParaRPr lang="en-US" sz="970" dirty="0"/>
          </a:p>
        </p:txBody>
      </p:sp>
      <p:sp>
        <p:nvSpPr>
          <p:cNvPr id="9" name="Shape 7"/>
          <p:cNvSpPr/>
          <p:nvPr/>
        </p:nvSpPr>
        <p:spPr>
          <a:xfrm>
            <a:off x="777240" y="4434840"/>
            <a:ext cx="3182112" cy="0"/>
          </a:xfrm>
          <a:prstGeom prst="line">
            <a:avLst/>
          </a:prstGeom>
          <a:noFill/>
          <a:ln w="12700">
            <a:solidFill>
              <a:srgbClr val="D8DEEA"/>
            </a:solidFill>
            <a:prstDash val="solid"/>
          </a:ln>
        </p:spPr>
      </p:sp>
      <p:sp>
        <p:nvSpPr>
          <p:cNvPr id="10" name="Text 8"/>
          <p:cNvSpPr txBox="1"/>
          <p:nvPr/>
        </p:nvSpPr>
        <p:spPr>
          <a:xfrm>
            <a:off x="777240" y="4572000"/>
            <a:ext cx="3182112" cy="1325880"/>
          </a:xfrm>
          <a:prstGeom prst="rect">
            <a:avLst/>
          </a:prstGeom>
          <a:noFill/>
          <a:ln/>
        </p:spPr>
        <p:txBody>
          <a:bodyPr wrap="square" lIns="0" tIns="0" rIns="0" bIns="0" rtlCol="0" anchor="ctr"/>
          <a:lstStyle/>
          <a:p>
            <a:pPr indent="0" marL="0">
              <a:lnSpc>
                <a:spcPct val="115000"/>
              </a:lnSpc>
              <a:buNone/>
            </a:pPr>
            <a:r>
              <a:rPr lang="en-US" sz="930" i="1" dirty="0">
                <a:solidFill>
                  <a:srgbClr val="5A6472"/>
                </a:solidFill>
                <a:latin typeface="Calibri" pitchFamily="34" charset="0"/>
                <a:ea typeface="Calibri" pitchFamily="34" charset="-122"/>
                <a:cs typeface="Calibri" pitchFamily="34" charset="-120"/>
              </a:rPr>
              <a:t>Mature, well-validated anomaly-detection theory — but none targets embedding-generation mismatch specifically, and none says what to do once you've detected it.</a:t>
            </a:r>
            <a:endParaRPr lang="en-US" sz="930" dirty="0"/>
          </a:p>
        </p:txBody>
      </p:sp>
      <p:sp>
        <p:nvSpPr>
          <p:cNvPr id="11" name="Shape 9"/>
          <p:cNvSpPr/>
          <p:nvPr/>
        </p:nvSpPr>
        <p:spPr>
          <a:xfrm>
            <a:off x="4361688" y="1691640"/>
            <a:ext cx="3639312" cy="4297680"/>
          </a:xfrm>
          <a:prstGeom prst="roundRect">
            <a:avLst>
              <a:gd name="adj" fmla="val 2010"/>
            </a:avLst>
          </a:prstGeom>
          <a:solidFill>
            <a:srgbClr val="F4F7FC"/>
          </a:solidFill>
          <a:ln/>
          <a:effectLst>
            <a:outerShdw sx="100000" sy="100000" kx="0" ky="0" algn="bl" rotWithShape="0" blurRad="101600" dist="38100" dir="5400000">
              <a:srgbClr val="1B2A56">
                <a:alpha val="12000"/>
              </a:srgbClr>
            </a:outerShdw>
          </a:effectLst>
        </p:spPr>
      </p:sp>
      <p:sp>
        <p:nvSpPr>
          <p:cNvPr id="12" name="Text 10"/>
          <p:cNvSpPr txBox="1"/>
          <p:nvPr/>
        </p:nvSpPr>
        <p:spPr>
          <a:xfrm>
            <a:off x="4590288" y="1847088"/>
            <a:ext cx="3182112" cy="502920"/>
          </a:xfrm>
          <a:prstGeom prst="rect">
            <a:avLst/>
          </a:prstGeom>
          <a:noFill/>
          <a:ln/>
        </p:spPr>
        <p:txBody>
          <a:bodyPr wrap="square" lIns="0" tIns="0" rIns="0" bIns="0" rtlCol="0" anchor="ctr"/>
          <a:lstStyle/>
          <a:p>
            <a:pPr indent="0" marL="0">
              <a:lnSpc>
                <a:spcPct val="105000"/>
              </a:lnSpc>
              <a:buNone/>
            </a:pPr>
            <a:r>
              <a:rPr lang="en-US" sz="1300" b="1" dirty="0">
                <a:solidFill>
                  <a:srgbClr val="C97A22"/>
                </a:solidFill>
                <a:latin typeface="Calibri" pitchFamily="34" charset="0"/>
                <a:ea typeface="Calibri" pitchFamily="34" charset="-122"/>
                <a:cs typeface="Calibri" pitchFamily="34" charset="-120"/>
              </a:rPr>
              <a:t>Cluster B — Cheaply Realigning Embeddings</a:t>
            </a:r>
            <a:endParaRPr lang="en-US" sz="1300" dirty="0"/>
          </a:p>
        </p:txBody>
      </p:sp>
      <p:sp>
        <p:nvSpPr>
          <p:cNvPr id="13" name="Text 11"/>
          <p:cNvSpPr txBox="1"/>
          <p:nvPr/>
        </p:nvSpPr>
        <p:spPr>
          <a:xfrm>
            <a:off x="4590288" y="2304288"/>
            <a:ext cx="3182112" cy="228600"/>
          </a:xfrm>
          <a:prstGeom prst="rect">
            <a:avLst/>
          </a:prstGeom>
          <a:noFill/>
          <a:ln/>
        </p:spPr>
        <p:txBody>
          <a:bodyPr wrap="square" lIns="0" tIns="0" rIns="0" bIns="0" rtlCol="0" anchor="ctr"/>
          <a:lstStyle/>
          <a:p>
            <a:pPr indent="0" marL="0">
              <a:buNone/>
            </a:pPr>
            <a:r>
              <a:rPr lang="en-US" sz="1000" b="1" spc="100" kern="0" dirty="0">
                <a:solidFill>
                  <a:srgbClr val="5A6472"/>
                </a:solidFill>
                <a:latin typeface="Calibri" pitchFamily="34" charset="0"/>
                <a:ea typeface="Calibri" pitchFamily="34" charset="-122"/>
                <a:cs typeface="Calibri" pitchFamily="34" charset="-120"/>
              </a:rPr>
              <a:t>3 papers</a:t>
            </a:r>
            <a:endParaRPr lang="en-US" sz="1000" dirty="0"/>
          </a:p>
        </p:txBody>
      </p:sp>
      <p:sp>
        <p:nvSpPr>
          <p:cNvPr id="14" name="Text 12"/>
          <p:cNvSpPr txBox="1"/>
          <p:nvPr/>
        </p:nvSpPr>
        <p:spPr>
          <a:xfrm>
            <a:off x="4590288" y="2606040"/>
            <a:ext cx="3182112" cy="1737360"/>
          </a:xfrm>
          <a:prstGeom prst="rect">
            <a:avLst/>
          </a:prstGeom>
          <a:noFill/>
          <a:ln/>
        </p:spPr>
        <p:txBody>
          <a:bodyPr wrap="square" lIns="0" tIns="0" rIns="0" bIns="0" rtlCol="0" anchor="ctr"/>
          <a:lstStyle/>
          <a:p>
            <a:pPr marL="342900" indent="-342900">
              <a:lnSpc>
                <a:spcPct val="105000"/>
              </a:lnSpc>
              <a:spcAft>
                <a:spcPts val="500"/>
              </a:spcAft>
              <a:buSzPct val="100000"/>
              <a:buChar char="•"/>
            </a:pPr>
            <a:r>
              <a:rPr lang="en-US" sz="970" dirty="0">
                <a:solidFill>
                  <a:srgbClr val="20242E"/>
                </a:solidFill>
                <a:latin typeface="Calibri" pitchFamily="34" charset="0"/>
                <a:ea typeface="Calibri" pitchFamily="34" charset="-122"/>
                <a:cs typeface="Calibri" pitchFamily="34" charset="-120"/>
              </a:rPr>
              <a:t>Vejendla (2025) — Drift-Adapter, EMNLP</a:t>
            </a:r>
            <a:endParaRPr lang="en-US" sz="970" dirty="0"/>
          </a:p>
          <a:p>
            <a:pPr marL="342900" indent="-342900">
              <a:lnSpc>
                <a:spcPct val="105000"/>
              </a:lnSpc>
              <a:spcAft>
                <a:spcPts val="500"/>
              </a:spcAft>
              <a:buSzPct val="100000"/>
              <a:buChar char="•"/>
            </a:pPr>
            <a:r>
              <a:rPr lang="en-US" sz="970" dirty="0">
                <a:solidFill>
                  <a:srgbClr val="20242E"/>
                </a:solidFill>
                <a:latin typeface="Calibri" pitchFamily="34" charset="0"/>
                <a:ea typeface="Calibri" pitchFamily="34" charset="-122"/>
                <a:cs typeface="Calibri" pitchFamily="34" charset="-120"/>
              </a:rPr>
              <a:t>Hu et al. (2022) — Backward-Compatible Embeddings, ACM KDD</a:t>
            </a:r>
            <a:endParaRPr lang="en-US" sz="970" dirty="0"/>
          </a:p>
          <a:p>
            <a:pPr marL="342900" indent="-342900">
              <a:lnSpc>
                <a:spcPct val="105000"/>
              </a:lnSpc>
              <a:spcAft>
                <a:spcPts val="500"/>
              </a:spcAft>
              <a:buSzPct val="100000"/>
              <a:buChar char="•"/>
            </a:pPr>
            <a:r>
              <a:rPr lang="en-US" sz="970" dirty="0">
                <a:solidFill>
                  <a:srgbClr val="20242E"/>
                </a:solidFill>
                <a:latin typeface="Calibri" pitchFamily="34" charset="0"/>
                <a:ea typeface="Calibri" pitchFamily="34" charset="-122"/>
                <a:cs typeface="Calibri" pitchFamily="34" charset="-120"/>
              </a:rPr>
              <a:t>Lample et al. (2018) — Procrustes alignment (MUSE), ICLR</a:t>
            </a:r>
            <a:endParaRPr lang="en-US" sz="970" dirty="0"/>
          </a:p>
        </p:txBody>
      </p:sp>
      <p:sp>
        <p:nvSpPr>
          <p:cNvPr id="15" name="Shape 13"/>
          <p:cNvSpPr/>
          <p:nvPr/>
        </p:nvSpPr>
        <p:spPr>
          <a:xfrm>
            <a:off x="4590288" y="4434840"/>
            <a:ext cx="3182112" cy="0"/>
          </a:xfrm>
          <a:prstGeom prst="line">
            <a:avLst/>
          </a:prstGeom>
          <a:noFill/>
          <a:ln w="12700">
            <a:solidFill>
              <a:srgbClr val="D8DEEA"/>
            </a:solidFill>
            <a:prstDash val="solid"/>
          </a:ln>
        </p:spPr>
      </p:sp>
      <p:sp>
        <p:nvSpPr>
          <p:cNvPr id="16" name="Text 14"/>
          <p:cNvSpPr txBox="1"/>
          <p:nvPr/>
        </p:nvSpPr>
        <p:spPr>
          <a:xfrm>
            <a:off x="4590288" y="4572000"/>
            <a:ext cx="3182112" cy="1325880"/>
          </a:xfrm>
          <a:prstGeom prst="rect">
            <a:avLst/>
          </a:prstGeom>
          <a:noFill/>
          <a:ln/>
        </p:spPr>
        <p:txBody>
          <a:bodyPr wrap="square" lIns="0" tIns="0" rIns="0" bIns="0" rtlCol="0" anchor="ctr"/>
          <a:lstStyle/>
          <a:p>
            <a:pPr indent="0" marL="0">
              <a:lnSpc>
                <a:spcPct val="115000"/>
              </a:lnSpc>
              <a:buNone/>
            </a:pPr>
            <a:r>
              <a:rPr lang="en-US" sz="930" i="1" dirty="0">
                <a:solidFill>
                  <a:srgbClr val="5A6472"/>
                </a:solidFill>
                <a:latin typeface="Calibri" pitchFamily="34" charset="0"/>
                <a:ea typeface="Calibri" pitchFamily="34" charset="-122"/>
                <a:cs typeface="Calibri" pitchFamily="34" charset="-120"/>
              </a:rPr>
              <a:t>Show HOW to patch embeddings cheaply (95–99% recall recovery at ~1% the cost) — but every one applies ONE fix uniformly to the whole corpus. None decides WHICH documents to fix first under a budget.</a:t>
            </a:r>
            <a:endParaRPr lang="en-US" sz="930" dirty="0"/>
          </a:p>
        </p:txBody>
      </p:sp>
      <p:sp>
        <p:nvSpPr>
          <p:cNvPr id="17" name="Shape 15"/>
          <p:cNvSpPr/>
          <p:nvPr/>
        </p:nvSpPr>
        <p:spPr>
          <a:xfrm>
            <a:off x="8174736" y="1691640"/>
            <a:ext cx="3639312" cy="4297680"/>
          </a:xfrm>
          <a:prstGeom prst="roundRect">
            <a:avLst>
              <a:gd name="adj" fmla="val 2010"/>
            </a:avLst>
          </a:prstGeom>
          <a:solidFill>
            <a:srgbClr val="1B2A56"/>
          </a:solidFill>
          <a:ln/>
        </p:spPr>
      </p:sp>
      <p:sp>
        <p:nvSpPr>
          <p:cNvPr id="18" name="Text 16"/>
          <p:cNvSpPr txBox="1"/>
          <p:nvPr/>
        </p:nvSpPr>
        <p:spPr>
          <a:xfrm>
            <a:off x="8403336" y="1847088"/>
            <a:ext cx="3182112" cy="502920"/>
          </a:xfrm>
          <a:prstGeom prst="rect">
            <a:avLst/>
          </a:prstGeom>
          <a:noFill/>
          <a:ln/>
        </p:spPr>
        <p:txBody>
          <a:bodyPr wrap="square" lIns="0" tIns="0" rIns="0" bIns="0" rtlCol="0" anchor="ctr"/>
          <a:lstStyle/>
          <a:p>
            <a:pPr indent="0" marL="0">
              <a:lnSpc>
                <a:spcPct val="105000"/>
              </a:lnSpc>
              <a:buNone/>
            </a:pPr>
            <a:r>
              <a:rPr lang="en-US" sz="1300" b="1" dirty="0">
                <a:solidFill>
                  <a:srgbClr val="FFFFFF"/>
                </a:solidFill>
                <a:latin typeface="Calibri" pitchFamily="34" charset="0"/>
                <a:ea typeface="Calibri" pitchFamily="34" charset="-122"/>
                <a:cs typeface="Calibri" pitchFamily="34" charset="-120"/>
              </a:rPr>
              <a:t>Cluster C — Foundations We Build On</a:t>
            </a:r>
            <a:endParaRPr lang="en-US" sz="1300" dirty="0"/>
          </a:p>
        </p:txBody>
      </p:sp>
      <p:sp>
        <p:nvSpPr>
          <p:cNvPr id="19" name="Text 17"/>
          <p:cNvSpPr txBox="1"/>
          <p:nvPr/>
        </p:nvSpPr>
        <p:spPr>
          <a:xfrm>
            <a:off x="8403336" y="2304288"/>
            <a:ext cx="3182112" cy="228600"/>
          </a:xfrm>
          <a:prstGeom prst="rect">
            <a:avLst/>
          </a:prstGeom>
          <a:noFill/>
          <a:ln/>
        </p:spPr>
        <p:txBody>
          <a:bodyPr wrap="square" lIns="0" tIns="0" rIns="0" bIns="0" rtlCol="0" anchor="ctr"/>
          <a:lstStyle/>
          <a:p>
            <a:pPr indent="0" marL="0">
              <a:buNone/>
            </a:pPr>
            <a:r>
              <a:rPr lang="en-US" sz="1000" b="1" spc="100" kern="0" dirty="0">
                <a:solidFill>
                  <a:srgbClr val="8CA0C8"/>
                </a:solidFill>
                <a:latin typeface="Calibri" pitchFamily="34" charset="0"/>
                <a:ea typeface="Calibri" pitchFamily="34" charset="-122"/>
                <a:cs typeface="Calibri" pitchFamily="34" charset="-120"/>
              </a:rPr>
              <a:t>8 papers</a:t>
            </a:r>
            <a:endParaRPr lang="en-US" sz="1000" dirty="0"/>
          </a:p>
        </p:txBody>
      </p:sp>
      <p:sp>
        <p:nvSpPr>
          <p:cNvPr id="20" name="Text 18"/>
          <p:cNvSpPr txBox="1"/>
          <p:nvPr/>
        </p:nvSpPr>
        <p:spPr>
          <a:xfrm>
            <a:off x="8403336" y="2606040"/>
            <a:ext cx="3182112" cy="1737360"/>
          </a:xfrm>
          <a:prstGeom prst="rect">
            <a:avLst/>
          </a:prstGeom>
          <a:noFill/>
          <a:ln/>
        </p:spPr>
        <p:txBody>
          <a:bodyPr wrap="square" lIns="0" tIns="0" rIns="0" bIns="0" rtlCol="0" anchor="ctr"/>
          <a:lstStyle/>
          <a:p>
            <a:pPr marL="342900" indent="-342900">
              <a:lnSpc>
                <a:spcPct val="105000"/>
              </a:lnSpc>
              <a:spcAft>
                <a:spcPts val="500"/>
              </a:spcAft>
              <a:buSzPct val="100000"/>
              <a:buChar char="•"/>
            </a:pPr>
            <a:r>
              <a:rPr lang="en-US" sz="970" dirty="0">
                <a:solidFill>
                  <a:srgbClr val="FFFFFF"/>
                </a:solidFill>
                <a:latin typeface="Calibri" pitchFamily="34" charset="0"/>
                <a:ea typeface="Calibri" pitchFamily="34" charset="-122"/>
                <a:cs typeface="Calibri" pitchFamily="34" charset="-120"/>
              </a:rPr>
              <a:t>Malkov &amp; Yashunin (2020) — HNSW, IEEE TPAMI</a:t>
            </a:r>
            <a:endParaRPr lang="en-US" sz="970" dirty="0"/>
          </a:p>
          <a:p>
            <a:pPr marL="342900" indent="-342900">
              <a:lnSpc>
                <a:spcPct val="105000"/>
              </a:lnSpc>
              <a:spcAft>
                <a:spcPts val="500"/>
              </a:spcAft>
              <a:buSzPct val="100000"/>
              <a:buChar char="•"/>
            </a:pPr>
            <a:r>
              <a:rPr lang="en-US" sz="970" dirty="0">
                <a:solidFill>
                  <a:srgbClr val="FFFFFF"/>
                </a:solidFill>
                <a:latin typeface="Calibri" pitchFamily="34" charset="0"/>
                <a:ea typeface="Calibri" pitchFamily="34" charset="-122"/>
                <a:cs typeface="Calibri" pitchFamily="34" charset="-120"/>
              </a:rPr>
              <a:t>Pan et al. (2024) — Vector DB survey, Springer VLDBJ</a:t>
            </a:r>
            <a:endParaRPr lang="en-US" sz="970" dirty="0"/>
          </a:p>
          <a:p>
            <a:pPr marL="342900" indent="-342900">
              <a:lnSpc>
                <a:spcPct val="105000"/>
              </a:lnSpc>
              <a:spcAft>
                <a:spcPts val="500"/>
              </a:spcAft>
              <a:buSzPct val="100000"/>
              <a:buChar char="•"/>
            </a:pPr>
            <a:r>
              <a:rPr lang="en-US" sz="970" dirty="0">
                <a:solidFill>
                  <a:srgbClr val="FFFFFF"/>
                </a:solidFill>
                <a:latin typeface="Calibri" pitchFamily="34" charset="0"/>
                <a:ea typeface="Calibri" pitchFamily="34" charset="-122"/>
                <a:cs typeface="Calibri" pitchFamily="34" charset="-120"/>
              </a:rPr>
              <a:t>Muennighoff et al. (2023) — MTEB, ACL</a:t>
            </a:r>
            <a:endParaRPr lang="en-US" sz="970" dirty="0"/>
          </a:p>
          <a:p>
            <a:pPr marL="342900" indent="-342900">
              <a:lnSpc>
                <a:spcPct val="105000"/>
              </a:lnSpc>
              <a:spcAft>
                <a:spcPts val="500"/>
              </a:spcAft>
              <a:buSzPct val="100000"/>
              <a:buChar char="•"/>
            </a:pPr>
            <a:r>
              <a:rPr lang="en-US" sz="970" dirty="0">
                <a:solidFill>
                  <a:srgbClr val="FFFFFF"/>
                </a:solidFill>
                <a:latin typeface="Calibri" pitchFamily="34" charset="0"/>
                <a:ea typeface="Calibri" pitchFamily="34" charset="-122"/>
                <a:cs typeface="Calibri" pitchFamily="34" charset="-120"/>
              </a:rPr>
              <a:t>Wu et al. (2024) — RAG survey, arXiv</a:t>
            </a:r>
            <a:endParaRPr lang="en-US" sz="970" dirty="0"/>
          </a:p>
          <a:p>
            <a:pPr marL="342900" indent="-342900">
              <a:lnSpc>
                <a:spcPct val="105000"/>
              </a:lnSpc>
              <a:spcAft>
                <a:spcPts val="500"/>
              </a:spcAft>
              <a:buSzPct val="100000"/>
              <a:buChar char="•"/>
            </a:pPr>
            <a:r>
              <a:rPr lang="en-US" sz="970" dirty="0">
                <a:solidFill>
                  <a:srgbClr val="FFFFFF"/>
                </a:solidFill>
                <a:latin typeface="Calibri" pitchFamily="34" charset="0"/>
                <a:ea typeface="Calibri" pitchFamily="34" charset="-122"/>
                <a:cs typeface="Calibri" pitchFamily="34" charset="-120"/>
              </a:rPr>
              <a:t>Fuster Baggetto &amp; Fresno (2022) — Anisotropy, ACL</a:t>
            </a:r>
            <a:endParaRPr lang="en-US" sz="970" dirty="0"/>
          </a:p>
          <a:p>
            <a:pPr marL="342900" indent="-342900">
              <a:lnSpc>
                <a:spcPct val="105000"/>
              </a:lnSpc>
              <a:spcAft>
                <a:spcPts val="500"/>
              </a:spcAft>
              <a:buSzPct val="100000"/>
              <a:buChar char="•"/>
            </a:pPr>
            <a:r>
              <a:rPr lang="en-US" sz="970" dirty="0">
                <a:solidFill>
                  <a:srgbClr val="FFFFFF"/>
                </a:solidFill>
                <a:latin typeface="Calibri" pitchFamily="34" charset="0"/>
                <a:ea typeface="Calibri" pitchFamily="34" charset="-122"/>
                <a:cs typeface="Calibri" pitchFamily="34" charset="-120"/>
              </a:rPr>
              <a:t>Sinha &amp; Zoltners (1979) — Knapsack, Op. Research</a:t>
            </a:r>
            <a:endParaRPr lang="en-US" sz="970" dirty="0"/>
          </a:p>
          <a:p>
            <a:pPr marL="342900" indent="-342900">
              <a:lnSpc>
                <a:spcPct val="105000"/>
              </a:lnSpc>
              <a:spcAft>
                <a:spcPts val="500"/>
              </a:spcAft>
              <a:buSzPct val="100000"/>
              <a:buChar char="•"/>
            </a:pPr>
            <a:r>
              <a:rPr lang="en-US" sz="970" dirty="0">
                <a:solidFill>
                  <a:srgbClr val="FFFFFF"/>
                </a:solidFill>
                <a:latin typeface="Calibri" pitchFamily="34" charset="0"/>
                <a:ea typeface="Calibri" pitchFamily="34" charset="-122"/>
                <a:cs typeface="Calibri" pitchFamily="34" charset="-120"/>
              </a:rPr>
              <a:t>Breslau et al. (1999) — Zipf traffic, IEEE INFOCOM</a:t>
            </a:r>
            <a:endParaRPr lang="en-US" sz="970" dirty="0"/>
          </a:p>
          <a:p>
            <a:pPr marL="342900" indent="-342900">
              <a:lnSpc>
                <a:spcPct val="105000"/>
              </a:lnSpc>
              <a:spcAft>
                <a:spcPts val="500"/>
              </a:spcAft>
              <a:buSzPct val="100000"/>
              <a:buChar char="•"/>
            </a:pPr>
            <a:r>
              <a:rPr lang="en-US" sz="970" dirty="0">
                <a:solidFill>
                  <a:srgbClr val="FFFFFF"/>
                </a:solidFill>
                <a:latin typeface="Calibri" pitchFamily="34" charset="0"/>
                <a:ea typeface="Calibri" pitchFamily="34" charset="-122"/>
                <a:cs typeface="Calibri" pitchFamily="34" charset="-120"/>
              </a:rPr>
              <a:t>Karval &amp; Singh (2023) — Silent ML failures, IEEE</a:t>
            </a:r>
            <a:endParaRPr lang="en-US" sz="970" dirty="0"/>
          </a:p>
        </p:txBody>
      </p:sp>
      <p:sp>
        <p:nvSpPr>
          <p:cNvPr id="21" name="Shape 19"/>
          <p:cNvSpPr/>
          <p:nvPr/>
        </p:nvSpPr>
        <p:spPr>
          <a:xfrm>
            <a:off x="8403336" y="4434840"/>
            <a:ext cx="3182112" cy="0"/>
          </a:xfrm>
          <a:prstGeom prst="line">
            <a:avLst/>
          </a:prstGeom>
          <a:noFill/>
          <a:ln w="12700">
            <a:solidFill>
              <a:srgbClr val="33447A"/>
            </a:solidFill>
            <a:prstDash val="solid"/>
          </a:ln>
        </p:spPr>
      </p:sp>
      <p:sp>
        <p:nvSpPr>
          <p:cNvPr id="22" name="Text 20"/>
          <p:cNvSpPr txBox="1"/>
          <p:nvPr/>
        </p:nvSpPr>
        <p:spPr>
          <a:xfrm>
            <a:off x="8403336" y="4572000"/>
            <a:ext cx="3182112" cy="1325880"/>
          </a:xfrm>
          <a:prstGeom prst="rect">
            <a:avLst/>
          </a:prstGeom>
          <a:noFill/>
          <a:ln/>
        </p:spPr>
        <p:txBody>
          <a:bodyPr wrap="square" lIns="0" tIns="0" rIns="0" bIns="0" rtlCol="0" anchor="ctr"/>
          <a:lstStyle/>
          <a:p>
            <a:pPr indent="0" marL="0">
              <a:lnSpc>
                <a:spcPct val="115000"/>
              </a:lnSpc>
              <a:buNone/>
            </a:pPr>
            <a:r>
              <a:rPr lang="en-US" sz="930" i="1" dirty="0">
                <a:solidFill>
                  <a:srgbClr val="8CA0C8"/>
                </a:solidFill>
                <a:latin typeface="Calibri" pitchFamily="34" charset="0"/>
                <a:ea typeface="Calibri" pitchFamily="34" charset="-122"/>
                <a:cs typeface="Calibri" pitchFamily="34" charset="-120"/>
              </a:rPr>
              <a:t>Vector-search infrastructure, embedding-model benchmarking, and — critically — the Operations-Research and systems theory (knapsack optimization, skewed traffic) our own methodology is built on.</a:t>
            </a:r>
            <a:endParaRPr lang="en-US" sz="930" dirty="0"/>
          </a:p>
        </p:txBody>
      </p:sp>
      <p:sp>
        <p:nvSpPr>
          <p:cNvPr id="23" name="Text 2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a:t>
            </a:r>
            <a:endParaRPr lang="en-US" sz="900" dirty="0"/>
          </a:p>
        </p:txBody>
      </p:sp>
      <p:sp>
        <p:nvSpPr>
          <p:cNvPr id="24" name="Text 22"/>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RESEARCH  ·  LITERATURE (10 MARKS)  —  2 OF 2</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Literature Survey — Comparison Table</a:t>
            </a:r>
            <a:endParaRPr lang="en-US" sz="3200" dirty="0"/>
          </a:p>
        </p:txBody>
      </p:sp>
      <p:sp>
        <p:nvSpPr>
          <p:cNvPr id="4" name="Text 2"/>
          <p:cNvSpPr txBox="1"/>
          <p:nvPr/>
        </p:nvSpPr>
        <p:spPr>
          <a:xfrm>
            <a:off x="548640" y="1298448"/>
            <a:ext cx="10515600" cy="274320"/>
          </a:xfrm>
          <a:prstGeom prst="rect">
            <a:avLst/>
          </a:prstGeom>
          <a:noFill/>
          <a:ln/>
        </p:spPr>
        <p:txBody>
          <a:bodyPr wrap="square" lIns="0" tIns="0" rIns="0" bIns="0" rtlCol="0" anchor="ctr"/>
          <a:lstStyle/>
          <a:p>
            <a:pPr indent="0" marL="0">
              <a:buNone/>
            </a:pPr>
            <a:r>
              <a:rPr lang="en-US" sz="1050" i="1" dirty="0">
                <a:solidFill>
                  <a:srgbClr val="5A6472"/>
                </a:solidFill>
                <a:latin typeface="Calibri" pitchFamily="34" charset="0"/>
                <a:ea typeface="Calibri" pitchFamily="34" charset="-122"/>
                <a:cs typeface="Calibri" pitchFamily="34" charset="-120"/>
              </a:rPr>
              <a:t>9 of 15 reviewed works shown (most directly load-bearing for our design); complete 15-row table in the supporting document.</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109960" cy="4709160"/>
        </p:xfrm>
        <a:graphic>
          <a:graphicData uri="http://schemas.openxmlformats.org/drawingml/2006/table">
            <a:tbl>
              <a:tblPr/>
              <a:tblGrid>
                <a:gridCol w="2148840"/>
                <a:gridCol w="2606040"/>
                <a:gridCol w="3291840"/>
                <a:gridCol w="3063240"/>
              </a:tblGrid>
              <a:tr h="470916">
                <a:tc>
                  <a:txBody>
                    <a:bodyPr/>
                    <a:lstStyle/>
                    <a:p>
                      <a:pPr indent="0" marL="0">
                        <a:buNone/>
                      </a:pPr>
                      <a:r>
                        <a:rPr lang="en-US" sz="1050" b="1" dirty="0">
                          <a:solidFill>
                            <a:srgbClr val="FFFFFF"/>
                          </a:solidFill>
                        </a:rPr>
                        <a:t>Author(s), Year</a:t>
                      </a:r>
                      <a:endParaRPr lang="en-US" sz="105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1050" b="1" dirty="0">
                          <a:solidFill>
                            <a:srgbClr val="FFFFFF"/>
                          </a:solidFill>
                        </a:rPr>
                        <a:t>Method</a:t>
                      </a:r>
                      <a:endParaRPr lang="en-US" sz="105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1050" b="1" dirty="0">
                          <a:solidFill>
                            <a:srgbClr val="FFFFFF"/>
                          </a:solidFill>
                        </a:rPr>
                        <a:t>Key Finding</a:t>
                      </a:r>
                      <a:endParaRPr lang="en-US" sz="105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1050" b="1" dirty="0">
                          <a:solidFill>
                            <a:srgbClr val="FFFFFF"/>
                          </a:solidFill>
                        </a:rPr>
                        <a:t>Gap Identified</a:t>
                      </a:r>
                      <a:endParaRPr lang="en-US" sz="105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r>
              <a:tr h="470916">
                <a:tc>
                  <a:txBody>
                    <a:bodyPr/>
                    <a:lstStyle/>
                    <a:p>
                      <a:pPr indent="0" marL="0">
                        <a:buNone/>
                      </a:pPr>
                      <a:r>
                        <a:rPr lang="en-US" sz="930" dirty="0">
                          <a:solidFill>
                            <a:srgbClr val="20242E"/>
                          </a:solidFill>
                        </a:rPr>
                        <a:t>Vejendla, 2025</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Learned adapter (Procrustes/MLP)</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Recovers 95–99% recall at ~1% the cost of full re-embed</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Applies one uniform fix to the whole corpus — no per-document decision</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70916">
                <a:tc>
                  <a:txBody>
                    <a:bodyPr/>
                    <a:lstStyle/>
                    <a:p>
                      <a:pPr indent="0" marL="0">
                        <a:buNone/>
                      </a:pPr>
                      <a:r>
                        <a:rPr lang="en-US" sz="930" dirty="0">
                          <a:solidFill>
                            <a:srgbClr val="20242E"/>
                          </a:solidFill>
                        </a:rPr>
                        <a:t>Sun et al., 2022</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KNN distance in embedding space</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Non-parametric OOD detection, no distributional assumptions</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Detects anomalies; doesn't touch what to do about them</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70916">
                <a:tc>
                  <a:txBody>
                    <a:bodyPr/>
                    <a:lstStyle/>
                    <a:p>
                      <a:pPr indent="0" marL="0">
                        <a:buNone/>
                      </a:pPr>
                      <a:r>
                        <a:rPr lang="en-US" sz="930" dirty="0">
                          <a:solidFill>
                            <a:srgbClr val="20242E"/>
                          </a:solidFill>
                        </a:rPr>
                        <a:t>Lu et al., 2024</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Task-oriented OOD survey</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Maps the whole OOD-detection field by deployment scenario</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No embedding-generation-drift-specific treatment</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70916">
                <a:tc>
                  <a:txBody>
                    <a:bodyPr/>
                    <a:lstStyle/>
                    <a:p>
                      <a:pPr indent="0" marL="0">
                        <a:buNone/>
                      </a:pPr>
                      <a:r>
                        <a:rPr lang="en-US" sz="930" dirty="0">
                          <a:solidFill>
                            <a:srgbClr val="20242E"/>
                          </a:solidFill>
                        </a:rPr>
                        <a:t>Hu et al., 2022</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Backward-compatible training</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New model deployable without any backfill</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Same uniform-fix limitation as Drift-Adapter</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70916">
                <a:tc>
                  <a:txBody>
                    <a:bodyPr/>
                    <a:lstStyle/>
                    <a:p>
                      <a:pPr indent="0" marL="0">
                        <a:buNone/>
                      </a:pPr>
                      <a:r>
                        <a:rPr lang="en-US" sz="930" dirty="0">
                          <a:solidFill>
                            <a:srgbClr val="20242E"/>
                          </a:solidFill>
                        </a:rPr>
                        <a:t>Malkov &amp; Yashunin, 2020</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HNSW graph index</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Logarithmic-time approximate search at scale</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Assumes a geometrically consistent index — silently violated by contamination</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70916">
                <a:tc>
                  <a:txBody>
                    <a:bodyPr/>
                    <a:lstStyle/>
                    <a:p>
                      <a:pPr indent="0" marL="0">
                        <a:buNone/>
                      </a:pPr>
                      <a:r>
                        <a:rPr lang="en-US" sz="930" dirty="0">
                          <a:solidFill>
                            <a:srgbClr val="20242E"/>
                          </a:solidFill>
                        </a:rPr>
                        <a:t>Pan et al., 2024</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Systems survey, 20+ VDBMSs</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Maps vector-DB architecture space comprehensively</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No treatment of post-deployment embedding integrity</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70916">
                <a:tc>
                  <a:txBody>
                    <a:bodyPr/>
                    <a:lstStyle/>
                    <a:p>
                      <a:pPr indent="0" marL="0">
                        <a:buNone/>
                      </a:pPr>
                      <a:r>
                        <a:rPr lang="en-US" sz="930" dirty="0">
                          <a:solidFill>
                            <a:srgbClr val="20242E"/>
                          </a:solidFill>
                        </a:rPr>
                        <a:t>Sinha &amp; Zoltners, 1979</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Multiple-Choice Knapsack (ILP)</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Exact branch-and-bound formulation for one-per-group choice under budget</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Generic OR theory — never applied to embedding remediation</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70916">
                <a:tc>
                  <a:txBody>
                    <a:bodyPr/>
                    <a:lstStyle/>
                    <a:p>
                      <a:pPr indent="0" marL="0">
                        <a:buNone/>
                      </a:pPr>
                      <a:r>
                        <a:rPr lang="en-US" sz="930" dirty="0">
                          <a:solidFill>
                            <a:srgbClr val="20242E"/>
                          </a:solidFill>
                        </a:rPr>
                        <a:t>Liu et al., 2008</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Isolation Forest</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Linear-time, distance-free anomaly isolation</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General-purpose; not evaluated on embedding-space anisotropy</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470916">
                <a:tc>
                  <a:txBody>
                    <a:bodyPr/>
                    <a:lstStyle/>
                    <a:p>
                      <a:pPr indent="0" marL="0">
                        <a:buNone/>
                      </a:pPr>
                      <a:r>
                        <a:rPr lang="en-US" sz="930" dirty="0">
                          <a:solidFill>
                            <a:srgbClr val="20242E"/>
                          </a:solidFill>
                        </a:rPr>
                        <a:t>Breunig et al., 2000</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Local Outlier Factor (LOF)</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Local density ratio catches density-varying anomalies</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930" dirty="0">
                          <a:solidFill>
                            <a:srgbClr val="20242E"/>
                          </a:solidFill>
                        </a:rPr>
                        <a:t>Same generality gap as Isolation Forest</a:t>
                      </a:r>
                      <a:endParaRPr lang="en-US" sz="9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bl>
          </a:graphicData>
        </a:graphic>
      </p:graphicFrame>
      <p:sp>
        <p:nvSpPr>
          <p:cNvPr id="6"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a:t>
            </a:r>
            <a:endParaRPr lang="en-US" sz="900" dirty="0"/>
          </a:p>
        </p:txBody>
      </p:sp>
      <p:sp>
        <p:nvSpPr>
          <p:cNvPr id="7" name="Text 4"/>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RESEARCH  ·  LITERATURE → RESEARCH GAP</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From Literature to Research Gap</a:t>
            </a:r>
            <a:endParaRPr lang="en-US" sz="3200" dirty="0"/>
          </a:p>
        </p:txBody>
      </p:sp>
      <p:sp>
        <p:nvSpPr>
          <p:cNvPr id="4" name="Shape 2"/>
          <p:cNvSpPr/>
          <p:nvPr/>
        </p:nvSpPr>
        <p:spPr>
          <a:xfrm>
            <a:off x="548640" y="1508760"/>
            <a:ext cx="7772400" cy="713232"/>
          </a:xfrm>
          <a:prstGeom prst="roundRect">
            <a:avLst>
              <a:gd name="adj" fmla="val 10256"/>
            </a:avLst>
          </a:prstGeom>
          <a:solidFill>
            <a:srgbClr val="F4F7FC"/>
          </a:solidFill>
          <a:ln/>
          <a:effectLst>
            <a:outerShdw sx="100000" sy="100000" kx="0" ky="0" algn="bl" rotWithShape="0" blurRad="101600" dist="38100" dir="5400000">
              <a:srgbClr val="1B2A56">
                <a:alpha val="12000"/>
              </a:srgbClr>
            </a:outerShdw>
          </a:effectLst>
        </p:spPr>
      </p:sp>
      <p:sp>
        <p:nvSpPr>
          <p:cNvPr id="5" name="Shape 3"/>
          <p:cNvSpPr/>
          <p:nvPr/>
        </p:nvSpPr>
        <p:spPr>
          <a:xfrm>
            <a:off x="777240" y="1673352"/>
            <a:ext cx="384048" cy="384048"/>
          </a:xfrm>
          <a:prstGeom prst="ellipse">
            <a:avLst/>
          </a:prstGeom>
          <a:solidFill>
            <a:srgbClr val="0E7C7B"/>
          </a:solidFill>
          <a:ln/>
        </p:spPr>
      </p:sp>
      <p:sp>
        <p:nvSpPr>
          <p:cNvPr id="6" name="Text 4"/>
          <p:cNvSpPr txBox="1"/>
          <p:nvPr/>
        </p:nvSpPr>
        <p:spPr>
          <a:xfrm>
            <a:off x="777240" y="16733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371600" y="1581912"/>
            <a:ext cx="1920240" cy="566928"/>
          </a:xfrm>
          <a:prstGeom prst="rect">
            <a:avLst/>
          </a:prstGeom>
          <a:noFill/>
          <a:ln/>
        </p:spPr>
        <p:txBody>
          <a:bodyPr wrap="square" lIns="0" tIns="0" rIns="0" bIns="0" rtlCol="0" anchor="ctr"/>
          <a:lstStyle/>
          <a:p>
            <a:pPr indent="0" marL="0">
              <a:buNone/>
            </a:pPr>
            <a:r>
              <a:rPr lang="en-US" sz="1200" b="1" dirty="0">
                <a:solidFill>
                  <a:srgbClr val="1B2A56"/>
                </a:solidFill>
                <a:latin typeface="Calibri" pitchFamily="34" charset="0"/>
                <a:ea typeface="Calibri" pitchFamily="34" charset="-122"/>
                <a:cs typeface="Calibri" pitchFamily="34" charset="-120"/>
              </a:rPr>
              <a:t>Existing research</a:t>
            </a:r>
            <a:endParaRPr lang="en-US" sz="1200" dirty="0"/>
          </a:p>
        </p:txBody>
      </p:sp>
      <p:sp>
        <p:nvSpPr>
          <p:cNvPr id="8" name="Text 6"/>
          <p:cNvSpPr txBox="1"/>
          <p:nvPr/>
        </p:nvSpPr>
        <p:spPr>
          <a:xfrm>
            <a:off x="3383280" y="1563624"/>
            <a:ext cx="4846320" cy="603504"/>
          </a:xfrm>
          <a:prstGeom prst="rect">
            <a:avLst/>
          </a:prstGeom>
          <a:noFill/>
          <a:ln/>
        </p:spPr>
        <p:txBody>
          <a:bodyPr wrap="square" lIns="0" tIns="0" rIns="0" bIns="0" rtlCol="0" anchor="ctr"/>
          <a:lstStyle/>
          <a:p>
            <a:pPr indent="0" marL="0">
              <a:lnSpc>
                <a:spcPct val="112000"/>
              </a:lnSpc>
              <a:buNone/>
            </a:pPr>
            <a:r>
              <a:rPr lang="en-US" sz="1000" dirty="0">
                <a:solidFill>
                  <a:srgbClr val="20242E"/>
                </a:solidFill>
                <a:latin typeface="Calibri" pitchFamily="34" charset="0"/>
                <a:ea typeface="Calibri" pitchFamily="34" charset="-122"/>
                <a:cs typeface="Calibri" pitchFamily="34" charset="-120"/>
              </a:rPr>
              <a:t>Two mature, separate bodies of work: OOD/anomaly detection (Cluster A) and cheap embedding realignment (Cluster B).</a:t>
            </a:r>
            <a:endParaRPr lang="en-US" sz="1000" dirty="0"/>
          </a:p>
        </p:txBody>
      </p:sp>
      <p:sp>
        <p:nvSpPr>
          <p:cNvPr id="9" name="Text 7"/>
          <p:cNvSpPr txBox="1"/>
          <p:nvPr/>
        </p:nvSpPr>
        <p:spPr>
          <a:xfrm>
            <a:off x="548640" y="2176272"/>
            <a:ext cx="457200" cy="228600"/>
          </a:xfrm>
          <a:prstGeom prst="rect">
            <a:avLst/>
          </a:prstGeom>
          <a:noFill/>
          <a:ln/>
        </p:spPr>
        <p:txBody>
          <a:bodyPr wrap="square" lIns="0" tIns="0" rIns="0" bIns="0" rtlCol="0" anchor="ctr"/>
          <a:lstStyle/>
          <a:p>
            <a:pPr algn="ctr" indent="0" marL="0">
              <a:buNone/>
            </a:pPr>
            <a:r>
              <a:rPr lang="en-US" sz="1400" dirty="0">
                <a:solidFill>
                  <a:srgbClr val="0E7C7B"/>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548640" y="2350008"/>
            <a:ext cx="7772400" cy="713232"/>
          </a:xfrm>
          <a:prstGeom prst="roundRect">
            <a:avLst>
              <a:gd name="adj" fmla="val 10256"/>
            </a:avLst>
          </a:prstGeom>
          <a:solidFill>
            <a:srgbClr val="F4F7FC"/>
          </a:solidFill>
          <a:ln/>
          <a:effectLst>
            <a:outerShdw sx="100000" sy="100000" kx="0" ky="0" algn="bl" rotWithShape="0" blurRad="101600" dist="38100" dir="5400000">
              <a:srgbClr val="1B2A56">
                <a:alpha val="12000"/>
              </a:srgbClr>
            </a:outerShdw>
          </a:effectLst>
        </p:spPr>
      </p:sp>
      <p:sp>
        <p:nvSpPr>
          <p:cNvPr id="11" name="Shape 9"/>
          <p:cNvSpPr/>
          <p:nvPr/>
        </p:nvSpPr>
        <p:spPr>
          <a:xfrm>
            <a:off x="777240" y="2514600"/>
            <a:ext cx="384048" cy="384048"/>
          </a:xfrm>
          <a:prstGeom prst="ellipse">
            <a:avLst/>
          </a:prstGeom>
          <a:solidFill>
            <a:srgbClr val="0E7C7B"/>
          </a:solidFill>
          <a:ln/>
        </p:spPr>
      </p:sp>
      <p:sp>
        <p:nvSpPr>
          <p:cNvPr id="12" name="Text 10"/>
          <p:cNvSpPr txBox="1"/>
          <p:nvPr/>
        </p:nvSpPr>
        <p:spPr>
          <a:xfrm>
            <a:off x="777240" y="25146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371600" y="2423160"/>
            <a:ext cx="1920240" cy="566928"/>
          </a:xfrm>
          <a:prstGeom prst="rect">
            <a:avLst/>
          </a:prstGeom>
          <a:noFill/>
          <a:ln/>
        </p:spPr>
        <p:txBody>
          <a:bodyPr wrap="square" lIns="0" tIns="0" rIns="0" bIns="0" rtlCol="0" anchor="ctr"/>
          <a:lstStyle/>
          <a:p>
            <a:pPr indent="0" marL="0">
              <a:buNone/>
            </a:pPr>
            <a:r>
              <a:rPr lang="en-US" sz="1200" b="1" dirty="0">
                <a:solidFill>
                  <a:srgbClr val="1B2A56"/>
                </a:solidFill>
                <a:latin typeface="Calibri" pitchFamily="34" charset="0"/>
                <a:ea typeface="Calibri" pitchFamily="34" charset="-122"/>
                <a:cs typeface="Calibri" pitchFamily="34" charset="-120"/>
              </a:rPr>
              <a:t>Common approach</a:t>
            </a:r>
            <a:endParaRPr lang="en-US" sz="1200" dirty="0"/>
          </a:p>
        </p:txBody>
      </p:sp>
      <p:sp>
        <p:nvSpPr>
          <p:cNvPr id="14" name="Text 12"/>
          <p:cNvSpPr txBox="1"/>
          <p:nvPr/>
        </p:nvSpPr>
        <p:spPr>
          <a:xfrm>
            <a:off x="3383280" y="2404872"/>
            <a:ext cx="4846320" cy="603504"/>
          </a:xfrm>
          <a:prstGeom prst="rect">
            <a:avLst/>
          </a:prstGeom>
          <a:noFill/>
          <a:ln/>
        </p:spPr>
        <p:txBody>
          <a:bodyPr wrap="square" lIns="0" tIns="0" rIns="0" bIns="0" rtlCol="0" anchor="ctr"/>
          <a:lstStyle/>
          <a:p>
            <a:pPr indent="0" marL="0">
              <a:lnSpc>
                <a:spcPct val="112000"/>
              </a:lnSpc>
              <a:buNone/>
            </a:pPr>
            <a:r>
              <a:rPr lang="en-US" sz="1000" dirty="0">
                <a:solidFill>
                  <a:srgbClr val="20242E"/>
                </a:solidFill>
                <a:latin typeface="Calibri" pitchFamily="34" charset="0"/>
                <a:ea typeface="Calibri" pitchFamily="34" charset="-122"/>
                <a:cs typeface="Calibri" pitchFamily="34" charset="-120"/>
              </a:rPr>
              <a:t>Detect anomalous vectors → apply ONE fix (full re-embed or one uniform patch transform) to everyone flagged.</a:t>
            </a:r>
            <a:endParaRPr lang="en-US" sz="1000" dirty="0"/>
          </a:p>
        </p:txBody>
      </p:sp>
      <p:sp>
        <p:nvSpPr>
          <p:cNvPr id="15" name="Text 13"/>
          <p:cNvSpPr txBox="1"/>
          <p:nvPr/>
        </p:nvSpPr>
        <p:spPr>
          <a:xfrm>
            <a:off x="548640" y="3017520"/>
            <a:ext cx="457200" cy="228600"/>
          </a:xfrm>
          <a:prstGeom prst="rect">
            <a:avLst/>
          </a:prstGeom>
          <a:noFill/>
          <a:ln/>
        </p:spPr>
        <p:txBody>
          <a:bodyPr wrap="square" lIns="0" tIns="0" rIns="0" bIns="0" rtlCol="0" anchor="ctr"/>
          <a:lstStyle/>
          <a:p>
            <a:pPr algn="ctr" indent="0" marL="0">
              <a:buNone/>
            </a:pPr>
            <a:r>
              <a:rPr lang="en-US" sz="1400" dirty="0">
                <a:solidFill>
                  <a:srgbClr val="0E7C7B"/>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548640" y="3191256"/>
            <a:ext cx="7772400" cy="713232"/>
          </a:xfrm>
          <a:prstGeom prst="roundRect">
            <a:avLst>
              <a:gd name="adj" fmla="val 10256"/>
            </a:avLst>
          </a:prstGeom>
          <a:solidFill>
            <a:srgbClr val="F4F7FC"/>
          </a:solidFill>
          <a:ln/>
          <a:effectLst>
            <a:outerShdw sx="100000" sy="100000" kx="0" ky="0" algn="bl" rotWithShape="0" blurRad="101600" dist="38100" dir="5400000">
              <a:srgbClr val="1B2A56">
                <a:alpha val="12000"/>
              </a:srgbClr>
            </a:outerShdw>
          </a:effectLst>
        </p:spPr>
      </p:sp>
      <p:sp>
        <p:nvSpPr>
          <p:cNvPr id="17" name="Shape 15"/>
          <p:cNvSpPr/>
          <p:nvPr/>
        </p:nvSpPr>
        <p:spPr>
          <a:xfrm>
            <a:off x="777240" y="3355848"/>
            <a:ext cx="384048" cy="384048"/>
          </a:xfrm>
          <a:prstGeom prst="ellipse">
            <a:avLst/>
          </a:prstGeom>
          <a:solidFill>
            <a:srgbClr val="0E7C7B"/>
          </a:solidFill>
          <a:ln/>
        </p:spPr>
      </p:sp>
      <p:sp>
        <p:nvSpPr>
          <p:cNvPr id="18" name="Text 16"/>
          <p:cNvSpPr txBox="1"/>
          <p:nvPr/>
        </p:nvSpPr>
        <p:spPr>
          <a:xfrm>
            <a:off x="777240" y="33558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1371600" y="3264408"/>
            <a:ext cx="1920240" cy="566928"/>
          </a:xfrm>
          <a:prstGeom prst="rect">
            <a:avLst/>
          </a:prstGeom>
          <a:noFill/>
          <a:ln/>
        </p:spPr>
        <p:txBody>
          <a:bodyPr wrap="square" lIns="0" tIns="0" rIns="0" bIns="0" rtlCol="0" anchor="ctr"/>
          <a:lstStyle/>
          <a:p>
            <a:pPr indent="0" marL="0">
              <a:buNone/>
            </a:pPr>
            <a:r>
              <a:rPr lang="en-US" sz="1200" b="1" dirty="0">
                <a:solidFill>
                  <a:srgbClr val="1B2A56"/>
                </a:solidFill>
                <a:latin typeface="Calibri" pitchFamily="34" charset="0"/>
                <a:ea typeface="Calibri" pitchFamily="34" charset="-122"/>
                <a:cs typeface="Calibri" pitchFamily="34" charset="-120"/>
              </a:rPr>
              <a:t>Strengths</a:t>
            </a:r>
            <a:endParaRPr lang="en-US" sz="1200" dirty="0"/>
          </a:p>
        </p:txBody>
      </p:sp>
      <p:sp>
        <p:nvSpPr>
          <p:cNvPr id="20" name="Text 18"/>
          <p:cNvSpPr txBox="1"/>
          <p:nvPr/>
        </p:nvSpPr>
        <p:spPr>
          <a:xfrm>
            <a:off x="3383280" y="3246120"/>
            <a:ext cx="4846320" cy="603504"/>
          </a:xfrm>
          <a:prstGeom prst="rect">
            <a:avLst/>
          </a:prstGeom>
          <a:noFill/>
          <a:ln/>
        </p:spPr>
        <p:txBody>
          <a:bodyPr wrap="square" lIns="0" tIns="0" rIns="0" bIns="0" rtlCol="0" anchor="ctr"/>
          <a:lstStyle/>
          <a:p>
            <a:pPr indent="0" marL="0">
              <a:lnSpc>
                <a:spcPct val="112000"/>
              </a:lnSpc>
              <a:buNone/>
            </a:pPr>
            <a:r>
              <a:rPr lang="en-US" sz="1000" dirty="0">
                <a:solidFill>
                  <a:srgbClr val="20242E"/>
                </a:solidFill>
                <a:latin typeface="Calibri" pitchFamily="34" charset="0"/>
                <a:ea typeface="Calibri" pitchFamily="34" charset="-122"/>
                <a:cs typeface="Calibri" pitchFamily="34" charset="-120"/>
              </a:rPr>
              <a:t>Detection is well-validated (KNN-OOD F1 competitive); Drift-Adapter-style patching recovers 95–99% recall at ~1% the compute cost.</a:t>
            </a:r>
            <a:endParaRPr lang="en-US" sz="1000" dirty="0"/>
          </a:p>
        </p:txBody>
      </p:sp>
      <p:sp>
        <p:nvSpPr>
          <p:cNvPr id="21" name="Text 19"/>
          <p:cNvSpPr txBox="1"/>
          <p:nvPr/>
        </p:nvSpPr>
        <p:spPr>
          <a:xfrm>
            <a:off x="548640" y="3858768"/>
            <a:ext cx="457200" cy="228600"/>
          </a:xfrm>
          <a:prstGeom prst="rect">
            <a:avLst/>
          </a:prstGeom>
          <a:noFill/>
          <a:ln/>
        </p:spPr>
        <p:txBody>
          <a:bodyPr wrap="square" lIns="0" tIns="0" rIns="0" bIns="0" rtlCol="0" anchor="ctr"/>
          <a:lstStyle/>
          <a:p>
            <a:pPr algn="ctr" indent="0" marL="0">
              <a:buNone/>
            </a:pPr>
            <a:r>
              <a:rPr lang="en-US" sz="1400" dirty="0">
                <a:solidFill>
                  <a:srgbClr val="0E7C7B"/>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548640" y="4032504"/>
            <a:ext cx="7772400" cy="713232"/>
          </a:xfrm>
          <a:prstGeom prst="roundRect">
            <a:avLst>
              <a:gd name="adj" fmla="val 10256"/>
            </a:avLst>
          </a:prstGeom>
          <a:solidFill>
            <a:srgbClr val="F4F7FC"/>
          </a:solidFill>
          <a:ln/>
          <a:effectLst>
            <a:outerShdw sx="100000" sy="100000" kx="0" ky="0" algn="bl" rotWithShape="0" blurRad="101600" dist="38100" dir="5400000">
              <a:srgbClr val="1B2A56">
                <a:alpha val="12000"/>
              </a:srgbClr>
            </a:outerShdw>
          </a:effectLst>
        </p:spPr>
      </p:sp>
      <p:sp>
        <p:nvSpPr>
          <p:cNvPr id="23" name="Shape 21"/>
          <p:cNvSpPr/>
          <p:nvPr/>
        </p:nvSpPr>
        <p:spPr>
          <a:xfrm>
            <a:off x="777240" y="4197096"/>
            <a:ext cx="384048" cy="384048"/>
          </a:xfrm>
          <a:prstGeom prst="ellipse">
            <a:avLst/>
          </a:prstGeom>
          <a:solidFill>
            <a:srgbClr val="0E7C7B"/>
          </a:solidFill>
          <a:ln/>
        </p:spPr>
      </p:sp>
      <p:sp>
        <p:nvSpPr>
          <p:cNvPr id="24" name="Text 22"/>
          <p:cNvSpPr txBox="1"/>
          <p:nvPr/>
        </p:nvSpPr>
        <p:spPr>
          <a:xfrm>
            <a:off x="777240" y="41970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txBox="1"/>
          <p:nvPr/>
        </p:nvSpPr>
        <p:spPr>
          <a:xfrm>
            <a:off x="1371600" y="4105656"/>
            <a:ext cx="1920240" cy="566928"/>
          </a:xfrm>
          <a:prstGeom prst="rect">
            <a:avLst/>
          </a:prstGeom>
          <a:noFill/>
          <a:ln/>
        </p:spPr>
        <p:txBody>
          <a:bodyPr wrap="square" lIns="0" tIns="0" rIns="0" bIns="0" rtlCol="0" anchor="ctr"/>
          <a:lstStyle/>
          <a:p>
            <a:pPr indent="0" marL="0">
              <a:buNone/>
            </a:pPr>
            <a:r>
              <a:rPr lang="en-US" sz="1200" b="1" dirty="0">
                <a:solidFill>
                  <a:srgbClr val="1B2A56"/>
                </a:solidFill>
                <a:latin typeface="Calibri" pitchFamily="34" charset="0"/>
                <a:ea typeface="Calibri" pitchFamily="34" charset="-122"/>
                <a:cs typeface="Calibri" pitchFamily="34" charset="-120"/>
              </a:rPr>
              <a:t>Limitations</a:t>
            </a:r>
            <a:endParaRPr lang="en-US" sz="1200" dirty="0"/>
          </a:p>
        </p:txBody>
      </p:sp>
      <p:sp>
        <p:nvSpPr>
          <p:cNvPr id="26" name="Text 24"/>
          <p:cNvSpPr txBox="1"/>
          <p:nvPr/>
        </p:nvSpPr>
        <p:spPr>
          <a:xfrm>
            <a:off x="3383280" y="4087368"/>
            <a:ext cx="4846320" cy="603504"/>
          </a:xfrm>
          <a:prstGeom prst="rect">
            <a:avLst/>
          </a:prstGeom>
          <a:noFill/>
          <a:ln/>
        </p:spPr>
        <p:txBody>
          <a:bodyPr wrap="square" lIns="0" tIns="0" rIns="0" bIns="0" rtlCol="0" anchor="ctr"/>
          <a:lstStyle/>
          <a:p>
            <a:pPr indent="0" marL="0">
              <a:lnSpc>
                <a:spcPct val="112000"/>
              </a:lnSpc>
              <a:buNone/>
            </a:pPr>
            <a:r>
              <a:rPr lang="en-US" sz="1000" dirty="0">
                <a:solidFill>
                  <a:srgbClr val="20242E"/>
                </a:solidFill>
                <a:latin typeface="Calibri" pitchFamily="34" charset="0"/>
                <a:ea typeface="Calibri" pitchFamily="34" charset="-122"/>
                <a:cs typeface="Calibri" pitchFamily="34" charset="-120"/>
              </a:rPr>
              <a:t>Every reviewed fix mechanism is corpus-wide and uniform — none reasons about WHICH document to fix first when the budget can't cover everyone.</a:t>
            </a:r>
            <a:endParaRPr lang="en-US" sz="1000" dirty="0"/>
          </a:p>
        </p:txBody>
      </p:sp>
      <p:sp>
        <p:nvSpPr>
          <p:cNvPr id="27" name="Text 25"/>
          <p:cNvSpPr txBox="1"/>
          <p:nvPr/>
        </p:nvSpPr>
        <p:spPr>
          <a:xfrm>
            <a:off x="548640" y="4700016"/>
            <a:ext cx="457200" cy="228600"/>
          </a:xfrm>
          <a:prstGeom prst="rect">
            <a:avLst/>
          </a:prstGeom>
          <a:noFill/>
          <a:ln/>
        </p:spPr>
        <p:txBody>
          <a:bodyPr wrap="square" lIns="0" tIns="0" rIns="0" bIns="0" rtlCol="0" anchor="ctr"/>
          <a:lstStyle/>
          <a:p>
            <a:pPr algn="ctr" indent="0" marL="0">
              <a:buNone/>
            </a:pPr>
            <a:r>
              <a:rPr lang="en-US" sz="1400" dirty="0">
                <a:solidFill>
                  <a:srgbClr val="0E7C7B"/>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548640" y="4873752"/>
            <a:ext cx="7772400" cy="713232"/>
          </a:xfrm>
          <a:prstGeom prst="roundRect">
            <a:avLst>
              <a:gd name="adj" fmla="val 10256"/>
            </a:avLst>
          </a:prstGeom>
          <a:solidFill>
            <a:srgbClr val="F4F7FC"/>
          </a:solidFill>
          <a:ln/>
          <a:effectLst>
            <a:outerShdw sx="100000" sy="100000" kx="0" ky="0" algn="bl" rotWithShape="0" blurRad="101600" dist="38100" dir="5400000">
              <a:srgbClr val="1B2A56">
                <a:alpha val="12000"/>
              </a:srgbClr>
            </a:outerShdw>
          </a:effectLst>
        </p:spPr>
      </p:sp>
      <p:sp>
        <p:nvSpPr>
          <p:cNvPr id="29" name="Shape 27"/>
          <p:cNvSpPr/>
          <p:nvPr/>
        </p:nvSpPr>
        <p:spPr>
          <a:xfrm>
            <a:off x="777240" y="5038344"/>
            <a:ext cx="384048" cy="384048"/>
          </a:xfrm>
          <a:prstGeom prst="ellipse">
            <a:avLst/>
          </a:prstGeom>
          <a:solidFill>
            <a:srgbClr val="0E7C7B"/>
          </a:solidFill>
          <a:ln/>
        </p:spPr>
      </p:sp>
      <p:sp>
        <p:nvSpPr>
          <p:cNvPr id="30" name="Text 28"/>
          <p:cNvSpPr txBox="1"/>
          <p:nvPr/>
        </p:nvSpPr>
        <p:spPr>
          <a:xfrm>
            <a:off x="777240" y="50383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9"/>
          <p:cNvSpPr txBox="1"/>
          <p:nvPr/>
        </p:nvSpPr>
        <p:spPr>
          <a:xfrm>
            <a:off x="1371600" y="4946904"/>
            <a:ext cx="1920240" cy="566928"/>
          </a:xfrm>
          <a:prstGeom prst="rect">
            <a:avLst/>
          </a:prstGeom>
          <a:noFill/>
          <a:ln/>
        </p:spPr>
        <p:txBody>
          <a:bodyPr wrap="square" lIns="0" tIns="0" rIns="0" bIns="0" rtlCol="0" anchor="ctr"/>
          <a:lstStyle/>
          <a:p>
            <a:pPr indent="0" marL="0">
              <a:buNone/>
            </a:pPr>
            <a:r>
              <a:rPr lang="en-US" sz="1200" b="1" dirty="0">
                <a:solidFill>
                  <a:srgbClr val="1B2A56"/>
                </a:solidFill>
                <a:latin typeface="Calibri" pitchFamily="34" charset="0"/>
                <a:ea typeface="Calibri" pitchFamily="34" charset="-122"/>
                <a:cs typeface="Calibri" pitchFamily="34" charset="-120"/>
              </a:rPr>
              <a:t>Unresolved problem</a:t>
            </a:r>
            <a:endParaRPr lang="en-US" sz="1200" dirty="0"/>
          </a:p>
        </p:txBody>
      </p:sp>
      <p:sp>
        <p:nvSpPr>
          <p:cNvPr id="32" name="Text 30"/>
          <p:cNvSpPr txBox="1"/>
          <p:nvPr/>
        </p:nvSpPr>
        <p:spPr>
          <a:xfrm>
            <a:off x="3383280" y="4928616"/>
            <a:ext cx="4846320" cy="603504"/>
          </a:xfrm>
          <a:prstGeom prst="rect">
            <a:avLst/>
          </a:prstGeom>
          <a:noFill/>
          <a:ln/>
        </p:spPr>
        <p:txBody>
          <a:bodyPr wrap="square" lIns="0" tIns="0" rIns="0" bIns="0" rtlCol="0" anchor="ctr"/>
          <a:lstStyle/>
          <a:p>
            <a:pPr indent="0" marL="0">
              <a:lnSpc>
                <a:spcPct val="112000"/>
              </a:lnSpc>
              <a:buNone/>
            </a:pPr>
            <a:r>
              <a:rPr lang="en-US" sz="1000" dirty="0">
                <a:solidFill>
                  <a:srgbClr val="20242E"/>
                </a:solidFill>
                <a:latin typeface="Calibri" pitchFamily="34" charset="0"/>
                <a:ea typeface="Calibri" pitchFamily="34" charset="-122"/>
                <a:cs typeface="Calibri" pitchFamily="34" charset="-120"/>
              </a:rPr>
              <a:t>Given N contaminated documents with different severity AND different real query traffic, and 3 possible actions of different cost/quality, how should ONE bounded budget be allocated system-wide?</a:t>
            </a:r>
            <a:endParaRPr lang="en-US" sz="1000" dirty="0"/>
          </a:p>
        </p:txBody>
      </p:sp>
      <p:sp>
        <p:nvSpPr>
          <p:cNvPr id="33" name="Text 31"/>
          <p:cNvSpPr txBox="1"/>
          <p:nvPr/>
        </p:nvSpPr>
        <p:spPr>
          <a:xfrm>
            <a:off x="548640" y="5541264"/>
            <a:ext cx="457200" cy="228600"/>
          </a:xfrm>
          <a:prstGeom prst="rect">
            <a:avLst/>
          </a:prstGeom>
          <a:noFill/>
          <a:ln/>
        </p:spPr>
        <p:txBody>
          <a:bodyPr wrap="square" lIns="0" tIns="0" rIns="0" bIns="0" rtlCol="0" anchor="ctr"/>
          <a:lstStyle/>
          <a:p>
            <a:pPr algn="ctr" indent="0" marL="0">
              <a:buNone/>
            </a:pPr>
            <a:r>
              <a:rPr lang="en-US" sz="1400" dirty="0">
                <a:solidFill>
                  <a:srgbClr val="0E7C7B"/>
                </a:solidFill>
                <a:latin typeface="Calibri" pitchFamily="34" charset="0"/>
                <a:ea typeface="Calibri" pitchFamily="34" charset="-122"/>
                <a:cs typeface="Calibri" pitchFamily="34" charset="-120"/>
              </a:rPr>
              <a:t>↓</a:t>
            </a:r>
            <a:endParaRPr lang="en-US" sz="1400" dirty="0"/>
          </a:p>
        </p:txBody>
      </p:sp>
      <p:sp>
        <p:nvSpPr>
          <p:cNvPr id="34" name="Shape 32"/>
          <p:cNvSpPr/>
          <p:nvPr/>
        </p:nvSpPr>
        <p:spPr>
          <a:xfrm>
            <a:off x="548640" y="5715000"/>
            <a:ext cx="7772400" cy="713232"/>
          </a:xfrm>
          <a:prstGeom prst="roundRect">
            <a:avLst>
              <a:gd name="adj" fmla="val 10256"/>
            </a:avLst>
          </a:prstGeom>
          <a:solidFill>
            <a:srgbClr val="1B2A56"/>
          </a:solidFill>
          <a:ln/>
        </p:spPr>
      </p:sp>
      <p:sp>
        <p:nvSpPr>
          <p:cNvPr id="35" name="Shape 33"/>
          <p:cNvSpPr/>
          <p:nvPr/>
        </p:nvSpPr>
        <p:spPr>
          <a:xfrm>
            <a:off x="777240" y="5879592"/>
            <a:ext cx="384048" cy="384048"/>
          </a:xfrm>
          <a:prstGeom prst="ellipse">
            <a:avLst/>
          </a:prstGeom>
          <a:solidFill>
            <a:srgbClr val="0E7C7B"/>
          </a:solidFill>
          <a:ln/>
        </p:spPr>
      </p:sp>
      <p:sp>
        <p:nvSpPr>
          <p:cNvPr id="36" name="Text 34"/>
          <p:cNvSpPr txBox="1"/>
          <p:nvPr/>
        </p:nvSpPr>
        <p:spPr>
          <a:xfrm>
            <a:off x="777240" y="58795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5"/>
          <p:cNvSpPr txBox="1"/>
          <p:nvPr/>
        </p:nvSpPr>
        <p:spPr>
          <a:xfrm>
            <a:off x="1371600" y="5788152"/>
            <a:ext cx="1920240"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Research gap</a:t>
            </a:r>
            <a:endParaRPr lang="en-US" sz="1200" dirty="0"/>
          </a:p>
        </p:txBody>
      </p:sp>
      <p:sp>
        <p:nvSpPr>
          <p:cNvPr id="38" name="Text 36"/>
          <p:cNvSpPr txBox="1"/>
          <p:nvPr/>
        </p:nvSpPr>
        <p:spPr>
          <a:xfrm>
            <a:off x="3383280" y="5769864"/>
            <a:ext cx="4846320" cy="603504"/>
          </a:xfrm>
          <a:prstGeom prst="rect">
            <a:avLst/>
          </a:prstGeom>
          <a:noFill/>
          <a:ln/>
        </p:spPr>
        <p:txBody>
          <a:bodyPr wrap="square" lIns="0" tIns="0" rIns="0" bIns="0" rtlCol="0" anchor="ctr"/>
          <a:lstStyle/>
          <a:p>
            <a:pPr indent="0" marL="0">
              <a:lnSpc>
                <a:spcPct val="112000"/>
              </a:lnSpc>
              <a:buNone/>
            </a:pPr>
            <a:r>
              <a:rPr lang="en-US" sz="1000" dirty="0">
                <a:solidFill>
                  <a:srgbClr val="CFE0FA"/>
                </a:solidFill>
                <a:latin typeface="Calibri" pitchFamily="34" charset="0"/>
                <a:ea typeface="Calibri" pitchFamily="34" charset="-122"/>
                <a:cs typeface="Calibri" pitchFamily="34" charset="-120"/>
              </a:rPr>
              <a:t>No budget-aware, traffic-informed, per-document PRIORITIZATION layer exists between 'detect' and 'fix' — and no safety gate ensures a chosen plan doesn't regress production quality before it ships.</a:t>
            </a:r>
            <a:endParaRPr lang="en-US" sz="1000" dirty="0"/>
          </a:p>
        </p:txBody>
      </p:sp>
      <p:sp>
        <p:nvSpPr>
          <p:cNvPr id="39" name="Shape 37"/>
          <p:cNvSpPr/>
          <p:nvPr/>
        </p:nvSpPr>
        <p:spPr>
          <a:xfrm>
            <a:off x="8503920" y="1508760"/>
            <a:ext cx="3154680" cy="4572000"/>
          </a:xfrm>
          <a:prstGeom prst="roundRect">
            <a:avLst>
              <a:gd name="adj" fmla="val 2319"/>
            </a:avLst>
          </a:prstGeom>
          <a:solidFill>
            <a:srgbClr val="E4F3F2"/>
          </a:solidFill>
          <a:ln/>
          <a:effectLst>
            <a:outerShdw sx="100000" sy="100000" kx="0" ky="0" algn="bl" rotWithShape="0" blurRad="101600" dist="38100" dir="5400000">
              <a:srgbClr val="1B2A56">
                <a:alpha val="12000"/>
              </a:srgbClr>
            </a:outerShdw>
          </a:effectLst>
        </p:spPr>
      </p:sp>
      <p:sp>
        <p:nvSpPr>
          <p:cNvPr id="40" name="Text 38"/>
          <p:cNvSpPr txBox="1"/>
          <p:nvPr/>
        </p:nvSpPr>
        <p:spPr>
          <a:xfrm>
            <a:off x="8732520" y="1691640"/>
            <a:ext cx="2743200" cy="274320"/>
          </a:xfrm>
          <a:prstGeom prst="rect">
            <a:avLst/>
          </a:prstGeom>
          <a:noFill/>
          <a:ln/>
        </p:spPr>
        <p:txBody>
          <a:bodyPr wrap="square" lIns="0" tIns="0" rIns="0" bIns="0" rtlCol="0" anchor="ctr"/>
          <a:lstStyle/>
          <a:p>
            <a:pPr indent="0" marL="0">
              <a:buNone/>
            </a:pPr>
            <a:r>
              <a:rPr lang="en-US" sz="1100" b="1" spc="150" kern="0" dirty="0">
                <a:solidFill>
                  <a:srgbClr val="0E7C7B"/>
                </a:solidFill>
                <a:latin typeface="Calibri" pitchFamily="34" charset="0"/>
                <a:ea typeface="Calibri" pitchFamily="34" charset="-122"/>
                <a:cs typeface="Calibri" pitchFamily="34" charset="-120"/>
              </a:rPr>
              <a:t>OUR CONTRIBUTION</a:t>
            </a:r>
            <a:endParaRPr lang="en-US" sz="1100" dirty="0"/>
          </a:p>
        </p:txBody>
      </p:sp>
      <p:sp>
        <p:nvSpPr>
          <p:cNvPr id="41" name="Text 39"/>
          <p:cNvSpPr txBox="1"/>
          <p:nvPr/>
        </p:nvSpPr>
        <p:spPr>
          <a:xfrm>
            <a:off x="8732520" y="2057400"/>
            <a:ext cx="2743200" cy="2286000"/>
          </a:xfrm>
          <a:prstGeom prst="rect">
            <a:avLst/>
          </a:prstGeom>
          <a:noFill/>
          <a:ln/>
        </p:spPr>
        <p:txBody>
          <a:bodyPr wrap="square" lIns="0" tIns="0" rIns="0" bIns="0" rtlCol="0" anchor="ctr"/>
          <a:lstStyle/>
          <a:p>
            <a:pPr indent="0" marL="0">
              <a:lnSpc>
                <a:spcPct val="125000"/>
              </a:lnSpc>
              <a:buNone/>
            </a:pPr>
            <a:r>
              <a:rPr lang="en-US" sz="1100" dirty="0">
                <a:solidFill>
                  <a:srgbClr val="1B2A56"/>
                </a:solidFill>
                <a:latin typeface="Calibri" pitchFamily="34" charset="0"/>
                <a:ea typeface="Calibri" pitchFamily="34" charset="-122"/>
                <a:cs typeface="Calibri" pitchFamily="34" charset="-120"/>
              </a:rPr>
              <a:t>Formulate remediation as a Multiple-Choice Knapsack Problem — {Full Re-embed, Patch, Defer} per document, benefit = severity × traffic × recovery, one shared budget — solved exactly (ILP) and approximately (greedy), gated by automated shadow-build + verification before anything ships.</a:t>
            </a:r>
            <a:endParaRPr lang="en-US" sz="1100" dirty="0"/>
          </a:p>
        </p:txBody>
      </p:sp>
      <p:sp>
        <p:nvSpPr>
          <p:cNvPr id="42" name="Text 40"/>
          <p:cNvSpPr txBox="1"/>
          <p:nvPr/>
        </p:nvSpPr>
        <p:spPr>
          <a:xfrm>
            <a:off x="8732520" y="4572000"/>
            <a:ext cx="2743200" cy="1371600"/>
          </a:xfrm>
          <a:prstGeom prst="rect">
            <a:avLst/>
          </a:prstGeom>
          <a:noFill/>
          <a:ln/>
        </p:spPr>
        <p:txBody>
          <a:bodyPr wrap="square" lIns="0" tIns="0" rIns="0" bIns="0" rtlCol="0" anchor="ctr"/>
          <a:lstStyle/>
          <a:p>
            <a:pPr indent="0" marL="0">
              <a:lnSpc>
                <a:spcPct val="120000"/>
              </a:lnSpc>
              <a:buNone/>
            </a:pPr>
            <a:r>
              <a:rPr lang="en-US" sz="950" i="1" dirty="0">
                <a:solidFill>
                  <a:srgbClr val="5A6472"/>
                </a:solidFill>
                <a:latin typeface="Calibri" pitchFamily="34" charset="0"/>
                <a:ea typeface="Calibri" pitchFamily="34" charset="-122"/>
                <a:cs typeface="Calibri" pitchFamily="34" charset="-120"/>
              </a:rPr>
              <a:t>Directly grounded in Sinha &amp; Zoltners (1979) for the optimization core and Vejendla (2025) for the patch mechanism — not invented from nothing.</a:t>
            </a:r>
            <a:endParaRPr lang="en-US" sz="950" dirty="0"/>
          </a:p>
        </p:txBody>
      </p:sp>
      <p:sp>
        <p:nvSpPr>
          <p:cNvPr id="43" name="Text 4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a:t>
            </a:r>
            <a:endParaRPr lang="en-US" sz="900" dirty="0"/>
          </a:p>
        </p:txBody>
      </p:sp>
      <p:sp>
        <p:nvSpPr>
          <p:cNvPr id="44" name="Text 42"/>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INNOVATION  ·  CONCEPT (10 MARKS)</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Proposed Concept — VectorSentry</a:t>
            </a:r>
            <a:endParaRPr lang="en-US" sz="3200" dirty="0"/>
          </a:p>
        </p:txBody>
      </p:sp>
      <p:sp>
        <p:nvSpPr>
          <p:cNvPr id="4" name="Shape 2"/>
          <p:cNvSpPr/>
          <p:nvPr/>
        </p:nvSpPr>
        <p:spPr>
          <a:xfrm>
            <a:off x="548640" y="1508760"/>
            <a:ext cx="11109960" cy="1051560"/>
          </a:xfrm>
          <a:prstGeom prst="roundRect">
            <a:avLst>
              <a:gd name="adj" fmla="val 6957"/>
            </a:avLst>
          </a:prstGeom>
          <a:solidFill>
            <a:srgbClr val="1B2A56"/>
          </a:solidFill>
          <a:ln/>
        </p:spPr>
      </p:sp>
      <p:sp>
        <p:nvSpPr>
          <p:cNvPr id="5" name="Text 3"/>
          <p:cNvSpPr txBox="1"/>
          <p:nvPr/>
        </p:nvSpPr>
        <p:spPr>
          <a:xfrm>
            <a:off x="822960" y="1627632"/>
            <a:ext cx="10515600" cy="822960"/>
          </a:xfrm>
          <a:prstGeom prst="rect">
            <a:avLst/>
          </a:prstGeom>
          <a:noFill/>
          <a:ln/>
        </p:spPr>
        <p:txBody>
          <a:bodyPr wrap="square" lIns="0" tIns="0" rIns="0" bIns="0" rtlCol="0" anchor="ctr"/>
          <a:lstStyle/>
          <a:p>
            <a:pPr indent="0" marL="0">
              <a:lnSpc>
                <a:spcPct val="120000"/>
              </a:lnSpc>
              <a:buNone/>
            </a:pPr>
            <a:r>
              <a:rPr lang="en-US" sz="1450" dirty="0">
                <a:solidFill>
                  <a:srgbClr val="FFFFFF"/>
                </a:solidFill>
                <a:latin typeface="Calibri" pitchFamily="34" charset="0"/>
                <a:ea typeface="Calibri" pitchFamily="34" charset="-122"/>
                <a:cs typeface="Calibri" pitchFamily="34" charset="-120"/>
              </a:rPr>
              <a:t>Prioritize contamination remediation the way an incident-response team would — not by fixing everything, and not by fixing arbitrarily, but by ranking WHAT to fix first under a real budget, using real traffic and real severity signals, verified safe before every change goes live.</a:t>
            </a:r>
            <a:endParaRPr lang="en-US" sz="1450" dirty="0"/>
          </a:p>
        </p:txBody>
      </p:sp>
      <p:sp>
        <p:nvSpPr>
          <p:cNvPr id="6" name="Text 4"/>
          <p:cNvSpPr txBox="1"/>
          <p:nvPr/>
        </p:nvSpPr>
        <p:spPr>
          <a:xfrm>
            <a:off x="548640" y="2788920"/>
            <a:ext cx="10058400" cy="320040"/>
          </a:xfrm>
          <a:prstGeom prst="rect">
            <a:avLst/>
          </a:prstGeom>
          <a:noFill/>
          <a:ln/>
        </p:spPr>
        <p:txBody>
          <a:bodyPr wrap="square" lIns="0" tIns="0" rIns="0" bIns="0" rtlCol="0" anchor="ctr"/>
          <a:lstStyle/>
          <a:p>
            <a:pPr indent="0" marL="0">
              <a:buNone/>
            </a:pPr>
            <a:r>
              <a:rPr lang="en-US" sz="1300" b="1" dirty="0">
                <a:solidFill>
                  <a:srgbClr val="1B2A56"/>
                </a:solidFill>
                <a:latin typeface="Calibri" pitchFamily="34" charset="0"/>
                <a:ea typeface="Calibri" pitchFamily="34" charset="-122"/>
                <a:cs typeface="Calibri" pitchFamily="34" charset="-120"/>
              </a:rPr>
              <a:t>For every flagged document, the scheduler chooses exactly one of three actions:</a:t>
            </a:r>
            <a:endParaRPr lang="en-US" sz="1300" dirty="0"/>
          </a:p>
        </p:txBody>
      </p:sp>
      <p:sp>
        <p:nvSpPr>
          <p:cNvPr id="7" name="Shape 5"/>
          <p:cNvSpPr/>
          <p:nvPr/>
        </p:nvSpPr>
        <p:spPr>
          <a:xfrm>
            <a:off x="548640" y="3246120"/>
            <a:ext cx="3584448" cy="2514600"/>
          </a:xfrm>
          <a:prstGeom prst="roundRect">
            <a:avLst>
              <a:gd name="adj" fmla="val 2909"/>
            </a:avLst>
          </a:prstGeom>
          <a:solidFill>
            <a:srgbClr val="F4F7FC"/>
          </a:solidFill>
          <a:ln/>
          <a:effectLst>
            <a:outerShdw sx="100000" sy="100000" kx="0" ky="0" algn="bl" rotWithShape="0" blurRad="101600" dist="38100" dir="5400000">
              <a:srgbClr val="1B2A56">
                <a:alpha val="12000"/>
              </a:srgbClr>
            </a:outerShdw>
          </a:effectLst>
        </p:spPr>
      </p:sp>
      <p:sp>
        <p:nvSpPr>
          <p:cNvPr id="8" name="Shape 6"/>
          <p:cNvSpPr/>
          <p:nvPr/>
        </p:nvSpPr>
        <p:spPr>
          <a:xfrm>
            <a:off x="777240" y="3474720"/>
            <a:ext cx="502920" cy="502920"/>
          </a:xfrm>
          <a:prstGeom prst="roundRect">
            <a:avLst>
              <a:gd name="adj" fmla="val 50909"/>
            </a:avLst>
          </a:prstGeom>
          <a:solidFill>
            <a:srgbClr val="1E824C"/>
          </a:solidFill>
          <a:ln/>
        </p:spPr>
      </p:sp>
      <p:sp>
        <p:nvSpPr>
          <p:cNvPr id="9" name="Text 7"/>
          <p:cNvSpPr txBox="1"/>
          <p:nvPr/>
        </p:nvSpPr>
        <p:spPr>
          <a:xfrm>
            <a:off x="777240" y="4114800"/>
            <a:ext cx="3108960" cy="320040"/>
          </a:xfrm>
          <a:prstGeom prst="rect">
            <a:avLst/>
          </a:prstGeom>
          <a:noFill/>
          <a:ln/>
        </p:spPr>
        <p:txBody>
          <a:bodyPr wrap="square" lIns="0" tIns="0" rIns="0" bIns="0" rtlCol="0" anchor="ctr"/>
          <a:lstStyle/>
          <a:p>
            <a:pPr indent="0" marL="0">
              <a:buNone/>
            </a:pPr>
            <a:r>
              <a:rPr lang="en-US" sz="1500" b="1" dirty="0">
                <a:solidFill>
                  <a:srgbClr val="1B2A56"/>
                </a:solidFill>
                <a:latin typeface="Calibri" pitchFamily="34" charset="0"/>
                <a:ea typeface="Calibri" pitchFamily="34" charset="-122"/>
                <a:cs typeface="Calibri" pitchFamily="34" charset="-120"/>
              </a:rPr>
              <a:t>Full Re-embed</a:t>
            </a:r>
            <a:endParaRPr lang="en-US" sz="1500" dirty="0"/>
          </a:p>
        </p:txBody>
      </p:sp>
      <p:sp>
        <p:nvSpPr>
          <p:cNvPr id="10" name="Text 8"/>
          <p:cNvSpPr txBox="1"/>
          <p:nvPr/>
        </p:nvSpPr>
        <p:spPr>
          <a:xfrm>
            <a:off x="777240" y="4462272"/>
            <a:ext cx="3108960" cy="274320"/>
          </a:xfrm>
          <a:prstGeom prst="rect">
            <a:avLst/>
          </a:prstGeom>
          <a:noFill/>
          <a:ln/>
        </p:spPr>
        <p:txBody>
          <a:bodyPr wrap="square" lIns="0" tIns="0" rIns="0" bIns="0" rtlCol="0" anchor="ctr"/>
          <a:lstStyle/>
          <a:p>
            <a:pPr indent="0" marL="0">
              <a:buNone/>
            </a:pPr>
            <a:r>
              <a:rPr lang="en-US" sz="1050" b="1" dirty="0">
                <a:solidFill>
                  <a:srgbClr val="1E824C"/>
                </a:solidFill>
                <a:latin typeface="Calibri" pitchFamily="34" charset="0"/>
                <a:ea typeface="Calibri" pitchFamily="34" charset="-122"/>
                <a:cs typeface="Calibri" pitchFamily="34" charset="-120"/>
              </a:rPr>
              <a:t>High cost</a:t>
            </a:r>
            <a:pPr indent="0" marL="0">
              <a:buNone/>
            </a:pPr>
            <a:r>
              <a:rPr lang="en-US" sz="1050" dirty="0">
                <a:solidFill>
                  <a:srgbClr val="5A6472"/>
                </a:solidFill>
                <a:latin typeface="Calibri" pitchFamily="34" charset="0"/>
                <a:ea typeface="Calibri" pitchFamily="34" charset="-122"/>
                <a:cs typeface="Calibri" pitchFamily="34" charset="-120"/>
              </a:rPr>
              <a:t>   •   </a:t>
            </a:r>
            <a:pPr indent="0" marL="0">
              <a:buNone/>
            </a:pPr>
            <a:r>
              <a:rPr lang="en-US" sz="1050" b="1" dirty="0">
                <a:solidFill>
                  <a:srgbClr val="1E824C"/>
                </a:solidFill>
                <a:latin typeface="Calibri" pitchFamily="34" charset="0"/>
                <a:ea typeface="Calibri" pitchFamily="34" charset="-122"/>
                <a:cs typeface="Calibri" pitchFamily="34" charset="-120"/>
              </a:rPr>
              <a:t>Full quality recovery</a:t>
            </a:r>
            <a:endParaRPr lang="en-US" sz="1050" dirty="0"/>
          </a:p>
        </p:txBody>
      </p:sp>
      <p:sp>
        <p:nvSpPr>
          <p:cNvPr id="11" name="Text 9"/>
          <p:cNvSpPr txBox="1"/>
          <p:nvPr/>
        </p:nvSpPr>
        <p:spPr>
          <a:xfrm>
            <a:off x="0" y="0"/>
            <a:ext cx="91440" cy="91440"/>
          </a:xfrm>
          <a:prstGeom prst="rect">
            <a:avLst/>
          </a:prstGeom>
          <a:noFill/>
          <a:ln/>
        </p:spPr>
        <p:txBody>
          <a:bodyPr wrap="square" rtlCol="0" anchor="ctr"/>
          <a:lstStyle/>
          <a:p>
            <a:pPr indent="0" marL="0">
              <a:buNone/>
            </a:pPr>
            <a:endParaRPr lang="en-US" dirty="0"/>
          </a:p>
        </p:txBody>
      </p:sp>
      <p:sp>
        <p:nvSpPr>
          <p:cNvPr id="12" name="Text 10"/>
          <p:cNvSpPr txBox="1"/>
          <p:nvPr/>
        </p:nvSpPr>
        <p:spPr>
          <a:xfrm>
            <a:off x="777240" y="4800600"/>
            <a:ext cx="3108960" cy="868680"/>
          </a:xfrm>
          <a:prstGeom prst="rect">
            <a:avLst/>
          </a:prstGeom>
          <a:noFill/>
          <a:ln/>
        </p:spPr>
        <p:txBody>
          <a:bodyPr wrap="square" lIns="0" tIns="0" rIns="0" bIns="0" rtlCol="0" anchor="ctr"/>
          <a:lstStyle/>
          <a:p>
            <a:pPr indent="0" marL="0">
              <a:lnSpc>
                <a:spcPct val="115000"/>
              </a:lnSpc>
              <a:buNone/>
            </a:pPr>
            <a:r>
              <a:rPr lang="en-US" sz="980" dirty="0">
                <a:solidFill>
                  <a:srgbClr val="20242E"/>
                </a:solidFill>
                <a:latin typeface="Calibri" pitchFamily="34" charset="0"/>
                <a:ea typeface="Calibri" pitchFamily="34" charset="-122"/>
                <a:cs typeface="Calibri" pitchFamily="34" charset="-120"/>
              </a:rPr>
              <a:t>Re-run the document through the current embedding model — the ground-truth fix.</a:t>
            </a:r>
            <a:endParaRPr lang="en-US" sz="980" dirty="0"/>
          </a:p>
        </p:txBody>
      </p:sp>
      <p:sp>
        <p:nvSpPr>
          <p:cNvPr id="13" name="Shape 11"/>
          <p:cNvSpPr/>
          <p:nvPr/>
        </p:nvSpPr>
        <p:spPr>
          <a:xfrm>
            <a:off x="4315968" y="3246120"/>
            <a:ext cx="3584448" cy="2514600"/>
          </a:xfrm>
          <a:prstGeom prst="roundRect">
            <a:avLst>
              <a:gd name="adj" fmla="val 2909"/>
            </a:avLst>
          </a:prstGeom>
          <a:solidFill>
            <a:srgbClr val="F4F7FC"/>
          </a:solidFill>
          <a:ln/>
          <a:effectLst>
            <a:outerShdw sx="100000" sy="100000" kx="0" ky="0" algn="bl" rotWithShape="0" blurRad="101600" dist="38100" dir="5400000">
              <a:srgbClr val="1B2A56">
                <a:alpha val="12000"/>
              </a:srgbClr>
            </a:outerShdw>
          </a:effectLst>
        </p:spPr>
      </p:sp>
      <p:sp>
        <p:nvSpPr>
          <p:cNvPr id="14" name="Shape 12"/>
          <p:cNvSpPr/>
          <p:nvPr/>
        </p:nvSpPr>
        <p:spPr>
          <a:xfrm>
            <a:off x="4544568" y="3474720"/>
            <a:ext cx="502920" cy="502920"/>
          </a:xfrm>
          <a:prstGeom prst="roundRect">
            <a:avLst>
              <a:gd name="adj" fmla="val 50909"/>
            </a:avLst>
          </a:prstGeom>
          <a:solidFill>
            <a:srgbClr val="C97A22"/>
          </a:solidFill>
          <a:ln/>
        </p:spPr>
      </p:sp>
      <p:sp>
        <p:nvSpPr>
          <p:cNvPr id="15" name="Text 13"/>
          <p:cNvSpPr txBox="1"/>
          <p:nvPr/>
        </p:nvSpPr>
        <p:spPr>
          <a:xfrm>
            <a:off x="4544568" y="4114800"/>
            <a:ext cx="3108960" cy="320040"/>
          </a:xfrm>
          <a:prstGeom prst="rect">
            <a:avLst/>
          </a:prstGeom>
          <a:noFill/>
          <a:ln/>
        </p:spPr>
        <p:txBody>
          <a:bodyPr wrap="square" lIns="0" tIns="0" rIns="0" bIns="0" rtlCol="0" anchor="ctr"/>
          <a:lstStyle/>
          <a:p>
            <a:pPr indent="0" marL="0">
              <a:buNone/>
            </a:pPr>
            <a:r>
              <a:rPr lang="en-US" sz="1500" b="1" dirty="0">
                <a:solidFill>
                  <a:srgbClr val="1B2A56"/>
                </a:solidFill>
                <a:latin typeface="Calibri" pitchFamily="34" charset="0"/>
                <a:ea typeface="Calibri" pitchFamily="34" charset="-122"/>
                <a:cs typeface="Calibri" pitchFamily="34" charset="-120"/>
              </a:rPr>
              <a:t>Patch</a:t>
            </a:r>
            <a:endParaRPr lang="en-US" sz="1500" dirty="0"/>
          </a:p>
        </p:txBody>
      </p:sp>
      <p:sp>
        <p:nvSpPr>
          <p:cNvPr id="16" name="Text 14"/>
          <p:cNvSpPr txBox="1"/>
          <p:nvPr/>
        </p:nvSpPr>
        <p:spPr>
          <a:xfrm>
            <a:off x="4544568" y="4462272"/>
            <a:ext cx="3108960" cy="274320"/>
          </a:xfrm>
          <a:prstGeom prst="rect">
            <a:avLst/>
          </a:prstGeom>
          <a:noFill/>
          <a:ln/>
        </p:spPr>
        <p:txBody>
          <a:bodyPr wrap="square" lIns="0" tIns="0" rIns="0" bIns="0" rtlCol="0" anchor="ctr"/>
          <a:lstStyle/>
          <a:p>
            <a:pPr indent="0" marL="0">
              <a:buNone/>
            </a:pPr>
            <a:r>
              <a:rPr lang="en-US" sz="1050" b="1" dirty="0">
                <a:solidFill>
                  <a:srgbClr val="C97A22"/>
                </a:solidFill>
                <a:latin typeface="Calibri" pitchFamily="34" charset="0"/>
                <a:ea typeface="Calibri" pitchFamily="34" charset="-122"/>
                <a:cs typeface="Calibri" pitchFamily="34" charset="-120"/>
              </a:rPr>
              <a:t>Low cost</a:t>
            </a:r>
            <a:pPr indent="0" marL="0">
              <a:buNone/>
            </a:pPr>
            <a:r>
              <a:rPr lang="en-US" sz="1050" dirty="0">
                <a:solidFill>
                  <a:srgbClr val="5A6472"/>
                </a:solidFill>
                <a:latin typeface="Calibri" pitchFamily="34" charset="0"/>
                <a:ea typeface="Calibri" pitchFamily="34" charset="-122"/>
                <a:cs typeface="Calibri" pitchFamily="34" charset="-120"/>
              </a:rPr>
              <a:t>   •   </a:t>
            </a:r>
            <a:pPr indent="0" marL="0">
              <a:buNone/>
            </a:pPr>
            <a:r>
              <a:rPr lang="en-US" sz="1050" b="1" dirty="0">
                <a:solidFill>
                  <a:srgbClr val="C97A22"/>
                </a:solidFill>
                <a:latin typeface="Calibri" pitchFamily="34" charset="0"/>
                <a:ea typeface="Calibri" pitchFamily="34" charset="-122"/>
                <a:cs typeface="Calibri" pitchFamily="34" charset="-120"/>
              </a:rPr>
              <a:t>Partial recovery</a:t>
            </a:r>
            <a:endParaRPr lang="en-US" sz="1050" dirty="0"/>
          </a:p>
        </p:txBody>
      </p:sp>
      <p:sp>
        <p:nvSpPr>
          <p:cNvPr id="17" name="Text 15"/>
          <p:cNvSpPr txBox="1"/>
          <p:nvPr/>
        </p:nvSpPr>
        <p:spPr>
          <a:xfrm>
            <a:off x="0" y="0"/>
            <a:ext cx="91440" cy="91440"/>
          </a:xfrm>
          <a:prstGeom prst="rect">
            <a:avLst/>
          </a:prstGeom>
          <a:noFill/>
          <a:ln/>
        </p:spPr>
        <p:txBody>
          <a:bodyPr wrap="square" rtlCol="0" anchor="ctr"/>
          <a:lstStyle/>
          <a:p>
            <a:pPr indent="0" marL="0">
              <a:buNone/>
            </a:pPr>
            <a:endParaRPr lang="en-US" dirty="0"/>
          </a:p>
        </p:txBody>
      </p:sp>
      <p:sp>
        <p:nvSpPr>
          <p:cNvPr id="18" name="Text 16"/>
          <p:cNvSpPr txBox="1"/>
          <p:nvPr/>
        </p:nvSpPr>
        <p:spPr>
          <a:xfrm>
            <a:off x="4544568" y="4800600"/>
            <a:ext cx="3108960" cy="868680"/>
          </a:xfrm>
          <a:prstGeom prst="rect">
            <a:avLst/>
          </a:prstGeom>
          <a:noFill/>
          <a:ln/>
        </p:spPr>
        <p:txBody>
          <a:bodyPr wrap="square" lIns="0" tIns="0" rIns="0" bIns="0" rtlCol="0" anchor="ctr"/>
          <a:lstStyle/>
          <a:p>
            <a:pPr indent="0" marL="0">
              <a:lnSpc>
                <a:spcPct val="115000"/>
              </a:lnSpc>
              <a:buNone/>
            </a:pPr>
            <a:r>
              <a:rPr lang="en-US" sz="980" dirty="0">
                <a:solidFill>
                  <a:srgbClr val="20242E"/>
                </a:solidFill>
                <a:latin typeface="Calibri" pitchFamily="34" charset="0"/>
                <a:ea typeface="Calibri" pitchFamily="34" charset="-122"/>
                <a:cs typeface="Calibri" pitchFamily="34" charset="-120"/>
              </a:rPr>
              <a:t>A lightweight learned Procrustes/linear transform (Drift-Adapter-style) realigns the old embedding — cheap, imperfect.</a:t>
            </a:r>
            <a:endParaRPr lang="en-US" sz="980" dirty="0"/>
          </a:p>
        </p:txBody>
      </p:sp>
      <p:sp>
        <p:nvSpPr>
          <p:cNvPr id="19" name="Shape 17"/>
          <p:cNvSpPr/>
          <p:nvPr/>
        </p:nvSpPr>
        <p:spPr>
          <a:xfrm>
            <a:off x="8083296" y="3246120"/>
            <a:ext cx="3584448" cy="2514600"/>
          </a:xfrm>
          <a:prstGeom prst="roundRect">
            <a:avLst>
              <a:gd name="adj" fmla="val 2909"/>
            </a:avLst>
          </a:prstGeom>
          <a:solidFill>
            <a:srgbClr val="F4F7FC"/>
          </a:solidFill>
          <a:ln/>
          <a:effectLst>
            <a:outerShdw sx="100000" sy="100000" kx="0" ky="0" algn="bl" rotWithShape="0" blurRad="101600" dist="38100" dir="5400000">
              <a:srgbClr val="1B2A56">
                <a:alpha val="12000"/>
              </a:srgbClr>
            </a:outerShdw>
          </a:effectLst>
        </p:spPr>
      </p:sp>
      <p:sp>
        <p:nvSpPr>
          <p:cNvPr id="20" name="Shape 18"/>
          <p:cNvSpPr/>
          <p:nvPr/>
        </p:nvSpPr>
        <p:spPr>
          <a:xfrm>
            <a:off x="8311896" y="3474720"/>
            <a:ext cx="502920" cy="502920"/>
          </a:xfrm>
          <a:prstGeom prst="roundRect">
            <a:avLst>
              <a:gd name="adj" fmla="val 50909"/>
            </a:avLst>
          </a:prstGeom>
          <a:solidFill>
            <a:srgbClr val="5A6472"/>
          </a:solidFill>
          <a:ln/>
        </p:spPr>
      </p:sp>
      <p:sp>
        <p:nvSpPr>
          <p:cNvPr id="21" name="Text 19"/>
          <p:cNvSpPr txBox="1"/>
          <p:nvPr/>
        </p:nvSpPr>
        <p:spPr>
          <a:xfrm>
            <a:off x="8311896" y="4114800"/>
            <a:ext cx="3108960" cy="320040"/>
          </a:xfrm>
          <a:prstGeom prst="rect">
            <a:avLst/>
          </a:prstGeom>
          <a:noFill/>
          <a:ln/>
        </p:spPr>
        <p:txBody>
          <a:bodyPr wrap="square" lIns="0" tIns="0" rIns="0" bIns="0" rtlCol="0" anchor="ctr"/>
          <a:lstStyle/>
          <a:p>
            <a:pPr indent="0" marL="0">
              <a:buNone/>
            </a:pPr>
            <a:r>
              <a:rPr lang="en-US" sz="1500" b="1" dirty="0">
                <a:solidFill>
                  <a:srgbClr val="1B2A56"/>
                </a:solidFill>
                <a:latin typeface="Calibri" pitchFamily="34" charset="0"/>
                <a:ea typeface="Calibri" pitchFamily="34" charset="-122"/>
                <a:cs typeface="Calibri" pitchFamily="34" charset="-120"/>
              </a:rPr>
              <a:t>Defer</a:t>
            </a:r>
            <a:endParaRPr lang="en-US" sz="1500" dirty="0"/>
          </a:p>
        </p:txBody>
      </p:sp>
      <p:sp>
        <p:nvSpPr>
          <p:cNvPr id="22" name="Text 20"/>
          <p:cNvSpPr txBox="1"/>
          <p:nvPr/>
        </p:nvSpPr>
        <p:spPr>
          <a:xfrm>
            <a:off x="8311896" y="4462272"/>
            <a:ext cx="3108960" cy="274320"/>
          </a:xfrm>
          <a:prstGeom prst="rect">
            <a:avLst/>
          </a:prstGeom>
          <a:noFill/>
          <a:ln/>
        </p:spPr>
        <p:txBody>
          <a:bodyPr wrap="square" lIns="0" tIns="0" rIns="0" bIns="0" rtlCol="0" anchor="ctr"/>
          <a:lstStyle/>
          <a:p>
            <a:pPr indent="0" marL="0">
              <a:buNone/>
            </a:pPr>
            <a:r>
              <a:rPr lang="en-US" sz="1050" b="1" dirty="0">
                <a:solidFill>
                  <a:srgbClr val="5A6472"/>
                </a:solidFill>
                <a:latin typeface="Calibri" pitchFamily="34" charset="0"/>
                <a:ea typeface="Calibri" pitchFamily="34" charset="-122"/>
                <a:cs typeface="Calibri" pitchFamily="34" charset="-120"/>
              </a:rPr>
              <a:t>Zero cost</a:t>
            </a:r>
            <a:pPr indent="0" marL="0">
              <a:buNone/>
            </a:pPr>
            <a:r>
              <a:rPr lang="en-US" sz="1050" dirty="0">
                <a:solidFill>
                  <a:srgbClr val="5A6472"/>
                </a:solidFill>
                <a:latin typeface="Calibri" pitchFamily="34" charset="0"/>
                <a:ea typeface="Calibri" pitchFamily="34" charset="-122"/>
                <a:cs typeface="Calibri" pitchFamily="34" charset="-120"/>
              </a:rPr>
              <a:t>   •   </a:t>
            </a:r>
            <a:pPr indent="0" marL="0">
              <a:buNone/>
            </a:pPr>
            <a:r>
              <a:rPr lang="en-US" sz="1050" b="1" dirty="0">
                <a:solidFill>
                  <a:srgbClr val="5A6472"/>
                </a:solidFill>
                <a:latin typeface="Calibri" pitchFamily="34" charset="0"/>
                <a:ea typeface="Calibri" pitchFamily="34" charset="-122"/>
                <a:cs typeface="Calibri" pitchFamily="34" charset="-120"/>
              </a:rPr>
              <a:t>Zero recovery</a:t>
            </a:r>
            <a:endParaRPr lang="en-US" sz="1050" dirty="0"/>
          </a:p>
        </p:txBody>
      </p:sp>
      <p:sp>
        <p:nvSpPr>
          <p:cNvPr id="23" name="Text 21"/>
          <p:cNvSpPr txBox="1"/>
          <p:nvPr/>
        </p:nvSpPr>
        <p:spPr>
          <a:xfrm>
            <a:off x="0" y="0"/>
            <a:ext cx="91440" cy="91440"/>
          </a:xfrm>
          <a:prstGeom prst="rect">
            <a:avLst/>
          </a:prstGeom>
          <a:noFill/>
          <a:ln/>
        </p:spPr>
        <p:txBody>
          <a:bodyPr wrap="square" rtlCol="0" anchor="ctr"/>
          <a:lstStyle/>
          <a:p>
            <a:pPr indent="0" marL="0">
              <a:buNone/>
            </a:pPr>
            <a:endParaRPr lang="en-US" dirty="0"/>
          </a:p>
        </p:txBody>
      </p:sp>
      <p:sp>
        <p:nvSpPr>
          <p:cNvPr id="24" name="Text 22"/>
          <p:cNvSpPr txBox="1"/>
          <p:nvPr/>
        </p:nvSpPr>
        <p:spPr>
          <a:xfrm>
            <a:off x="8311896" y="4800600"/>
            <a:ext cx="3108960" cy="868680"/>
          </a:xfrm>
          <a:prstGeom prst="rect">
            <a:avLst/>
          </a:prstGeom>
          <a:noFill/>
          <a:ln/>
        </p:spPr>
        <p:txBody>
          <a:bodyPr wrap="square" lIns="0" tIns="0" rIns="0" bIns="0" rtlCol="0" anchor="ctr"/>
          <a:lstStyle/>
          <a:p>
            <a:pPr indent="0" marL="0">
              <a:lnSpc>
                <a:spcPct val="115000"/>
              </a:lnSpc>
              <a:buNone/>
            </a:pPr>
            <a:r>
              <a:rPr lang="en-US" sz="980" dirty="0">
                <a:solidFill>
                  <a:srgbClr val="20242E"/>
                </a:solidFill>
                <a:latin typeface="Calibri" pitchFamily="34" charset="0"/>
                <a:ea typeface="Calibri" pitchFamily="34" charset="-122"/>
                <a:cs typeface="Calibri" pitchFamily="34" charset="-120"/>
              </a:rPr>
              <a:t>Leave it contaminated for now — the mathematically correct choice when severity × traffic is low relative to cost.</a:t>
            </a:r>
            <a:endParaRPr lang="en-US" sz="980" dirty="0"/>
          </a:p>
        </p:txBody>
      </p:sp>
      <p:sp>
        <p:nvSpPr>
          <p:cNvPr id="25" name="Text 2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a:t>
            </a:r>
            <a:endParaRPr lang="en-US" sz="900" dirty="0"/>
          </a:p>
        </p:txBody>
      </p:sp>
      <p:sp>
        <p:nvSpPr>
          <p:cNvPr id="26" name="Text 24"/>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RESEARCH  ·  ENGINEERING APPLICATIONS (10 MARKS)</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System Architecture</a:t>
            </a:r>
            <a:endParaRPr lang="en-US" sz="3200" dirty="0"/>
          </a:p>
        </p:txBody>
      </p:sp>
      <p:sp>
        <p:nvSpPr>
          <p:cNvPr id="4" name="Shape 2"/>
          <p:cNvSpPr/>
          <p:nvPr/>
        </p:nvSpPr>
        <p:spPr>
          <a:xfrm>
            <a:off x="548640" y="1828800"/>
            <a:ext cx="1783080" cy="960120"/>
          </a:xfrm>
          <a:prstGeom prst="roundRect">
            <a:avLst>
              <a:gd name="adj" fmla="val 8571"/>
            </a:avLst>
          </a:prstGeom>
          <a:solidFill>
            <a:srgbClr val="F4F7FC"/>
          </a:solidFill>
          <a:ln/>
        </p:spPr>
      </p:sp>
      <p:sp>
        <p:nvSpPr>
          <p:cNvPr id="5" name="Text 3"/>
          <p:cNvSpPr txBox="1"/>
          <p:nvPr/>
        </p:nvSpPr>
        <p:spPr>
          <a:xfrm>
            <a:off x="548640" y="1828800"/>
            <a:ext cx="1783080" cy="960120"/>
          </a:xfrm>
          <a:prstGeom prst="rect">
            <a:avLst/>
          </a:prstGeom>
          <a:noFill/>
          <a:ln/>
        </p:spPr>
        <p:txBody>
          <a:bodyPr wrap="square" lIns="0" tIns="0" rIns="0" bIns="0" rtlCol="0" anchor="ctr"/>
          <a:lstStyle/>
          <a:p>
            <a:pPr algn="ctr" indent="0" marL="0">
              <a:buNone/>
            </a:pPr>
            <a:r>
              <a:rPr lang="en-US" sz="1300" b="1" dirty="0">
                <a:solidFill>
                  <a:srgbClr val="20242E"/>
                </a:solidFill>
                <a:latin typeface="Calibri" pitchFamily="34" charset="0"/>
                <a:ea typeface="Calibri" pitchFamily="34" charset="-122"/>
                <a:cs typeface="Calibri" pitchFamily="34" charset="-120"/>
              </a:rPr>
              <a:t>Live Vector</a:t>
            </a:r>
            <a:endParaRPr lang="en-US" sz="1300" dirty="0"/>
          </a:p>
          <a:p>
            <a:pPr algn="ctr" indent="0" marL="0">
              <a:buNone/>
            </a:pPr>
            <a:r>
              <a:rPr lang="en-US" sz="1300" b="1" dirty="0">
                <a:solidFill>
                  <a:srgbClr val="20242E"/>
                </a:solidFill>
                <a:latin typeface="Calibri" pitchFamily="34" charset="0"/>
                <a:ea typeface="Calibri" pitchFamily="34" charset="-122"/>
                <a:cs typeface="Calibri" pitchFamily="34" charset="-120"/>
              </a:rPr>
              <a:t>Database</a:t>
            </a:r>
            <a:endParaRPr lang="en-US" sz="1300" dirty="0"/>
          </a:p>
        </p:txBody>
      </p:sp>
      <p:sp>
        <p:nvSpPr>
          <p:cNvPr id="6" name="Text 4"/>
          <p:cNvSpPr txBox="1"/>
          <p:nvPr/>
        </p:nvSpPr>
        <p:spPr>
          <a:xfrm>
            <a:off x="2331720" y="1828800"/>
            <a:ext cx="384048" cy="960120"/>
          </a:xfrm>
          <a:prstGeom prst="rect">
            <a:avLst/>
          </a:prstGeom>
          <a:noFill/>
          <a:ln/>
        </p:spPr>
        <p:txBody>
          <a:bodyPr wrap="square" lIns="0" tIns="0" rIns="0" bIns="0" rtlCol="0" anchor="ctr"/>
          <a:lstStyle/>
          <a:p>
            <a:pPr algn="ctr" indent="0" marL="0">
              <a:buNone/>
            </a:pPr>
            <a:r>
              <a:rPr lang="en-US" sz="2000" b="1" dirty="0">
                <a:solidFill>
                  <a:srgbClr val="1B2A56"/>
                </a:solidFill>
                <a:latin typeface="Calibri" pitchFamily="34" charset="0"/>
                <a:ea typeface="Calibri" pitchFamily="34" charset="-122"/>
                <a:cs typeface="Calibri" pitchFamily="34" charset="-120"/>
              </a:rPr>
              <a:t>→</a:t>
            </a:r>
            <a:endParaRPr lang="en-US" sz="2000" dirty="0"/>
          </a:p>
        </p:txBody>
      </p:sp>
      <p:sp>
        <p:nvSpPr>
          <p:cNvPr id="7" name="Shape 5"/>
          <p:cNvSpPr/>
          <p:nvPr/>
        </p:nvSpPr>
        <p:spPr>
          <a:xfrm>
            <a:off x="2715768" y="1828800"/>
            <a:ext cx="1783080" cy="960120"/>
          </a:xfrm>
          <a:prstGeom prst="roundRect">
            <a:avLst>
              <a:gd name="adj" fmla="val 8571"/>
            </a:avLst>
          </a:prstGeom>
          <a:solidFill>
            <a:srgbClr val="0E7C7B"/>
          </a:solidFill>
          <a:ln/>
        </p:spPr>
      </p:sp>
      <p:sp>
        <p:nvSpPr>
          <p:cNvPr id="8" name="Text 6"/>
          <p:cNvSpPr txBox="1"/>
          <p:nvPr/>
        </p:nvSpPr>
        <p:spPr>
          <a:xfrm>
            <a:off x="2715768" y="1828800"/>
            <a:ext cx="178308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Detect</a:t>
            </a:r>
            <a:endParaRPr lang="en-US" sz="1300" dirty="0"/>
          </a:p>
        </p:txBody>
      </p:sp>
      <p:sp>
        <p:nvSpPr>
          <p:cNvPr id="9" name="Text 7"/>
          <p:cNvSpPr txBox="1"/>
          <p:nvPr/>
        </p:nvSpPr>
        <p:spPr>
          <a:xfrm>
            <a:off x="4498848" y="1828800"/>
            <a:ext cx="384048" cy="960120"/>
          </a:xfrm>
          <a:prstGeom prst="rect">
            <a:avLst/>
          </a:prstGeom>
          <a:noFill/>
          <a:ln/>
        </p:spPr>
        <p:txBody>
          <a:bodyPr wrap="square" lIns="0" tIns="0" rIns="0" bIns="0" rtlCol="0" anchor="ctr"/>
          <a:lstStyle/>
          <a:p>
            <a:pPr algn="ctr" indent="0" marL="0">
              <a:buNone/>
            </a:pPr>
            <a:r>
              <a:rPr lang="en-US" sz="2000" b="1" dirty="0">
                <a:solidFill>
                  <a:srgbClr val="1B2A56"/>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4882896" y="1828800"/>
            <a:ext cx="1783080" cy="960120"/>
          </a:xfrm>
          <a:prstGeom prst="roundRect">
            <a:avLst>
              <a:gd name="adj" fmla="val 8571"/>
            </a:avLst>
          </a:prstGeom>
          <a:solidFill>
            <a:srgbClr val="1B2A56"/>
          </a:solidFill>
          <a:ln/>
        </p:spPr>
      </p:sp>
      <p:sp>
        <p:nvSpPr>
          <p:cNvPr id="11" name="Text 9"/>
          <p:cNvSpPr txBox="1"/>
          <p:nvPr/>
        </p:nvSpPr>
        <p:spPr>
          <a:xfrm>
            <a:off x="4882896" y="1828800"/>
            <a:ext cx="178308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Prioritize</a:t>
            </a:r>
            <a:endParaRPr lang="en-US" sz="1300" dirty="0"/>
          </a:p>
        </p:txBody>
      </p:sp>
      <p:sp>
        <p:nvSpPr>
          <p:cNvPr id="12" name="Text 10"/>
          <p:cNvSpPr txBox="1"/>
          <p:nvPr/>
        </p:nvSpPr>
        <p:spPr>
          <a:xfrm>
            <a:off x="6665976" y="1828800"/>
            <a:ext cx="384048" cy="960120"/>
          </a:xfrm>
          <a:prstGeom prst="rect">
            <a:avLst/>
          </a:prstGeom>
          <a:noFill/>
          <a:ln/>
        </p:spPr>
        <p:txBody>
          <a:bodyPr wrap="square" lIns="0" tIns="0" rIns="0" bIns="0" rtlCol="0" anchor="ctr"/>
          <a:lstStyle/>
          <a:p>
            <a:pPr algn="ctr" indent="0" marL="0">
              <a:buNone/>
            </a:pPr>
            <a:r>
              <a:rPr lang="en-US" sz="2000" b="1" dirty="0">
                <a:solidFill>
                  <a:srgbClr val="1B2A56"/>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7050024" y="1828800"/>
            <a:ext cx="1783080" cy="960120"/>
          </a:xfrm>
          <a:prstGeom prst="roundRect">
            <a:avLst>
              <a:gd name="adj" fmla="val 8571"/>
            </a:avLst>
          </a:prstGeom>
          <a:solidFill>
            <a:srgbClr val="C97A22"/>
          </a:solidFill>
          <a:ln/>
        </p:spPr>
      </p:sp>
      <p:sp>
        <p:nvSpPr>
          <p:cNvPr id="14" name="Text 12"/>
          <p:cNvSpPr txBox="1"/>
          <p:nvPr/>
        </p:nvSpPr>
        <p:spPr>
          <a:xfrm>
            <a:off x="7050024" y="1828800"/>
            <a:ext cx="178308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Migrate</a:t>
            </a:r>
            <a:endParaRPr lang="en-US" sz="1300" dirty="0"/>
          </a:p>
        </p:txBody>
      </p:sp>
      <p:sp>
        <p:nvSpPr>
          <p:cNvPr id="15" name="Text 13"/>
          <p:cNvSpPr txBox="1"/>
          <p:nvPr/>
        </p:nvSpPr>
        <p:spPr>
          <a:xfrm>
            <a:off x="8833104" y="1828800"/>
            <a:ext cx="384048" cy="960120"/>
          </a:xfrm>
          <a:prstGeom prst="rect">
            <a:avLst/>
          </a:prstGeom>
          <a:noFill/>
          <a:ln/>
        </p:spPr>
        <p:txBody>
          <a:bodyPr wrap="square" lIns="0" tIns="0" rIns="0" bIns="0" rtlCol="0" anchor="ctr"/>
          <a:lstStyle/>
          <a:p>
            <a:pPr algn="ctr" indent="0" marL="0">
              <a:buNone/>
            </a:pPr>
            <a:r>
              <a:rPr lang="en-US" sz="2000" b="1" dirty="0">
                <a:solidFill>
                  <a:srgbClr val="1B2A5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9217152" y="1828800"/>
            <a:ext cx="1783080" cy="960120"/>
          </a:xfrm>
          <a:prstGeom prst="roundRect">
            <a:avLst>
              <a:gd name="adj" fmla="val 8571"/>
            </a:avLst>
          </a:prstGeom>
          <a:solidFill>
            <a:srgbClr val="B3261E"/>
          </a:solidFill>
          <a:ln/>
        </p:spPr>
      </p:sp>
      <p:sp>
        <p:nvSpPr>
          <p:cNvPr id="17" name="Text 15"/>
          <p:cNvSpPr txBox="1"/>
          <p:nvPr/>
        </p:nvSpPr>
        <p:spPr>
          <a:xfrm>
            <a:off x="9217152" y="1828800"/>
            <a:ext cx="178308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Verify</a:t>
            </a:r>
            <a:endParaRPr lang="en-US" sz="1300" dirty="0"/>
          </a:p>
        </p:txBody>
      </p:sp>
      <p:sp>
        <p:nvSpPr>
          <p:cNvPr id="18" name="Shape 16"/>
          <p:cNvSpPr/>
          <p:nvPr/>
        </p:nvSpPr>
        <p:spPr>
          <a:xfrm>
            <a:off x="11384280" y="1828800"/>
            <a:ext cx="1828800" cy="960120"/>
          </a:xfrm>
          <a:prstGeom prst="roundRect">
            <a:avLst>
              <a:gd name="adj" fmla="val 8571"/>
            </a:avLst>
          </a:prstGeom>
          <a:solidFill>
            <a:srgbClr val="1E824C"/>
          </a:solidFill>
          <a:ln/>
        </p:spPr>
      </p:sp>
      <p:sp>
        <p:nvSpPr>
          <p:cNvPr id="19" name="Text 17"/>
          <p:cNvSpPr txBox="1"/>
          <p:nvPr/>
        </p:nvSpPr>
        <p:spPr>
          <a:xfrm>
            <a:off x="11384280" y="1828800"/>
            <a:ext cx="182880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Cutover</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(live)</a:t>
            </a:r>
            <a:endParaRPr lang="en-US" sz="1250" dirty="0"/>
          </a:p>
        </p:txBody>
      </p:sp>
      <p:sp>
        <p:nvSpPr>
          <p:cNvPr id="20" name="Text 18"/>
          <p:cNvSpPr txBox="1"/>
          <p:nvPr/>
        </p:nvSpPr>
        <p:spPr>
          <a:xfrm>
            <a:off x="11201400" y="1536192"/>
            <a:ext cx="914400" cy="256032"/>
          </a:xfrm>
          <a:prstGeom prst="rect">
            <a:avLst/>
          </a:prstGeom>
          <a:noFill/>
          <a:ln/>
        </p:spPr>
        <p:txBody>
          <a:bodyPr wrap="square" lIns="0" tIns="0" rIns="0" bIns="0" rtlCol="0" anchor="ctr"/>
          <a:lstStyle/>
          <a:p>
            <a:pPr indent="0" marL="0">
              <a:buNone/>
            </a:pPr>
            <a:r>
              <a:rPr lang="en-US" sz="950" i="1" dirty="0">
                <a:solidFill>
                  <a:srgbClr val="1E824C"/>
                </a:solidFill>
                <a:latin typeface="Calibri" pitchFamily="34" charset="0"/>
                <a:ea typeface="Calibri" pitchFamily="34" charset="-122"/>
                <a:cs typeface="Calibri" pitchFamily="34" charset="-120"/>
              </a:rPr>
              <a:t>pass</a:t>
            </a:r>
            <a:endParaRPr lang="en-US" sz="950" dirty="0"/>
          </a:p>
        </p:txBody>
      </p:sp>
      <p:sp>
        <p:nvSpPr>
          <p:cNvPr id="21" name="Shape 19"/>
          <p:cNvSpPr/>
          <p:nvPr/>
        </p:nvSpPr>
        <p:spPr>
          <a:xfrm>
            <a:off x="4956048" y="3108960"/>
            <a:ext cx="0" cy="548640"/>
          </a:xfrm>
          <a:prstGeom prst="line">
            <a:avLst/>
          </a:prstGeom>
          <a:noFill/>
          <a:ln w="15875">
            <a:solidFill>
              <a:srgbClr val="B3261E"/>
            </a:solidFill>
            <a:prstDash val="dash"/>
          </a:ln>
        </p:spPr>
      </p:sp>
      <p:sp>
        <p:nvSpPr>
          <p:cNvPr id="22" name="Shape 20"/>
          <p:cNvSpPr/>
          <p:nvPr/>
        </p:nvSpPr>
        <p:spPr>
          <a:xfrm>
            <a:off x="4069080" y="3657600"/>
            <a:ext cx="1783080" cy="685800"/>
          </a:xfrm>
          <a:prstGeom prst="roundRect">
            <a:avLst>
              <a:gd name="adj" fmla="val 12000"/>
            </a:avLst>
          </a:prstGeom>
          <a:solidFill>
            <a:srgbClr val="F6E3E1"/>
          </a:solidFill>
          <a:ln w="12700">
            <a:solidFill>
              <a:srgbClr val="B3261E"/>
            </a:solidFill>
            <a:prstDash val="solid"/>
          </a:ln>
        </p:spPr>
      </p:sp>
      <p:sp>
        <p:nvSpPr>
          <p:cNvPr id="23" name="Text 21"/>
          <p:cNvSpPr txBox="1"/>
          <p:nvPr/>
        </p:nvSpPr>
        <p:spPr>
          <a:xfrm>
            <a:off x="4069080" y="3657600"/>
            <a:ext cx="1783080" cy="685800"/>
          </a:xfrm>
          <a:prstGeom prst="rect">
            <a:avLst/>
          </a:prstGeom>
          <a:noFill/>
          <a:ln/>
        </p:spPr>
        <p:txBody>
          <a:bodyPr wrap="square" lIns="0" tIns="0" rIns="0" bIns="0" rtlCol="0" anchor="ctr"/>
          <a:lstStyle/>
          <a:p>
            <a:pPr algn="ctr" indent="0" marL="0">
              <a:buNone/>
            </a:pPr>
            <a:r>
              <a:rPr lang="en-US" sz="1100" b="1" dirty="0">
                <a:solidFill>
                  <a:srgbClr val="B3261E"/>
                </a:solidFill>
                <a:latin typeface="Calibri" pitchFamily="34" charset="0"/>
                <a:ea typeface="Calibri" pitchFamily="34" charset="-122"/>
                <a:cs typeface="Calibri" pitchFamily="34" charset="-120"/>
              </a:rPr>
              <a:t>Rollback</a:t>
            </a:r>
            <a:endParaRPr lang="en-US" sz="1100" dirty="0"/>
          </a:p>
          <a:p>
            <a:pPr algn="ctr" indent="0" marL="0">
              <a:buNone/>
            </a:pPr>
            <a:r>
              <a:rPr lang="en-US" sz="1100" b="1" dirty="0">
                <a:solidFill>
                  <a:srgbClr val="B3261E"/>
                </a:solidFill>
                <a:latin typeface="Calibri" pitchFamily="34" charset="0"/>
                <a:ea typeface="Calibri" pitchFamily="34" charset="-122"/>
                <a:cs typeface="Calibri" pitchFamily="34" charset="-120"/>
              </a:rPr>
              <a:t>(unchanged)</a:t>
            </a:r>
            <a:endParaRPr lang="en-US" sz="1100" dirty="0"/>
          </a:p>
        </p:txBody>
      </p:sp>
      <p:sp>
        <p:nvSpPr>
          <p:cNvPr id="24" name="Text 22"/>
          <p:cNvSpPr txBox="1"/>
          <p:nvPr/>
        </p:nvSpPr>
        <p:spPr>
          <a:xfrm>
            <a:off x="5943600" y="3657600"/>
            <a:ext cx="1554480" cy="685800"/>
          </a:xfrm>
          <a:prstGeom prst="rect">
            <a:avLst/>
          </a:prstGeom>
          <a:noFill/>
          <a:ln/>
        </p:spPr>
        <p:txBody>
          <a:bodyPr wrap="square" lIns="0" tIns="0" rIns="0" bIns="0" rtlCol="0" anchor="ctr"/>
          <a:lstStyle/>
          <a:p>
            <a:pPr indent="0" marL="0">
              <a:lnSpc>
                <a:spcPct val="110000"/>
              </a:lnSpc>
              <a:buNone/>
            </a:pPr>
            <a:r>
              <a:rPr lang="en-US" sz="900" i="1" dirty="0">
                <a:solidFill>
                  <a:srgbClr val="B3261E"/>
                </a:solidFill>
                <a:latin typeface="Calibri" pitchFamily="34" charset="0"/>
                <a:ea typeface="Calibri" pitchFamily="34" charset="-122"/>
                <a:cs typeface="Calibri" pitchFamily="34" charset="-120"/>
              </a:rPr>
              <a:t>fail — retried</a:t>
            </a:r>
            <a:endParaRPr lang="en-US" sz="900" dirty="0"/>
          </a:p>
          <a:p>
            <a:pPr indent="0" marL="0">
              <a:lnSpc>
                <a:spcPct val="110000"/>
              </a:lnSpc>
              <a:buNone/>
            </a:pPr>
            <a:r>
              <a:rPr lang="en-US" sz="900" i="1" dirty="0">
                <a:solidFill>
                  <a:srgbClr val="B3261E"/>
                </a:solidFill>
                <a:latin typeface="Calibri" pitchFamily="34" charset="0"/>
                <a:ea typeface="Calibri" pitchFamily="34" charset="-122"/>
                <a:cs typeface="Calibri" pitchFamily="34" charset="-120"/>
              </a:rPr>
              <a:t>or deferred</a:t>
            </a:r>
            <a:endParaRPr lang="en-US" sz="900" dirty="0"/>
          </a:p>
        </p:txBody>
      </p:sp>
      <p:sp>
        <p:nvSpPr>
          <p:cNvPr id="25" name="Shape 23"/>
          <p:cNvSpPr/>
          <p:nvPr/>
        </p:nvSpPr>
        <p:spPr>
          <a:xfrm flipV="1">
            <a:off x="1371600" y="2926080"/>
            <a:ext cx="10927080" cy="1371600"/>
          </a:xfrm>
          <a:prstGeom prst="bentConnector3">
            <a:avLst/>
          </a:prstGeom>
          <a:noFill/>
          <a:ln w="15875">
            <a:solidFill>
              <a:srgbClr val="1B2A56"/>
            </a:solidFill>
            <a:prstDash val="dash"/>
          </a:ln>
        </p:spPr>
      </p:sp>
      <p:sp>
        <p:nvSpPr>
          <p:cNvPr id="26" name="Text 24"/>
          <p:cNvSpPr txBox="1"/>
          <p:nvPr/>
        </p:nvSpPr>
        <p:spPr>
          <a:xfrm>
            <a:off x="548640" y="4206240"/>
            <a:ext cx="7315200" cy="274320"/>
          </a:xfrm>
          <a:prstGeom prst="rect">
            <a:avLst/>
          </a:prstGeom>
          <a:noFill/>
          <a:ln/>
        </p:spPr>
        <p:txBody>
          <a:bodyPr wrap="square" lIns="0" tIns="0" rIns="0" bIns="0" rtlCol="0" anchor="ctr"/>
          <a:lstStyle/>
          <a:p>
            <a:pPr indent="0" marL="0">
              <a:buNone/>
            </a:pPr>
            <a:r>
              <a:rPr lang="en-US" sz="1000" i="1" dirty="0">
                <a:solidFill>
                  <a:srgbClr val="1B2A56"/>
                </a:solidFill>
                <a:latin typeface="Calibri" pitchFamily="34" charset="0"/>
                <a:ea typeface="Calibri" pitchFamily="34" charset="-122"/>
                <a:cs typeface="Calibri" pitchFamily="34" charset="-120"/>
              </a:rPr>
              <a:t>continuous autonomous monitoring — "Live Sentry" (2-5s poll loop)</a:t>
            </a:r>
            <a:endParaRPr lang="en-US" sz="1000" dirty="0"/>
          </a:p>
        </p:txBody>
      </p:sp>
      <p:sp>
        <p:nvSpPr>
          <p:cNvPr id="27" name="Shape 25"/>
          <p:cNvSpPr/>
          <p:nvPr/>
        </p:nvSpPr>
        <p:spPr>
          <a:xfrm>
            <a:off x="548640" y="3977640"/>
            <a:ext cx="11109960" cy="566928"/>
          </a:xfrm>
          <a:prstGeom prst="roundRect">
            <a:avLst>
              <a:gd name="adj" fmla="val 12903"/>
            </a:avLst>
          </a:prstGeom>
          <a:solidFill>
            <a:srgbClr val="F4F7FC"/>
          </a:solidFill>
          <a:ln/>
          <a:effectLst>
            <a:outerShdw sx="100000" sy="100000" kx="0" ky="0" algn="bl" rotWithShape="0" blurRad="101600" dist="38100" dir="5400000">
              <a:srgbClr val="1B2A56">
                <a:alpha val="12000"/>
              </a:srgbClr>
            </a:outerShdw>
          </a:effectLst>
        </p:spPr>
      </p:sp>
      <p:sp>
        <p:nvSpPr>
          <p:cNvPr id="28" name="Text 26"/>
          <p:cNvSpPr txBox="1"/>
          <p:nvPr/>
        </p:nvSpPr>
        <p:spPr>
          <a:xfrm>
            <a:off x="777240" y="3977640"/>
            <a:ext cx="10607040" cy="566928"/>
          </a:xfrm>
          <a:prstGeom prst="rect">
            <a:avLst/>
          </a:prstGeom>
          <a:noFill/>
          <a:ln/>
        </p:spPr>
        <p:txBody>
          <a:bodyPr wrap="square" lIns="0" tIns="0" rIns="0" bIns="0" rtlCol="0" anchor="ctr"/>
          <a:lstStyle/>
          <a:p>
            <a:pPr indent="0" marL="0">
              <a:buNone/>
            </a:pPr>
            <a:r>
              <a:rPr lang="en-US" sz="1150" b="1" dirty="0">
                <a:solidFill>
                  <a:srgbClr val="0E7C7B"/>
                </a:solidFill>
                <a:latin typeface="Calibri" pitchFamily="34" charset="0"/>
                <a:ea typeface="Calibri" pitchFamily="34" charset="-122"/>
                <a:cs typeface="Calibri" pitchFamily="34" charset="-120"/>
              </a:rPr>
              <a:t>Detect:  </a:t>
            </a:r>
            <a:pPr indent="0" marL="0">
              <a:buNone/>
            </a:pPr>
            <a:r>
              <a:rPr lang="en-US" sz="1150" dirty="0">
                <a:solidFill>
                  <a:srgbClr val="20242E"/>
                </a:solidFill>
                <a:latin typeface="Calibri" pitchFamily="34" charset="0"/>
                <a:ea typeface="Calibri" pitchFamily="34" charset="-122"/>
                <a:cs typeface="Calibri" pitchFamily="34" charset="-120"/>
              </a:rPr>
              <a:t>KNN-OOD score vs. a stable-baseline-calibrated threshold — no oracle labels used.</a:t>
            </a:r>
            <a:endParaRPr lang="en-US" sz="1150" dirty="0"/>
          </a:p>
        </p:txBody>
      </p:sp>
      <p:sp>
        <p:nvSpPr>
          <p:cNvPr id="29" name="Shape 27"/>
          <p:cNvSpPr/>
          <p:nvPr/>
        </p:nvSpPr>
        <p:spPr>
          <a:xfrm>
            <a:off x="548640" y="4654296"/>
            <a:ext cx="11109960" cy="566928"/>
          </a:xfrm>
          <a:prstGeom prst="roundRect">
            <a:avLst>
              <a:gd name="adj" fmla="val 12903"/>
            </a:avLst>
          </a:prstGeom>
          <a:solidFill>
            <a:srgbClr val="F4F7FC"/>
          </a:solidFill>
          <a:ln/>
          <a:effectLst>
            <a:outerShdw sx="100000" sy="100000" kx="0" ky="0" algn="bl" rotWithShape="0" blurRad="101600" dist="38100" dir="5400000">
              <a:srgbClr val="1B2A56">
                <a:alpha val="12000"/>
              </a:srgbClr>
            </a:outerShdw>
          </a:effectLst>
        </p:spPr>
      </p:sp>
      <p:sp>
        <p:nvSpPr>
          <p:cNvPr id="30" name="Text 28"/>
          <p:cNvSpPr txBox="1"/>
          <p:nvPr/>
        </p:nvSpPr>
        <p:spPr>
          <a:xfrm>
            <a:off x="777240" y="4654296"/>
            <a:ext cx="10607040" cy="566928"/>
          </a:xfrm>
          <a:prstGeom prst="rect">
            <a:avLst/>
          </a:prstGeom>
          <a:noFill/>
          <a:ln/>
        </p:spPr>
        <p:txBody>
          <a:bodyPr wrap="square" lIns="0" tIns="0" rIns="0" bIns="0" rtlCol="0" anchor="ctr"/>
          <a:lstStyle/>
          <a:p>
            <a:pPr indent="0" marL="0">
              <a:buNone/>
            </a:pPr>
            <a:r>
              <a:rPr lang="en-US" sz="1150" b="1" dirty="0">
                <a:solidFill>
                  <a:srgbClr val="0E7C7B"/>
                </a:solidFill>
                <a:latin typeface="Calibri" pitchFamily="34" charset="0"/>
                <a:ea typeface="Calibri" pitchFamily="34" charset="-122"/>
                <a:cs typeface="Calibri" pitchFamily="34" charset="-120"/>
              </a:rPr>
              <a:t>Prioritize:  </a:t>
            </a:r>
            <a:pPr indent="0" marL="0">
              <a:buNone/>
            </a:pPr>
            <a:r>
              <a:rPr lang="en-US" sz="1150" dirty="0">
                <a:solidFill>
                  <a:srgbClr val="20242E"/>
                </a:solidFill>
                <a:latin typeface="Calibri" pitchFamily="34" charset="0"/>
                <a:ea typeface="Calibri" pitchFamily="34" charset="-122"/>
                <a:cs typeface="Calibri" pitchFamily="34" charset="-120"/>
              </a:rPr>
              <a:t>MCKP scheduler: severity × traffic × recovery, one shared budget, exact ILP + fast greedy.</a:t>
            </a:r>
            <a:endParaRPr lang="en-US" sz="1150" dirty="0"/>
          </a:p>
        </p:txBody>
      </p:sp>
      <p:sp>
        <p:nvSpPr>
          <p:cNvPr id="31" name="Shape 29"/>
          <p:cNvSpPr/>
          <p:nvPr/>
        </p:nvSpPr>
        <p:spPr>
          <a:xfrm>
            <a:off x="548640" y="5330952"/>
            <a:ext cx="11109960" cy="566928"/>
          </a:xfrm>
          <a:prstGeom prst="roundRect">
            <a:avLst>
              <a:gd name="adj" fmla="val 12903"/>
            </a:avLst>
          </a:prstGeom>
          <a:solidFill>
            <a:srgbClr val="F4F7FC"/>
          </a:solidFill>
          <a:ln/>
          <a:effectLst>
            <a:outerShdw sx="100000" sy="100000" kx="0" ky="0" algn="bl" rotWithShape="0" blurRad="101600" dist="38100" dir="5400000">
              <a:srgbClr val="1B2A56">
                <a:alpha val="12000"/>
              </a:srgbClr>
            </a:outerShdw>
          </a:effectLst>
        </p:spPr>
      </p:sp>
      <p:sp>
        <p:nvSpPr>
          <p:cNvPr id="32" name="Text 30"/>
          <p:cNvSpPr txBox="1"/>
          <p:nvPr/>
        </p:nvSpPr>
        <p:spPr>
          <a:xfrm>
            <a:off x="777240" y="5330952"/>
            <a:ext cx="10607040" cy="566928"/>
          </a:xfrm>
          <a:prstGeom prst="rect">
            <a:avLst/>
          </a:prstGeom>
          <a:noFill/>
          <a:ln/>
        </p:spPr>
        <p:txBody>
          <a:bodyPr wrap="square" lIns="0" tIns="0" rIns="0" bIns="0" rtlCol="0" anchor="ctr"/>
          <a:lstStyle/>
          <a:p>
            <a:pPr indent="0" marL="0">
              <a:buNone/>
            </a:pPr>
            <a:r>
              <a:rPr lang="en-US" sz="1150" b="1" dirty="0">
                <a:solidFill>
                  <a:srgbClr val="0E7C7B"/>
                </a:solidFill>
                <a:latin typeface="Calibri" pitchFamily="34" charset="0"/>
                <a:ea typeface="Calibri" pitchFamily="34" charset="-122"/>
                <a:cs typeface="Calibri" pitchFamily="34" charset="-120"/>
              </a:rPr>
              <a:t>Migrate:  </a:t>
            </a:r>
            <a:pPr indent="0" marL="0">
              <a:buNone/>
            </a:pPr>
            <a:r>
              <a:rPr lang="en-US" sz="1150" dirty="0">
                <a:solidFill>
                  <a:srgbClr val="20242E"/>
                </a:solidFill>
                <a:latin typeface="Calibri" pitchFamily="34" charset="0"/>
                <a:ea typeface="Calibri" pitchFamily="34" charset="-122"/>
                <a:cs typeface="Calibri" pitchFamily="34" charset="-120"/>
              </a:rPr>
              <a:t>Shadow-build the proposed fix — the live index is never mutated in place.</a:t>
            </a:r>
            <a:endParaRPr lang="en-US" sz="1150" dirty="0"/>
          </a:p>
        </p:txBody>
      </p:sp>
      <p:sp>
        <p:nvSpPr>
          <p:cNvPr id="33" name="Shape 31"/>
          <p:cNvSpPr/>
          <p:nvPr/>
        </p:nvSpPr>
        <p:spPr>
          <a:xfrm>
            <a:off x="548640" y="6007608"/>
            <a:ext cx="11109960" cy="566928"/>
          </a:xfrm>
          <a:prstGeom prst="roundRect">
            <a:avLst>
              <a:gd name="adj" fmla="val 12903"/>
            </a:avLst>
          </a:prstGeom>
          <a:solidFill>
            <a:srgbClr val="F4F7FC"/>
          </a:solidFill>
          <a:ln/>
          <a:effectLst>
            <a:outerShdw sx="100000" sy="100000" kx="0" ky="0" algn="bl" rotWithShape="0" blurRad="101600" dist="38100" dir="5400000">
              <a:srgbClr val="1B2A56">
                <a:alpha val="12000"/>
              </a:srgbClr>
            </a:outerShdw>
          </a:effectLst>
        </p:spPr>
      </p:sp>
      <p:sp>
        <p:nvSpPr>
          <p:cNvPr id="34" name="Text 32"/>
          <p:cNvSpPr txBox="1"/>
          <p:nvPr/>
        </p:nvSpPr>
        <p:spPr>
          <a:xfrm>
            <a:off x="777240" y="6007608"/>
            <a:ext cx="10607040" cy="566928"/>
          </a:xfrm>
          <a:prstGeom prst="rect">
            <a:avLst/>
          </a:prstGeom>
          <a:noFill/>
          <a:ln/>
        </p:spPr>
        <p:txBody>
          <a:bodyPr wrap="square" lIns="0" tIns="0" rIns="0" bIns="0" rtlCol="0" anchor="ctr"/>
          <a:lstStyle/>
          <a:p>
            <a:pPr indent="0" marL="0">
              <a:buNone/>
            </a:pPr>
            <a:r>
              <a:rPr lang="en-US" sz="1150" b="1" dirty="0">
                <a:solidFill>
                  <a:srgbClr val="0E7C7B"/>
                </a:solidFill>
                <a:latin typeface="Calibri" pitchFamily="34" charset="0"/>
                <a:ea typeface="Calibri" pitchFamily="34" charset="-122"/>
                <a:cs typeface="Calibri" pitchFamily="34" charset="-120"/>
              </a:rPr>
              <a:t>Verify:  </a:t>
            </a:r>
            <a:pPr indent="0" marL="0">
              <a:buNone/>
            </a:pPr>
            <a:r>
              <a:rPr lang="en-US" sz="1150" dirty="0">
                <a:solidFill>
                  <a:srgbClr val="20242E"/>
                </a:solidFill>
                <a:latin typeface="Calibri" pitchFamily="34" charset="0"/>
                <a:ea typeface="Calibri" pitchFamily="34" charset="-122"/>
                <a:cs typeface="Calibri" pitchFamily="34" charset="-120"/>
              </a:rPr>
              <a:t>Golden-query canary check: does the shadow regress a curated high-value query set?</a:t>
            </a:r>
            <a:endParaRPr lang="en-US" sz="1150" dirty="0"/>
          </a:p>
        </p:txBody>
      </p:sp>
      <p:sp>
        <p:nvSpPr>
          <p:cNvPr id="35" name="Text 3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a:t>
            </a:r>
            <a:endParaRPr lang="en-US" sz="900" dirty="0"/>
          </a:p>
        </p:txBody>
      </p:sp>
      <p:sp>
        <p:nvSpPr>
          <p:cNvPr id="36" name="Text 34"/>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2026-08-27T04:37:53Z</dcterms:created>
  <dcterms:modified xsi:type="dcterms:W3CDTF">2026-08-27T04:37:53Z</dcterms:modified>
</cp:coreProperties>
</file>